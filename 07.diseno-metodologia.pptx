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7" r:id="rId2"/>
    <p:sldId id="258" r:id="rId3"/>
    <p:sldId id="302" r:id="rId4"/>
    <p:sldId id="303" r:id="rId5"/>
    <p:sldId id="306" r:id="rId6"/>
    <p:sldId id="307" r:id="rId7"/>
    <p:sldId id="308" r:id="rId8"/>
    <p:sldId id="309" r:id="rId9"/>
    <p:sldId id="310" r:id="rId10"/>
    <p:sldId id="311" r:id="rId11"/>
    <p:sldId id="289" r:id="rId12"/>
    <p:sldId id="291" r:id="rId13"/>
    <p:sldId id="312" r:id="rId14"/>
    <p:sldId id="290" r:id="rId15"/>
    <p:sldId id="292" r:id="rId16"/>
    <p:sldId id="293" r:id="rId17"/>
    <p:sldId id="259" r:id="rId18"/>
    <p:sldId id="261" r:id="rId19"/>
    <p:sldId id="304" r:id="rId20"/>
    <p:sldId id="263" r:id="rId21"/>
    <p:sldId id="305" r:id="rId22"/>
    <p:sldId id="260" r:id="rId23"/>
    <p:sldId id="265" r:id="rId24"/>
    <p:sldId id="284" r:id="rId25"/>
    <p:sldId id="285" r:id="rId26"/>
    <p:sldId id="286" r:id="rId27"/>
    <p:sldId id="287" r:id="rId28"/>
    <p:sldId id="288" r:id="rId29"/>
    <p:sldId id="295" r:id="rId30"/>
    <p:sldId id="299" r:id="rId31"/>
    <p:sldId id="300" r:id="rId32"/>
    <p:sldId id="301" r:id="rId33"/>
    <p:sldId id="296" r:id="rId34"/>
    <p:sldId id="297" r:id="rId35"/>
    <p:sldId id="298" r:id="rId36"/>
    <p:sldId id="313" r:id="rId37"/>
    <p:sldId id="280" r:id="rId3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7A9DD"/>
    <a:srgbClr val="7BF5F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016" autoAdjust="0"/>
    <p:restoredTop sz="94660"/>
  </p:normalViewPr>
  <p:slideViewPr>
    <p:cSldViewPr snapToGrid="0">
      <p:cViewPr varScale="1">
        <p:scale>
          <a:sx n="121" d="100"/>
          <a:sy n="121" d="100"/>
        </p:scale>
        <p:origin x="216" y="91"/>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microsoft.com/office/2016/11/relationships/changesInfo" Target="changesInfos/changesInfo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orbey Muñoz" userId="b7e811e8891ccd42" providerId="LiveId" clId="{2482167B-ADD3-4E68-AB8B-ADE9CECE27D0}"/>
    <pc:docChg chg="custSel modSld">
      <pc:chgData name="Norbey Muñoz" userId="b7e811e8891ccd42" providerId="LiveId" clId="{2482167B-ADD3-4E68-AB8B-ADE9CECE27D0}" dt="2026-08-10T23:03:55.764" v="10" actId="14100"/>
      <pc:docMkLst>
        <pc:docMk/>
      </pc:docMkLst>
      <pc:sldChg chg="modSp mod">
        <pc:chgData name="Norbey Muñoz" userId="b7e811e8891ccd42" providerId="LiveId" clId="{2482167B-ADD3-4E68-AB8B-ADE9CECE27D0}" dt="2026-07-27T22:31:23.540" v="1" actId="20577"/>
        <pc:sldMkLst>
          <pc:docMk/>
          <pc:sldMk cId="886451555" sldId="257"/>
        </pc:sldMkLst>
        <pc:spChg chg="mod">
          <ac:chgData name="Norbey Muñoz" userId="b7e811e8891ccd42" providerId="LiveId" clId="{2482167B-ADD3-4E68-AB8B-ADE9CECE27D0}" dt="2026-07-27T22:31:23.540" v="1" actId="20577"/>
          <ac:spMkLst>
            <pc:docMk/>
            <pc:sldMk cId="886451555" sldId="257"/>
            <ac:spMk id="5" creationId="{00000000-0000-0000-0000-000000000000}"/>
          </ac:spMkLst>
        </pc:spChg>
      </pc:sldChg>
      <pc:sldChg chg="modSp mod">
        <pc:chgData name="Norbey Muñoz" userId="b7e811e8891ccd42" providerId="LiveId" clId="{2482167B-ADD3-4E68-AB8B-ADE9CECE27D0}" dt="2026-07-27T22:33:34.438" v="7" actId="20577"/>
        <pc:sldMkLst>
          <pc:docMk/>
          <pc:sldMk cId="1321150292" sldId="291"/>
        </pc:sldMkLst>
        <pc:spChg chg="mod">
          <ac:chgData name="Norbey Muñoz" userId="b7e811e8891ccd42" providerId="LiveId" clId="{2482167B-ADD3-4E68-AB8B-ADE9CECE27D0}" dt="2026-07-27T22:33:34.438" v="7" actId="20577"/>
          <ac:spMkLst>
            <pc:docMk/>
            <pc:sldMk cId="1321150292" sldId="291"/>
            <ac:spMk id="3" creationId="{00000000-0000-0000-0000-000000000000}"/>
          </ac:spMkLst>
        </pc:spChg>
      </pc:sldChg>
      <pc:sldChg chg="modSp mod">
        <pc:chgData name="Norbey Muñoz" userId="b7e811e8891ccd42" providerId="LiveId" clId="{2482167B-ADD3-4E68-AB8B-ADE9CECE27D0}" dt="2026-08-10T23:03:55.764" v="10" actId="14100"/>
        <pc:sldMkLst>
          <pc:docMk/>
          <pc:sldMk cId="1470138134" sldId="308"/>
        </pc:sldMkLst>
        <pc:spChg chg="mod">
          <ac:chgData name="Norbey Muñoz" userId="b7e811e8891ccd42" providerId="LiveId" clId="{2482167B-ADD3-4E68-AB8B-ADE9CECE27D0}" dt="2026-08-10T23:03:55.764" v="10" actId="14100"/>
          <ac:spMkLst>
            <pc:docMk/>
            <pc:sldMk cId="1470138134" sldId="308"/>
            <ac:spMk id="2" creationId="{00000000-0000-0000-0000-000000000000}"/>
          </ac:spMkLst>
        </pc:spChg>
        <pc:graphicFrameChg chg="modGraphic">
          <ac:chgData name="Norbey Muñoz" userId="b7e811e8891ccd42" providerId="LiveId" clId="{2482167B-ADD3-4E68-AB8B-ADE9CECE27D0}" dt="2026-07-27T22:32:22.330" v="4" actId="20577"/>
          <ac:graphicFrameMkLst>
            <pc:docMk/>
            <pc:sldMk cId="1470138134" sldId="308"/>
            <ac:graphicFrameMk id="4" creationId="{00000000-0000-0000-0000-000000000000}"/>
          </ac:graphicFrameMkLst>
        </pc:graphicFrameChg>
      </pc:sldChg>
      <pc:sldChg chg="modSp mod">
        <pc:chgData name="Norbey Muñoz" userId="b7e811e8891ccd42" providerId="LiveId" clId="{2482167B-ADD3-4E68-AB8B-ADE9CECE27D0}" dt="2026-07-27T22:32:30.201" v="5" actId="33524"/>
        <pc:sldMkLst>
          <pc:docMk/>
          <pc:sldMk cId="2203632541" sldId="309"/>
        </pc:sldMkLst>
        <pc:spChg chg="mod">
          <ac:chgData name="Norbey Muñoz" userId="b7e811e8891ccd42" providerId="LiveId" clId="{2482167B-ADD3-4E68-AB8B-ADE9CECE27D0}" dt="2026-07-27T22:32:30.201" v="5" actId="33524"/>
          <ac:spMkLst>
            <pc:docMk/>
            <pc:sldMk cId="2203632541" sldId="309"/>
            <ac:spMk id="3" creationId="{00000000-0000-0000-0000-000000000000}"/>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spTree>
      <p:nvGrpSpPr>
        <p:cNvPr id="1" name=""/>
        <p:cNvGrpSpPr/>
        <p:nvPr/>
      </p:nvGrpSpPr>
      <p:grpSpPr>
        <a:xfrm>
          <a:off x="0" y="0"/>
          <a:ext cx="0" cy="0"/>
          <a:chOff x="0" y="0"/>
          <a:chExt cx="0" cy="0"/>
        </a:xfrm>
      </p:grpSpPr>
      <p:grpSp>
        <p:nvGrpSpPr>
          <p:cNvPr id="8" name="Group 7"/>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85000"/>
                  <a:lumOff val="1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lumOff val="1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CO"/>
            </a:p>
          </p:txBody>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CO"/>
            </a:p>
          </p:txBody>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CO"/>
            </a:p>
          </p:txBody>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CO"/>
            </a:p>
          </p:txBody>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CO"/>
            </a:p>
          </p:txBody>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CO"/>
            </a:p>
          </p:txBody>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CO"/>
            </a:p>
          </p:txBody>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CO"/>
            </a:p>
          </p:txBody>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8/10/2026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8/10/2026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el estilo de texto del patrón</a:t>
            </a:r>
          </a:p>
        </p:txBody>
      </p:sp>
      <p:sp>
        <p:nvSpPr>
          <p:cNvPr id="4" name="Date Placeholder 3"/>
          <p:cNvSpPr>
            <a:spLocks noGrp="1"/>
          </p:cNvSpPr>
          <p:nvPr>
            <p:ph type="dt" sz="half" idx="10"/>
          </p:nvPr>
        </p:nvSpPr>
        <p:spPr/>
        <p:txBody>
          <a:bodyPr/>
          <a:lstStyle/>
          <a:p>
            <a:fld id="{B61BEF0D-F0BB-DE4B-95CE-6DB70DBA9567}" type="datetimeFigureOut">
              <a:rPr lang="en-US" dirty="0"/>
              <a:pPr/>
              <a:t>8/10/2026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dirty="0"/>
              <a:t>8/10/2026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8/10/2026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8/10/2026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8/10/2026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s-ES"/>
              <a:t>Haga clic para modificar el estilo de título del patrón</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s-ES"/>
              <a:t>Haga clic para modificar el estilo de texto del patrón</a:t>
            </a:r>
          </a:p>
        </p:txBody>
      </p:sp>
      <p:sp>
        <p:nvSpPr>
          <p:cNvPr id="5" name="Date Placeholder 4"/>
          <p:cNvSpPr>
            <a:spLocks noGrp="1"/>
          </p:cNvSpPr>
          <p:nvPr>
            <p:ph type="dt" sz="half" idx="10"/>
          </p:nvPr>
        </p:nvSpPr>
        <p:spPr/>
        <p:txBody>
          <a:bodyPr/>
          <a:lstStyle/>
          <a:p>
            <a:fld id="{42A54C80-263E-416B-A8E0-580EDEADCBDC}" type="datetimeFigureOut">
              <a:rPr lang="en-US" dirty="0"/>
              <a:t>8/10/2026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
        <p:nvSpPr>
          <p:cNvPr id="5" name="Date Placeholder 4"/>
          <p:cNvSpPr>
            <a:spLocks noGrp="1"/>
          </p:cNvSpPr>
          <p:nvPr>
            <p:ph type="dt" sz="half" idx="10"/>
          </p:nvPr>
        </p:nvSpPr>
        <p:spPr/>
        <p:txBody>
          <a:bodyPr/>
          <a:lstStyle/>
          <a:p>
            <a:fld id="{B61BEF0D-F0BB-DE4B-95CE-6DB70DBA9567}" type="datetimeFigureOut">
              <a:rPr lang="en-US" dirty="0"/>
              <a:pPr/>
              <a:t>8/10/2026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ítulo y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el estilo de texto del patrón</a:t>
            </a:r>
          </a:p>
        </p:txBody>
      </p:sp>
      <p:sp>
        <p:nvSpPr>
          <p:cNvPr id="4" name="Date Placeholder 3"/>
          <p:cNvSpPr>
            <a:spLocks noGrp="1"/>
          </p:cNvSpPr>
          <p:nvPr>
            <p:ph type="dt" sz="half" idx="10"/>
          </p:nvPr>
        </p:nvSpPr>
        <p:spPr/>
        <p:txBody>
          <a:bodyPr/>
          <a:lstStyle/>
          <a:p>
            <a:fld id="{B61BEF0D-F0BB-DE4B-95CE-6DB70DBA9567}" type="datetimeFigureOut">
              <a:rPr lang="en-US" dirty="0"/>
              <a:pPr/>
              <a:t>8/10/2026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ita con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s-ES"/>
              <a:t>Haga clic para modificar el estilo de título del patrón</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a:t>Haga clic para modificar el estilo de texto del patrón</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el estilo de texto del patrón</a:t>
            </a:r>
          </a:p>
        </p:txBody>
      </p:sp>
      <p:sp>
        <p:nvSpPr>
          <p:cNvPr id="4" name="Date Placeholder 3"/>
          <p:cNvSpPr>
            <a:spLocks noGrp="1"/>
          </p:cNvSpPr>
          <p:nvPr>
            <p:ph type="dt" sz="half" idx="10"/>
          </p:nvPr>
        </p:nvSpPr>
        <p:spPr/>
        <p:txBody>
          <a:bodyPr/>
          <a:lstStyle/>
          <a:p>
            <a:fld id="{B61BEF0D-F0BB-DE4B-95CE-6DB70DBA9567}" type="datetimeFigureOut">
              <a:rPr lang="en-US" dirty="0"/>
              <a:pPr/>
              <a:t>8/10/2026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arjeta de nombre">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el estilo de texto del patrón</a:t>
            </a:r>
          </a:p>
        </p:txBody>
      </p:sp>
      <p:sp>
        <p:nvSpPr>
          <p:cNvPr id="4" name="Date Placeholder 3"/>
          <p:cNvSpPr>
            <a:spLocks noGrp="1"/>
          </p:cNvSpPr>
          <p:nvPr>
            <p:ph type="dt" sz="half" idx="10"/>
          </p:nvPr>
        </p:nvSpPr>
        <p:spPr/>
        <p:txBody>
          <a:bodyPr/>
          <a:lstStyle/>
          <a:p>
            <a:fld id="{B61BEF0D-F0BB-DE4B-95CE-6DB70DBA9567}" type="datetimeFigureOut">
              <a:rPr lang="en-US" dirty="0"/>
              <a:pPr/>
              <a:t>8/10/2026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itar la tarjeta de nombre">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s-ES"/>
              <a:t>Haga clic para modificar el estilo de título del patrón</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a:t>Haga clic para modificar el estilo de texto del patrón</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el estilo de texto del patrón</a:t>
            </a:r>
          </a:p>
        </p:txBody>
      </p:sp>
      <p:sp>
        <p:nvSpPr>
          <p:cNvPr id="4" name="Date Placeholder 3"/>
          <p:cNvSpPr>
            <a:spLocks noGrp="1"/>
          </p:cNvSpPr>
          <p:nvPr>
            <p:ph type="dt" sz="half" idx="10"/>
          </p:nvPr>
        </p:nvSpPr>
        <p:spPr/>
        <p:txBody>
          <a:bodyPr/>
          <a:lstStyle/>
          <a:p>
            <a:fld id="{B61BEF0D-F0BB-DE4B-95CE-6DB70DBA9567}" type="datetimeFigureOut">
              <a:rPr lang="en-US" dirty="0"/>
              <a:pPr/>
              <a:t>8/10/2026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Verdadero o falso">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s-ES"/>
              <a:t>Haga clic para modificar el estilo de título del patrón</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a:t>Haga clic para modificar el estilo de texto del patrón</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el estilo de texto del patrón</a:t>
            </a:r>
          </a:p>
        </p:txBody>
      </p:sp>
      <p:sp>
        <p:nvSpPr>
          <p:cNvPr id="4" name="Date Placeholder 3"/>
          <p:cNvSpPr>
            <a:spLocks noGrp="1"/>
          </p:cNvSpPr>
          <p:nvPr>
            <p:ph type="dt" sz="half" idx="10"/>
          </p:nvPr>
        </p:nvSpPr>
        <p:spPr/>
        <p:txBody>
          <a:bodyPr/>
          <a:lstStyle/>
          <a:p>
            <a:fld id="{B61BEF0D-F0BB-DE4B-95CE-6DB70DBA9567}" type="datetimeFigureOut">
              <a:rPr lang="en-US" dirty="0"/>
              <a:pPr/>
              <a:t>8/10/2026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dirty="0"/>
              <a:t>8/10/2026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8/10/2026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grpSp>
        <p:nvGrpSpPr>
          <p:cNvPr id="8" name="Group 7"/>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85000"/>
                  <a:lumOff val="1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lumOff val="1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CO"/>
            </a:p>
          </p:txBody>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CO"/>
            </a:p>
          </p:txBody>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CO"/>
            </a:p>
          </p:txBody>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CO"/>
            </a:p>
          </p:txBody>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CO"/>
            </a:p>
          </p:txBody>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CO"/>
            </a:p>
          </p:txBody>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CO"/>
            </a:p>
          </p:txBody>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CO"/>
            </a:p>
          </p:txBody>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dirty="0"/>
              <a:pPr/>
              <a:t>8/10/2026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dirty="0"/>
              <a:pPr/>
              <a:t>‹#›</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65" r:id="rId4"/>
    <p:sldLayoutId id="2147483653" r:id="rId5"/>
    <p:sldLayoutId id="2147483654" r:id="rId6"/>
    <p:sldLayoutId id="2147483655" r:id="rId7"/>
    <p:sldLayoutId id="2147483666" r:id="rId8"/>
    <p:sldLayoutId id="2147483657" r:id="rId9"/>
    <p:sldLayoutId id="2147483660" r:id="rId10"/>
    <p:sldLayoutId id="2147483661" r:id="rId11"/>
    <p:sldLayoutId id="2147483662" r:id="rId12"/>
    <p:sldLayoutId id="2147483663" r:id="rId13"/>
    <p:sldLayoutId id="2147483664" r:id="rId14"/>
    <p:sldLayoutId id="2147483667" r:id="rId15"/>
    <p:sldLayoutId id="2147483659"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hyperlink" Target="https://es.slideshare.net/marthaiparraguirre/metododologia-de-la-investigacion-ppt&#231;" TargetMode="Externa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a:xfrm>
            <a:off x="469557" y="1910997"/>
            <a:ext cx="11096367" cy="2262781"/>
          </a:xfrm>
        </p:spPr>
        <p:txBody>
          <a:bodyPr/>
          <a:lstStyle/>
          <a:p>
            <a:pPr algn="ctr"/>
            <a:r>
              <a:rPr lang="es-ES" dirty="0"/>
              <a:t>METODOLOGÍA DE LA INVESTIGACIÓN</a:t>
            </a:r>
          </a:p>
        </p:txBody>
      </p:sp>
      <p:pic>
        <p:nvPicPr>
          <p:cNvPr id="4" name="Picture 2" descr="https://udistrital.files.wordpress.com/2012/12/escudo_ud-225x300.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49531" y="393700"/>
            <a:ext cx="1427426" cy="1674367"/>
          </a:xfrm>
          <a:prstGeom prst="rect">
            <a:avLst/>
          </a:prstGeom>
          <a:noFill/>
          <a:extLst>
            <a:ext uri="{909E8E84-426E-40DD-AFC4-6F175D3DCCD1}">
              <a14:hiddenFill xmlns:a14="http://schemas.microsoft.com/office/drawing/2010/main">
                <a:solidFill>
                  <a:srgbClr val="FFFFFF"/>
                </a:solidFill>
              </a14:hiddenFill>
            </a:ext>
          </a:extLst>
        </p:spPr>
      </p:pic>
      <p:sp>
        <p:nvSpPr>
          <p:cNvPr id="5" name="Rectángulo 4"/>
          <p:cNvSpPr/>
          <p:nvPr/>
        </p:nvSpPr>
        <p:spPr>
          <a:xfrm>
            <a:off x="1668088" y="4225118"/>
            <a:ext cx="8390312" cy="461665"/>
          </a:xfrm>
          <a:prstGeom prst="rect">
            <a:avLst/>
          </a:prstGeom>
        </p:spPr>
        <p:txBody>
          <a:bodyPr wrap="square">
            <a:spAutoFit/>
          </a:bodyPr>
          <a:lstStyle/>
          <a:p>
            <a:pPr algn="ctr"/>
            <a:r>
              <a:rPr lang="es-ES" sz="2400" b="1" dirty="0"/>
              <a:t>SEMINARIO DE INVESTIGACIÓN</a:t>
            </a:r>
          </a:p>
        </p:txBody>
      </p:sp>
    </p:spTree>
    <p:extLst>
      <p:ext uri="{BB962C8B-B14F-4D97-AF65-F5344CB8AC3E}">
        <p14:creationId xmlns:p14="http://schemas.microsoft.com/office/powerpoint/2010/main" val="88645155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a:t>INTRODUCCIÓN </a:t>
            </a:r>
          </a:p>
        </p:txBody>
      </p:sp>
      <p:sp>
        <p:nvSpPr>
          <p:cNvPr id="3" name="Marcador de contenido 2"/>
          <p:cNvSpPr>
            <a:spLocks noGrp="1"/>
          </p:cNvSpPr>
          <p:nvPr>
            <p:ph idx="1"/>
          </p:nvPr>
        </p:nvSpPr>
        <p:spPr>
          <a:xfrm>
            <a:off x="575734" y="1512889"/>
            <a:ext cx="10117666" cy="3880773"/>
          </a:xfrm>
        </p:spPr>
        <p:txBody>
          <a:bodyPr>
            <a:noAutofit/>
          </a:bodyPr>
          <a:lstStyle/>
          <a:p>
            <a:pPr algn="just"/>
            <a:r>
              <a:rPr lang="es-CO" sz="3200" dirty="0"/>
              <a:t>En este apartado se describe de manera organizada y precisa</a:t>
            </a:r>
            <a:r>
              <a:rPr lang="es-CO" sz="3200" dirty="0">
                <a:solidFill>
                  <a:srgbClr val="FF0000"/>
                </a:solidFill>
              </a:rPr>
              <a:t> cómo </a:t>
            </a:r>
            <a:r>
              <a:rPr lang="es-CO" sz="3200" dirty="0"/>
              <a:t>se alcanzarán los objetivos propuestos y se obtendrá, con ello, una solución adecuada a la pregunta de investigación. Se especifica qué tipos de métodos de investigación se seguirán en las  diferentes fases. </a:t>
            </a:r>
            <a:endParaRPr lang="es-ES" sz="3200" dirty="0"/>
          </a:p>
        </p:txBody>
      </p:sp>
    </p:spTree>
    <p:extLst>
      <p:ext uri="{BB962C8B-B14F-4D97-AF65-F5344CB8AC3E}">
        <p14:creationId xmlns:p14="http://schemas.microsoft.com/office/powerpoint/2010/main" val="21945414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a:t>INTRODUCCIÓN</a:t>
            </a:r>
            <a:endParaRPr lang="es-CO" dirty="0"/>
          </a:p>
        </p:txBody>
      </p:sp>
      <p:sp>
        <p:nvSpPr>
          <p:cNvPr id="3" name="Marcador de contenido 2"/>
          <p:cNvSpPr>
            <a:spLocks noGrp="1"/>
          </p:cNvSpPr>
          <p:nvPr>
            <p:ph idx="1"/>
          </p:nvPr>
        </p:nvSpPr>
        <p:spPr>
          <a:xfrm>
            <a:off x="553767" y="1616891"/>
            <a:ext cx="9768244" cy="3880773"/>
          </a:xfrm>
        </p:spPr>
        <p:txBody>
          <a:bodyPr>
            <a:noAutofit/>
          </a:bodyPr>
          <a:lstStyle/>
          <a:p>
            <a:pPr algn="just"/>
            <a:r>
              <a:rPr lang="es-ES" sz="2400" dirty="0"/>
              <a:t>Los </a:t>
            </a:r>
            <a:r>
              <a:rPr lang="es-ES" sz="2400" b="1" dirty="0"/>
              <a:t>métodos de investigación</a:t>
            </a:r>
            <a:r>
              <a:rPr lang="es-ES" sz="2400" dirty="0"/>
              <a:t> son herramientas para la recolección de datos, formular y responder preguntas para </a:t>
            </a:r>
            <a:r>
              <a:rPr lang="es-ES" sz="2400" dirty="0">
                <a:solidFill>
                  <a:srgbClr val="FF0000"/>
                </a:solidFill>
              </a:rPr>
              <a:t>llegar a conclusiones</a:t>
            </a:r>
            <a:r>
              <a:rPr lang="es-ES" sz="2400" dirty="0"/>
              <a:t> a través de un análisis sistemático y teórico aplicado a algún campo de estudio.</a:t>
            </a:r>
          </a:p>
          <a:p>
            <a:pPr algn="just"/>
            <a:r>
              <a:rPr lang="es-ES" sz="2400" dirty="0"/>
              <a:t>Acceder a la información requiere en muchos casos de búsquedas exhaustivas, valiéndose de fuentes documentales y humanas mediante diferentes métodos de captación y escalas de medición estadística para evaluar resultados.</a:t>
            </a:r>
          </a:p>
          <a:p>
            <a:pPr algn="just"/>
            <a:r>
              <a:rPr lang="es-ES" sz="2400" dirty="0"/>
              <a:t>Los métodos de investigación localizan y delimitan un problema, permiten recolectar datos importantes para generar hipótesis que posteriormente sean probadas o respaldadas. De esta forma se pueden tomar las decisiones más acordes al caso de estudio.</a:t>
            </a:r>
          </a:p>
          <a:p>
            <a:pPr algn="just"/>
            <a:endParaRPr lang="es-ES" sz="2400" dirty="0"/>
          </a:p>
          <a:p>
            <a:pPr algn="just"/>
            <a:endParaRPr lang="es-ES" sz="2400" dirty="0"/>
          </a:p>
          <a:p>
            <a:pPr algn="just"/>
            <a:r>
              <a:rPr lang="es-ES" sz="2400" dirty="0"/>
              <a:t>.</a:t>
            </a:r>
            <a:endParaRPr lang="es-CO" sz="2400" dirty="0"/>
          </a:p>
        </p:txBody>
      </p:sp>
      <p:sp>
        <p:nvSpPr>
          <p:cNvPr id="4" name="CuadroTexto 3"/>
          <p:cNvSpPr txBox="1"/>
          <p:nvPr/>
        </p:nvSpPr>
        <p:spPr>
          <a:xfrm>
            <a:off x="9385300" y="6488668"/>
            <a:ext cx="3149600" cy="369332"/>
          </a:xfrm>
          <a:prstGeom prst="rect">
            <a:avLst/>
          </a:prstGeom>
          <a:noFill/>
        </p:spPr>
        <p:txBody>
          <a:bodyPr wrap="square" rtlCol="0">
            <a:spAutoFit/>
          </a:bodyPr>
          <a:lstStyle/>
          <a:p>
            <a:r>
              <a:rPr lang="es-ES" dirty="0"/>
              <a:t>(Arenas, 2012)</a:t>
            </a:r>
          </a:p>
        </p:txBody>
      </p:sp>
    </p:spTree>
    <p:extLst>
      <p:ext uri="{BB962C8B-B14F-4D97-AF65-F5344CB8AC3E}">
        <p14:creationId xmlns:p14="http://schemas.microsoft.com/office/powerpoint/2010/main" val="6404241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a:t>INTRODUCCIÓN</a:t>
            </a:r>
            <a:endParaRPr lang="es-CO" dirty="0"/>
          </a:p>
        </p:txBody>
      </p:sp>
      <p:sp>
        <p:nvSpPr>
          <p:cNvPr id="3" name="Marcador de contenido 2"/>
          <p:cNvSpPr>
            <a:spLocks noGrp="1"/>
          </p:cNvSpPr>
          <p:nvPr>
            <p:ph idx="1"/>
          </p:nvPr>
        </p:nvSpPr>
        <p:spPr>
          <a:xfrm>
            <a:off x="677333" y="2160589"/>
            <a:ext cx="9071973" cy="3880773"/>
          </a:xfrm>
        </p:spPr>
        <p:txBody>
          <a:bodyPr>
            <a:noAutofit/>
          </a:bodyPr>
          <a:lstStyle/>
          <a:p>
            <a:pPr algn="just"/>
            <a:r>
              <a:rPr lang="es-ES" sz="2800" dirty="0"/>
              <a:t>Cada método de investigación a emplearse dependerá de las características de la situación a estudiar y sus exigencias para entonces poder </a:t>
            </a:r>
            <a:r>
              <a:rPr lang="es-ES" sz="2800" dirty="0">
                <a:solidFill>
                  <a:srgbClr val="FF0000"/>
                </a:solidFill>
              </a:rPr>
              <a:t>seleccionar el procedimiento que mejor se adapte </a:t>
            </a:r>
            <a:r>
              <a:rPr lang="es-ES" sz="2800" dirty="0"/>
              <a:t>a los o</a:t>
            </a:r>
            <a:r>
              <a:rPr lang="es-ES" sz="2800" dirty="0">
                <a:solidFill>
                  <a:srgbClr val="FF0000"/>
                </a:solidFill>
              </a:rPr>
              <a:t>bjetivos</a:t>
            </a:r>
            <a:r>
              <a:rPr lang="es-ES" sz="2800" dirty="0"/>
              <a:t> planteados en el estudio</a:t>
            </a:r>
            <a:endParaRPr lang="es-CO" sz="2800" dirty="0"/>
          </a:p>
        </p:txBody>
      </p:sp>
    </p:spTree>
    <p:extLst>
      <p:ext uri="{BB962C8B-B14F-4D97-AF65-F5344CB8AC3E}">
        <p14:creationId xmlns:p14="http://schemas.microsoft.com/office/powerpoint/2010/main" val="1615632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a:t>INTRODUCCIÓN</a:t>
            </a:r>
            <a:endParaRPr lang="es-CO" dirty="0"/>
          </a:p>
        </p:txBody>
      </p:sp>
      <p:sp>
        <p:nvSpPr>
          <p:cNvPr id="3" name="Marcador de contenido 2"/>
          <p:cNvSpPr>
            <a:spLocks noGrp="1"/>
          </p:cNvSpPr>
          <p:nvPr>
            <p:ph idx="1"/>
          </p:nvPr>
        </p:nvSpPr>
        <p:spPr/>
        <p:txBody>
          <a:bodyPr>
            <a:normAutofit/>
          </a:bodyPr>
          <a:lstStyle/>
          <a:p>
            <a:r>
              <a:rPr lang="es-CO" sz="4400" dirty="0"/>
              <a:t>¿Existe un método científico general que se una guía para todas las investigaciones y que  garantice la obtención del conocimiento?</a:t>
            </a:r>
          </a:p>
        </p:txBody>
      </p:sp>
    </p:spTree>
    <p:extLst>
      <p:ext uri="{BB962C8B-B14F-4D97-AF65-F5344CB8AC3E}">
        <p14:creationId xmlns:p14="http://schemas.microsoft.com/office/powerpoint/2010/main" val="24959428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CO" dirty="0"/>
              <a:t>¿Por qué utilizar una  metodología ?</a:t>
            </a:r>
          </a:p>
        </p:txBody>
      </p:sp>
      <p:sp>
        <p:nvSpPr>
          <p:cNvPr id="3" name="Marcador de contenido 2"/>
          <p:cNvSpPr>
            <a:spLocks noGrp="1"/>
          </p:cNvSpPr>
          <p:nvPr>
            <p:ph idx="1"/>
          </p:nvPr>
        </p:nvSpPr>
        <p:spPr>
          <a:xfrm>
            <a:off x="883396" y="1930401"/>
            <a:ext cx="8878790" cy="3440090"/>
          </a:xfrm>
        </p:spPr>
        <p:txBody>
          <a:bodyPr>
            <a:normAutofit/>
          </a:bodyPr>
          <a:lstStyle/>
          <a:p>
            <a:pPr algn="just"/>
            <a:r>
              <a:rPr lang="es-CO" sz="2400" dirty="0"/>
              <a:t>Se necesita una manera sistemática, controlada, empírica y critica para llevarla a cabo una investigación.</a:t>
            </a:r>
          </a:p>
          <a:p>
            <a:pPr algn="just"/>
            <a:r>
              <a:rPr lang="es-CO" sz="2400" dirty="0"/>
              <a:t>La mayoría de  ideas iniciales  de una investigación son normalmente vagas e imprecisas.</a:t>
            </a:r>
          </a:p>
          <a:p>
            <a:pPr algn="just"/>
            <a:r>
              <a:rPr lang="es-CO" sz="2400" dirty="0"/>
              <a:t>Es necesario transformar los planteamientos  iniciales en formas mas precisas y estructuradas. </a:t>
            </a:r>
          </a:p>
        </p:txBody>
      </p:sp>
      <p:sp>
        <p:nvSpPr>
          <p:cNvPr id="4" name="CuadroTexto 3"/>
          <p:cNvSpPr txBox="1"/>
          <p:nvPr/>
        </p:nvSpPr>
        <p:spPr>
          <a:xfrm>
            <a:off x="9385300" y="6488668"/>
            <a:ext cx="3149600" cy="369332"/>
          </a:xfrm>
          <a:prstGeom prst="rect">
            <a:avLst/>
          </a:prstGeom>
          <a:noFill/>
        </p:spPr>
        <p:txBody>
          <a:bodyPr wrap="square" rtlCol="0">
            <a:spAutoFit/>
          </a:bodyPr>
          <a:lstStyle/>
          <a:p>
            <a:r>
              <a:rPr lang="es-ES" dirty="0"/>
              <a:t>(Arenas, 2012)</a:t>
            </a:r>
          </a:p>
        </p:txBody>
      </p:sp>
    </p:spTree>
    <p:extLst>
      <p:ext uri="{BB962C8B-B14F-4D97-AF65-F5344CB8AC3E}">
        <p14:creationId xmlns:p14="http://schemas.microsoft.com/office/powerpoint/2010/main" val="17121176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77333" y="609600"/>
            <a:ext cx="9519803" cy="1320800"/>
          </a:xfrm>
        </p:spPr>
        <p:txBody>
          <a:bodyPr/>
          <a:lstStyle/>
          <a:p>
            <a:r>
              <a:rPr lang="es-CO" dirty="0"/>
              <a:t>Métodos Cuantitativos-Métodos Cualitativos </a:t>
            </a:r>
          </a:p>
        </p:txBody>
      </p:sp>
      <p:graphicFrame>
        <p:nvGraphicFramePr>
          <p:cNvPr id="4" name="Tabla 3"/>
          <p:cNvGraphicFramePr>
            <a:graphicFrameLocks noGrp="1"/>
          </p:cNvGraphicFramePr>
          <p:nvPr>
            <p:extLst>
              <p:ext uri="{D42A27DB-BD31-4B8C-83A1-F6EECF244321}">
                <p14:modId xmlns:p14="http://schemas.microsoft.com/office/powerpoint/2010/main" val="3952479551"/>
              </p:ext>
            </p:extLst>
          </p:nvPr>
        </p:nvGraphicFramePr>
        <p:xfrm>
          <a:off x="1326521" y="1543914"/>
          <a:ext cx="9324306" cy="4851400"/>
        </p:xfrm>
        <a:graphic>
          <a:graphicData uri="http://schemas.openxmlformats.org/drawingml/2006/table">
            <a:tbl>
              <a:tblPr firstRow="1" bandRow="1">
                <a:tableStyleId>{5C22544A-7EE6-4342-B048-85BDC9FD1C3A}</a:tableStyleId>
              </a:tblPr>
              <a:tblGrid>
                <a:gridCol w="4662153">
                  <a:extLst>
                    <a:ext uri="{9D8B030D-6E8A-4147-A177-3AD203B41FA5}">
                      <a16:colId xmlns:a16="http://schemas.microsoft.com/office/drawing/2014/main" val="20000"/>
                    </a:ext>
                  </a:extLst>
                </a:gridCol>
                <a:gridCol w="4662153">
                  <a:extLst>
                    <a:ext uri="{9D8B030D-6E8A-4147-A177-3AD203B41FA5}">
                      <a16:colId xmlns:a16="http://schemas.microsoft.com/office/drawing/2014/main" val="20001"/>
                    </a:ext>
                  </a:extLst>
                </a:gridCol>
              </a:tblGrid>
              <a:tr h="370840">
                <a:tc>
                  <a:txBody>
                    <a:bodyPr/>
                    <a:lstStyle/>
                    <a:p>
                      <a:pPr algn="ctr"/>
                      <a:r>
                        <a:rPr lang="es-CO" dirty="0"/>
                        <a:t>CUALITATIVOS </a:t>
                      </a:r>
                    </a:p>
                  </a:txBody>
                  <a:tcPr/>
                </a:tc>
                <a:tc>
                  <a:txBody>
                    <a:bodyPr/>
                    <a:lstStyle/>
                    <a:p>
                      <a:pPr algn="ctr"/>
                      <a:r>
                        <a:rPr lang="es-CO" dirty="0"/>
                        <a:t>CUANTITATIVOS</a:t>
                      </a:r>
                    </a:p>
                  </a:txBody>
                  <a:tcPr/>
                </a:tc>
                <a:extLst>
                  <a:ext uri="{0D108BD9-81ED-4DB2-BD59-A6C34878D82A}">
                    <a16:rowId xmlns:a16="http://schemas.microsoft.com/office/drawing/2014/main" val="10000"/>
                  </a:ext>
                </a:extLst>
              </a:tr>
              <a:tr h="370840">
                <a:tc>
                  <a:txBody>
                    <a:bodyPr/>
                    <a:lstStyle/>
                    <a:p>
                      <a:pPr marL="285750" indent="-285750" algn="just">
                        <a:buFont typeface="Arial" panose="020B0604020202020204" pitchFamily="34" charset="0"/>
                        <a:buChar char="•"/>
                      </a:pPr>
                      <a:r>
                        <a:rPr lang="es-ES" sz="1800" b="0" i="0" kern="1200" dirty="0">
                          <a:solidFill>
                            <a:schemeClr val="dk1"/>
                          </a:solidFill>
                          <a:effectLst/>
                          <a:latin typeface="+mn-lt"/>
                          <a:ea typeface="+mn-ea"/>
                          <a:cs typeface="+mn-cs"/>
                        </a:rPr>
                        <a:t>La intención de este método es exponer y encontrar el conocimiento ampliado de un caso mediante datos detallados y principios teóricos.</a:t>
                      </a:r>
                    </a:p>
                    <a:p>
                      <a:pPr marL="285750" indent="-285750" algn="just">
                        <a:buFont typeface="Arial" panose="020B0604020202020204" pitchFamily="34" charset="0"/>
                        <a:buChar char="•"/>
                      </a:pPr>
                      <a:endParaRPr lang="es-ES" sz="1800" b="0" i="0" kern="1200" dirty="0">
                        <a:solidFill>
                          <a:schemeClr val="dk1"/>
                        </a:solidFill>
                        <a:effectLst/>
                        <a:latin typeface="+mn-lt"/>
                        <a:ea typeface="+mn-ea"/>
                        <a:cs typeface="+mn-cs"/>
                      </a:endParaRPr>
                    </a:p>
                    <a:p>
                      <a:pPr marL="285750" indent="-285750" algn="just">
                        <a:buFont typeface="Arial" panose="020B0604020202020204" pitchFamily="34" charset="0"/>
                        <a:buChar char="•"/>
                      </a:pPr>
                      <a:r>
                        <a:rPr lang="es-ES" sz="1800" b="0" i="0" kern="1200" dirty="0">
                          <a:solidFill>
                            <a:schemeClr val="dk1"/>
                          </a:solidFill>
                          <a:effectLst/>
                          <a:latin typeface="+mn-lt"/>
                          <a:ea typeface="+mn-ea"/>
                          <a:cs typeface="+mn-cs"/>
                        </a:rPr>
                        <a:t>En este método el objeto de estudio se considera externo, separado de</a:t>
                      </a:r>
                      <a:r>
                        <a:rPr lang="es-ES" sz="1800" b="0" i="0" kern="1200" baseline="0" dirty="0">
                          <a:solidFill>
                            <a:schemeClr val="dk1"/>
                          </a:solidFill>
                          <a:effectLst/>
                          <a:latin typeface="+mn-lt"/>
                          <a:ea typeface="+mn-ea"/>
                          <a:cs typeface="+mn-cs"/>
                        </a:rPr>
                        <a:t> </a:t>
                      </a:r>
                      <a:r>
                        <a:rPr lang="es-ES" sz="1800" b="0" i="0" kern="1200" dirty="0">
                          <a:solidFill>
                            <a:schemeClr val="dk1"/>
                          </a:solidFill>
                          <a:effectLst/>
                          <a:latin typeface="+mn-lt"/>
                          <a:ea typeface="+mn-ea"/>
                          <a:cs typeface="+mn-cs"/>
                        </a:rPr>
                        <a:t>cualquier pensamiento individual para garantizar la mayor objetividad posible.</a:t>
                      </a:r>
                    </a:p>
                    <a:p>
                      <a:pPr marL="285750" indent="-285750" algn="just">
                        <a:buFont typeface="Arial" panose="020B0604020202020204" pitchFamily="34" charset="0"/>
                        <a:buChar char="•"/>
                      </a:pPr>
                      <a:endParaRPr lang="es-ES" sz="1800" b="0" i="0" kern="1200" dirty="0">
                        <a:solidFill>
                          <a:schemeClr val="dk1"/>
                        </a:solidFill>
                        <a:effectLst/>
                        <a:latin typeface="+mn-lt"/>
                        <a:ea typeface="+mn-ea"/>
                        <a:cs typeface="+mn-cs"/>
                      </a:endParaRPr>
                    </a:p>
                    <a:p>
                      <a:pPr marL="285750" indent="-285750" algn="just">
                        <a:buFont typeface="Arial" panose="020B0604020202020204" pitchFamily="34" charset="0"/>
                        <a:buChar char="•"/>
                      </a:pPr>
                      <a:r>
                        <a:rPr lang="es-ES" sz="1800" b="0" i="0" kern="1200" dirty="0">
                          <a:solidFill>
                            <a:schemeClr val="dk1"/>
                          </a:solidFill>
                          <a:effectLst/>
                          <a:latin typeface="+mn-lt"/>
                          <a:ea typeface="+mn-ea"/>
                          <a:cs typeface="+mn-cs"/>
                        </a:rPr>
                        <a:t>La recolección de datos suele constar de pruebas objetivas, instrumentos de medición, la estadística, </a:t>
                      </a:r>
                      <a:r>
                        <a:rPr lang="es-ES" sz="1800" b="0" i="0" kern="1200" dirty="0" err="1">
                          <a:solidFill>
                            <a:schemeClr val="dk1"/>
                          </a:solidFill>
                          <a:effectLst/>
                          <a:latin typeface="+mn-lt"/>
                          <a:ea typeface="+mn-ea"/>
                          <a:cs typeface="+mn-cs"/>
                        </a:rPr>
                        <a:t>tests</a:t>
                      </a:r>
                      <a:r>
                        <a:rPr lang="es-ES" sz="1800" b="0" i="0" kern="1200" dirty="0">
                          <a:solidFill>
                            <a:schemeClr val="dk1"/>
                          </a:solidFill>
                          <a:effectLst/>
                          <a:latin typeface="+mn-lt"/>
                          <a:ea typeface="+mn-ea"/>
                          <a:cs typeface="+mn-cs"/>
                        </a:rPr>
                        <a:t>, entre otros.</a:t>
                      </a:r>
                    </a:p>
                    <a:p>
                      <a:endParaRPr lang="es-CO" dirty="0"/>
                    </a:p>
                  </a:txBody>
                  <a:tcPr/>
                </a:tc>
                <a:tc>
                  <a:txBody>
                    <a:bodyPr/>
                    <a:lstStyle/>
                    <a:p>
                      <a:pPr marL="285750" indent="-285750" algn="just">
                        <a:buFont typeface="Arial" panose="020B0604020202020204" pitchFamily="34" charset="0"/>
                        <a:buChar char="•"/>
                      </a:pPr>
                      <a:r>
                        <a:rPr lang="es-ES" sz="1800" b="0" i="0" kern="1200" dirty="0">
                          <a:solidFill>
                            <a:schemeClr val="dk1"/>
                          </a:solidFill>
                          <a:effectLst/>
                          <a:latin typeface="+mn-lt"/>
                          <a:ea typeface="+mn-ea"/>
                          <a:cs typeface="+mn-cs"/>
                        </a:rPr>
                        <a:t>Tiene base en el principio positivista y neopositivista y su objetivo es el estudio de los valores y fenómenos para establecer y fortalecer una teoría planteada.</a:t>
                      </a:r>
                    </a:p>
                    <a:p>
                      <a:pPr marL="285750" indent="-285750" algn="just">
                        <a:buFont typeface="Arial" panose="020B0604020202020204" pitchFamily="34" charset="0"/>
                        <a:buChar char="•"/>
                      </a:pPr>
                      <a:endParaRPr lang="es-ES" sz="1800" b="0" i="0" kern="1200" dirty="0">
                        <a:solidFill>
                          <a:schemeClr val="dk1"/>
                        </a:solidFill>
                        <a:effectLst/>
                        <a:latin typeface="+mn-lt"/>
                        <a:ea typeface="+mn-ea"/>
                        <a:cs typeface="+mn-cs"/>
                      </a:endParaRPr>
                    </a:p>
                    <a:p>
                      <a:pPr marL="285750" indent="-285750" algn="just">
                        <a:buFont typeface="Arial" panose="020B0604020202020204" pitchFamily="34" charset="0"/>
                        <a:buChar char="•"/>
                      </a:pPr>
                      <a:r>
                        <a:rPr lang="es-ES" sz="1800" b="0" i="0" kern="1200" dirty="0">
                          <a:solidFill>
                            <a:schemeClr val="dk1"/>
                          </a:solidFill>
                          <a:effectLst/>
                          <a:latin typeface="+mn-lt"/>
                          <a:ea typeface="+mn-ea"/>
                          <a:cs typeface="+mn-cs"/>
                        </a:rPr>
                        <a:t>Se enfoca en lo subjetivo e individual desde una perspectiva humanística, mediante la interpretación, la</a:t>
                      </a:r>
                      <a:r>
                        <a:rPr lang="es-ES" sz="1800" b="0" i="0" kern="1200" baseline="0" dirty="0">
                          <a:solidFill>
                            <a:schemeClr val="dk1"/>
                          </a:solidFill>
                          <a:effectLst/>
                          <a:latin typeface="+mn-lt"/>
                          <a:ea typeface="+mn-ea"/>
                          <a:cs typeface="+mn-cs"/>
                        </a:rPr>
                        <a:t> </a:t>
                      </a:r>
                      <a:r>
                        <a:rPr lang="es-ES" sz="1800" b="0" i="0" kern="1200" dirty="0">
                          <a:solidFill>
                            <a:schemeClr val="dk1"/>
                          </a:solidFill>
                          <a:effectLst/>
                          <a:latin typeface="+mn-lt"/>
                          <a:ea typeface="+mn-ea"/>
                          <a:cs typeface="+mn-cs"/>
                        </a:rPr>
                        <a:t>observación, entrevistas y relatos.</a:t>
                      </a:r>
                    </a:p>
                    <a:p>
                      <a:pPr marL="285750" marR="0" indent="-285750" algn="just"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s-ES" sz="1800" b="0" i="0" kern="1200" dirty="0">
                        <a:solidFill>
                          <a:schemeClr val="dk1"/>
                        </a:solidFill>
                        <a:effectLst/>
                        <a:latin typeface="+mn-lt"/>
                        <a:ea typeface="+mn-ea"/>
                        <a:cs typeface="+mn-cs"/>
                      </a:endParaRPr>
                    </a:p>
                    <a:p>
                      <a:pPr marL="285750" marR="0" indent="-285750" algn="just"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s-ES" sz="1800" b="0" i="0" kern="1200" dirty="0">
                          <a:solidFill>
                            <a:schemeClr val="dk1"/>
                          </a:solidFill>
                          <a:effectLst/>
                          <a:latin typeface="+mn-lt"/>
                          <a:ea typeface="+mn-ea"/>
                          <a:cs typeface="+mn-cs"/>
                        </a:rPr>
                        <a:t>Estudia un fenómeno en profundidad.</a:t>
                      </a:r>
                    </a:p>
                    <a:p>
                      <a:pPr marL="285750" indent="-285750" algn="just" defTabSz="457200" rtl="0" eaLnBrk="1" latinLnBrk="0" hangingPunct="1">
                        <a:buFont typeface="Arial" panose="020B0604020202020204" pitchFamily="34" charset="0"/>
                        <a:buChar char="•"/>
                      </a:pPr>
                      <a:endParaRPr lang="es-CO" sz="1800" b="0" i="0" kern="1200" dirty="0">
                        <a:solidFill>
                          <a:schemeClr val="dk1"/>
                        </a:solidFill>
                        <a:effectLst/>
                        <a:latin typeface="+mn-lt"/>
                        <a:ea typeface="+mn-ea"/>
                        <a:cs typeface="+mn-cs"/>
                      </a:endParaRPr>
                    </a:p>
                    <a:p>
                      <a:pPr marL="285750" marR="0" indent="-285750" algn="just"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s-ES" sz="1800" b="0" i="0" kern="1200" dirty="0">
                          <a:solidFill>
                            <a:schemeClr val="dk1"/>
                          </a:solidFill>
                          <a:effectLst/>
                          <a:latin typeface="+mn-lt"/>
                          <a:ea typeface="+mn-ea"/>
                          <a:cs typeface="+mn-cs"/>
                        </a:rPr>
                        <a:t>Divide problemas complejos en partes más pequeñas.</a:t>
                      </a:r>
                    </a:p>
                    <a:p>
                      <a:endParaRPr lang="es-CO" dirty="0"/>
                    </a:p>
                  </a:txBody>
                  <a:tcPr/>
                </a:tc>
                <a:extLst>
                  <a:ext uri="{0D108BD9-81ED-4DB2-BD59-A6C34878D82A}">
                    <a16:rowId xmlns:a16="http://schemas.microsoft.com/office/drawing/2014/main" val="10001"/>
                  </a:ext>
                </a:extLst>
              </a:tr>
            </a:tbl>
          </a:graphicData>
        </a:graphic>
      </p:graphicFrame>
      <p:sp>
        <p:nvSpPr>
          <p:cNvPr id="5" name="Rectángulo 4"/>
          <p:cNvSpPr/>
          <p:nvPr/>
        </p:nvSpPr>
        <p:spPr>
          <a:xfrm>
            <a:off x="10332174" y="6377189"/>
            <a:ext cx="1671420" cy="369332"/>
          </a:xfrm>
          <a:prstGeom prst="rect">
            <a:avLst/>
          </a:prstGeom>
        </p:spPr>
        <p:txBody>
          <a:bodyPr wrap="none">
            <a:spAutoFit/>
          </a:bodyPr>
          <a:lstStyle/>
          <a:p>
            <a:r>
              <a:rPr lang="es-CO" dirty="0"/>
              <a:t>(Kothari,2004)</a:t>
            </a:r>
          </a:p>
        </p:txBody>
      </p:sp>
    </p:spTree>
    <p:extLst>
      <p:ext uri="{BB962C8B-B14F-4D97-AF65-F5344CB8AC3E}">
        <p14:creationId xmlns:p14="http://schemas.microsoft.com/office/powerpoint/2010/main" val="14701381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CO" b="1" dirty="0"/>
              <a:t>Método científico</a:t>
            </a:r>
            <a:br>
              <a:rPr lang="es-CO" dirty="0"/>
            </a:br>
            <a:endParaRPr lang="es-CO" dirty="0"/>
          </a:p>
        </p:txBody>
      </p:sp>
      <p:sp>
        <p:nvSpPr>
          <p:cNvPr id="3" name="Marcador de contenido 2"/>
          <p:cNvSpPr>
            <a:spLocks noGrp="1"/>
          </p:cNvSpPr>
          <p:nvPr>
            <p:ph idx="1"/>
          </p:nvPr>
        </p:nvSpPr>
        <p:spPr>
          <a:xfrm>
            <a:off x="806122" y="1490888"/>
            <a:ext cx="8956063" cy="3880773"/>
          </a:xfrm>
        </p:spPr>
        <p:txBody>
          <a:bodyPr>
            <a:noAutofit/>
          </a:bodyPr>
          <a:lstStyle/>
          <a:p>
            <a:pPr algn="just"/>
            <a:r>
              <a:rPr lang="es-ES" sz="2000" dirty="0"/>
              <a:t>Ofrece un  conjunto de técnicas y procedimientos  para la obtención de un conocimiento teórico con validez y comprobación científica mediante el uso de instrumentos fiables que no dan lugar a la subjetividad.</a:t>
            </a:r>
          </a:p>
          <a:p>
            <a:pPr algn="just"/>
            <a:r>
              <a:rPr lang="es-ES" sz="2000" dirty="0"/>
              <a:t>Mediante algunos experimentos se demuestra la capacidad de reproducción de un mismo hecho al usar los mismos mecanismos en diferentes contextos accionados por distintos individuos.</a:t>
            </a:r>
          </a:p>
          <a:p>
            <a:pPr algn="just"/>
            <a:r>
              <a:rPr lang="es-ES" sz="2000" dirty="0"/>
              <a:t>Este método tiene la capacidad de proporcionar respuestas eficaces y probadas sobre algún caso de estudio.</a:t>
            </a:r>
          </a:p>
          <a:p>
            <a:pPr algn="just"/>
            <a:r>
              <a:rPr lang="es-ES" sz="2000" dirty="0"/>
              <a:t>Se considera uno de los procedimientos más útiles ya que permite la explicación de fenómenos de forma objetiva, que brinda soluciones a problemas de investigación e impulsa a declarar leyes.</a:t>
            </a:r>
          </a:p>
          <a:p>
            <a:pPr algn="just"/>
            <a:r>
              <a:rPr lang="es-ES" sz="2000" dirty="0"/>
              <a:t>Su desarrollo es riguroso y netamente lógico de forma ordenada con principios puros y completos buscando la corrección y la superación para conquistar, ordenar y entender el conocimiento recogido.</a:t>
            </a:r>
          </a:p>
          <a:p>
            <a:endParaRPr lang="es-CO" sz="2000" dirty="0"/>
          </a:p>
        </p:txBody>
      </p:sp>
      <p:sp>
        <p:nvSpPr>
          <p:cNvPr id="4" name="Rectángulo 3"/>
          <p:cNvSpPr/>
          <p:nvPr/>
        </p:nvSpPr>
        <p:spPr>
          <a:xfrm>
            <a:off x="10332174" y="6377189"/>
            <a:ext cx="1671420" cy="369332"/>
          </a:xfrm>
          <a:prstGeom prst="rect">
            <a:avLst/>
          </a:prstGeom>
        </p:spPr>
        <p:txBody>
          <a:bodyPr wrap="none">
            <a:spAutoFit/>
          </a:bodyPr>
          <a:lstStyle/>
          <a:p>
            <a:r>
              <a:rPr lang="es-CO" dirty="0"/>
              <a:t>(Kothari,2004)</a:t>
            </a:r>
          </a:p>
        </p:txBody>
      </p:sp>
    </p:spTree>
    <p:extLst>
      <p:ext uri="{BB962C8B-B14F-4D97-AF65-F5344CB8AC3E}">
        <p14:creationId xmlns:p14="http://schemas.microsoft.com/office/powerpoint/2010/main" val="22036325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CO" b="1" dirty="0"/>
              <a:t>Método Científico-Mario Bunge</a:t>
            </a:r>
            <a:endParaRPr lang="es-CO" dirty="0"/>
          </a:p>
        </p:txBody>
      </p:sp>
      <p:graphicFrame>
        <p:nvGraphicFramePr>
          <p:cNvPr id="5" name="Tabla 4"/>
          <p:cNvGraphicFramePr>
            <a:graphicFrameLocks noGrp="1"/>
          </p:cNvGraphicFramePr>
          <p:nvPr>
            <p:extLst>
              <p:ext uri="{D42A27DB-BD31-4B8C-83A1-F6EECF244321}">
                <p14:modId xmlns:p14="http://schemas.microsoft.com/office/powerpoint/2010/main" val="3001086467"/>
              </p:ext>
            </p:extLst>
          </p:nvPr>
        </p:nvGraphicFramePr>
        <p:xfrm>
          <a:off x="905553" y="1337972"/>
          <a:ext cx="9552092" cy="5129723"/>
        </p:xfrm>
        <a:graphic>
          <a:graphicData uri="http://schemas.openxmlformats.org/drawingml/2006/table">
            <a:tbl>
              <a:tblPr firstRow="1" firstCol="1" bandRow="1">
                <a:tableStyleId>{5C22544A-7EE6-4342-B048-85BDC9FD1C3A}</a:tableStyleId>
              </a:tblPr>
              <a:tblGrid>
                <a:gridCol w="3790923">
                  <a:extLst>
                    <a:ext uri="{9D8B030D-6E8A-4147-A177-3AD203B41FA5}">
                      <a16:colId xmlns:a16="http://schemas.microsoft.com/office/drawing/2014/main" val="20000"/>
                    </a:ext>
                  </a:extLst>
                </a:gridCol>
                <a:gridCol w="5761169">
                  <a:extLst>
                    <a:ext uri="{9D8B030D-6E8A-4147-A177-3AD203B41FA5}">
                      <a16:colId xmlns:a16="http://schemas.microsoft.com/office/drawing/2014/main" val="20001"/>
                    </a:ext>
                  </a:extLst>
                </a:gridCol>
              </a:tblGrid>
              <a:tr h="0">
                <a:tc>
                  <a:txBody>
                    <a:bodyPr/>
                    <a:lstStyle/>
                    <a:p>
                      <a:pPr marL="342900" lvl="0" indent="-342900">
                        <a:lnSpc>
                          <a:spcPct val="107000"/>
                        </a:lnSpc>
                        <a:spcAft>
                          <a:spcPts val="0"/>
                        </a:spcAft>
                        <a:buFont typeface="Symbol" panose="05050102010706020507" pitchFamily="18" charset="2"/>
                        <a:buChar char=""/>
                      </a:pPr>
                      <a:r>
                        <a:rPr lang="es-CO" sz="2000" dirty="0">
                          <a:solidFill>
                            <a:schemeClr val="bg1"/>
                          </a:solidFill>
                          <a:effectLst/>
                        </a:rPr>
                        <a:t>Planteamiento del Problema</a:t>
                      </a:r>
                      <a:endParaRPr lang="es-CO" sz="20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342900" lvl="0" indent="-342900" algn="l" defTabSz="457200" rtl="0" eaLnBrk="1" latinLnBrk="0" hangingPunct="1">
                        <a:lnSpc>
                          <a:spcPct val="107000"/>
                        </a:lnSpc>
                        <a:spcAft>
                          <a:spcPts val="0"/>
                        </a:spcAft>
                        <a:buFont typeface="Symbol" panose="05050102010706020507" pitchFamily="18" charset="2"/>
                        <a:buChar char=""/>
                      </a:pPr>
                      <a:r>
                        <a:rPr lang="es-CO" sz="2000" b="0" kern="1200" dirty="0">
                          <a:solidFill>
                            <a:schemeClr val="dk1"/>
                          </a:solidFill>
                          <a:effectLst/>
                          <a:latin typeface="+mn-lt"/>
                          <a:ea typeface="+mn-ea"/>
                          <a:cs typeface="+mn-cs"/>
                        </a:rPr>
                        <a:t>Reconocimiento de los hechos</a:t>
                      </a:r>
                    </a:p>
                    <a:p>
                      <a:pPr marL="342900" lvl="0" indent="-342900" algn="l" defTabSz="457200" rtl="0" eaLnBrk="1" latinLnBrk="0" hangingPunct="1">
                        <a:lnSpc>
                          <a:spcPct val="107000"/>
                        </a:lnSpc>
                        <a:spcAft>
                          <a:spcPts val="0"/>
                        </a:spcAft>
                        <a:buFont typeface="Symbol" panose="05050102010706020507" pitchFamily="18" charset="2"/>
                        <a:buChar char=""/>
                      </a:pPr>
                      <a:r>
                        <a:rPr lang="es-CO" sz="2000" b="0" kern="1200" dirty="0">
                          <a:solidFill>
                            <a:schemeClr val="dk1"/>
                          </a:solidFill>
                          <a:effectLst/>
                          <a:latin typeface="+mn-lt"/>
                          <a:ea typeface="+mn-ea"/>
                          <a:cs typeface="+mn-cs"/>
                        </a:rPr>
                        <a:t>Descubrimiento del problema </a:t>
                      </a:r>
                    </a:p>
                    <a:p>
                      <a:pPr marL="342900" lvl="0" indent="-342900" algn="l" defTabSz="457200" rtl="0" eaLnBrk="1" latinLnBrk="0" hangingPunct="1">
                        <a:lnSpc>
                          <a:spcPct val="107000"/>
                        </a:lnSpc>
                        <a:spcAft>
                          <a:spcPts val="0"/>
                        </a:spcAft>
                        <a:buFont typeface="Symbol" panose="05050102010706020507" pitchFamily="18" charset="2"/>
                        <a:buChar char=""/>
                      </a:pPr>
                      <a:r>
                        <a:rPr lang="es-CO" sz="2000" b="0" kern="1200" dirty="0">
                          <a:solidFill>
                            <a:schemeClr val="dk1"/>
                          </a:solidFill>
                          <a:effectLst/>
                          <a:latin typeface="+mn-lt"/>
                          <a:ea typeface="+mn-ea"/>
                          <a:cs typeface="+mn-cs"/>
                        </a:rPr>
                        <a:t>Formulación del Problema</a:t>
                      </a:r>
                    </a:p>
                  </a:txBody>
                  <a:tcPr marL="68580" marR="68580" marT="0" marB="0">
                    <a:solidFill>
                      <a:schemeClr val="accent1">
                        <a:lumMod val="20000"/>
                        <a:lumOff val="80000"/>
                      </a:schemeClr>
                    </a:solidFill>
                  </a:tcPr>
                </a:tc>
                <a:extLst>
                  <a:ext uri="{0D108BD9-81ED-4DB2-BD59-A6C34878D82A}">
                    <a16:rowId xmlns:a16="http://schemas.microsoft.com/office/drawing/2014/main" val="10000"/>
                  </a:ext>
                </a:extLst>
              </a:tr>
              <a:tr h="0">
                <a:tc>
                  <a:txBody>
                    <a:bodyPr/>
                    <a:lstStyle/>
                    <a:p>
                      <a:pPr marL="342900" lvl="0" indent="-342900">
                        <a:lnSpc>
                          <a:spcPct val="107000"/>
                        </a:lnSpc>
                        <a:spcAft>
                          <a:spcPts val="0"/>
                        </a:spcAft>
                        <a:buFont typeface="Symbol" panose="05050102010706020507" pitchFamily="18" charset="2"/>
                        <a:buChar char=""/>
                      </a:pPr>
                      <a:r>
                        <a:rPr lang="es-CO" sz="2000">
                          <a:solidFill>
                            <a:schemeClr val="bg1"/>
                          </a:solidFill>
                          <a:effectLst/>
                        </a:rPr>
                        <a:t>Construcción del modelo teórico  </a:t>
                      </a:r>
                      <a:endParaRPr lang="es-CO" sz="200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342900" lvl="0" indent="-342900">
                        <a:lnSpc>
                          <a:spcPct val="107000"/>
                        </a:lnSpc>
                        <a:spcAft>
                          <a:spcPts val="0"/>
                        </a:spcAft>
                        <a:buFont typeface="Symbol" panose="05050102010706020507" pitchFamily="18" charset="2"/>
                        <a:buChar char=""/>
                      </a:pPr>
                      <a:r>
                        <a:rPr lang="es-CO" sz="2000" b="0" dirty="0">
                          <a:effectLst/>
                        </a:rPr>
                        <a:t>Selección de los factores pertinentes</a:t>
                      </a:r>
                    </a:p>
                    <a:p>
                      <a:pPr marL="342900" lvl="0" indent="-342900">
                        <a:lnSpc>
                          <a:spcPct val="107000"/>
                        </a:lnSpc>
                        <a:spcAft>
                          <a:spcPts val="0"/>
                        </a:spcAft>
                        <a:buFont typeface="Symbol" panose="05050102010706020507" pitchFamily="18" charset="2"/>
                        <a:buChar char=""/>
                      </a:pPr>
                      <a:r>
                        <a:rPr lang="es-CO" sz="2000" b="0" dirty="0">
                          <a:effectLst/>
                        </a:rPr>
                        <a:t>Planteamiento de la hipótesis</a:t>
                      </a:r>
                    </a:p>
                    <a:p>
                      <a:pPr marL="342900" lvl="0" indent="-342900">
                        <a:lnSpc>
                          <a:spcPct val="107000"/>
                        </a:lnSpc>
                        <a:spcAft>
                          <a:spcPts val="0"/>
                        </a:spcAft>
                        <a:buFont typeface="Symbol" panose="05050102010706020507" pitchFamily="18" charset="2"/>
                        <a:buChar char=""/>
                      </a:pPr>
                      <a:r>
                        <a:rPr lang="es-CO" sz="2000" b="0" dirty="0" err="1">
                          <a:effectLst/>
                        </a:rPr>
                        <a:t>Operacionalización</a:t>
                      </a:r>
                      <a:r>
                        <a:rPr lang="es-CO" sz="2000" b="0" dirty="0">
                          <a:effectLst/>
                        </a:rPr>
                        <a:t> de los indicadores </a:t>
                      </a:r>
                      <a:endParaRPr lang="es-CO" sz="2000" b="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1"/>
                  </a:ext>
                </a:extLst>
              </a:tr>
              <a:tr h="0">
                <a:tc>
                  <a:txBody>
                    <a:bodyPr/>
                    <a:lstStyle/>
                    <a:p>
                      <a:pPr marL="342900" lvl="0" indent="-342900">
                        <a:lnSpc>
                          <a:spcPct val="107000"/>
                        </a:lnSpc>
                        <a:spcAft>
                          <a:spcPts val="0"/>
                        </a:spcAft>
                        <a:buFont typeface="Symbol" panose="05050102010706020507" pitchFamily="18" charset="2"/>
                        <a:buChar char=""/>
                      </a:pPr>
                      <a:r>
                        <a:rPr lang="es-CO" sz="2000">
                          <a:solidFill>
                            <a:schemeClr val="bg1"/>
                          </a:solidFill>
                          <a:effectLst/>
                        </a:rPr>
                        <a:t>Deducciones de consecuencias particulares </a:t>
                      </a:r>
                      <a:endParaRPr lang="es-CO" sz="200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342900" lvl="0" indent="-342900">
                        <a:lnSpc>
                          <a:spcPct val="107000"/>
                        </a:lnSpc>
                        <a:spcAft>
                          <a:spcPts val="0"/>
                        </a:spcAft>
                        <a:buFont typeface="Symbol" panose="05050102010706020507" pitchFamily="18" charset="2"/>
                        <a:buChar char=""/>
                      </a:pPr>
                      <a:r>
                        <a:rPr lang="es-CO" sz="2000" b="0">
                          <a:effectLst/>
                        </a:rPr>
                        <a:t>Búsqueda de soportes racionales</a:t>
                      </a:r>
                    </a:p>
                    <a:p>
                      <a:pPr marL="342900" lvl="0" indent="-342900">
                        <a:lnSpc>
                          <a:spcPct val="107000"/>
                        </a:lnSpc>
                        <a:spcAft>
                          <a:spcPts val="0"/>
                        </a:spcAft>
                        <a:buFont typeface="Symbol" panose="05050102010706020507" pitchFamily="18" charset="2"/>
                        <a:buChar char=""/>
                      </a:pPr>
                      <a:r>
                        <a:rPr lang="es-CO" sz="2000" b="0">
                          <a:effectLst/>
                        </a:rPr>
                        <a:t>Búsqueda de soportes empíricos</a:t>
                      </a:r>
                      <a:endParaRPr lang="es-CO" sz="2000" b="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2"/>
                  </a:ext>
                </a:extLst>
              </a:tr>
              <a:tr h="0">
                <a:tc>
                  <a:txBody>
                    <a:bodyPr/>
                    <a:lstStyle/>
                    <a:p>
                      <a:pPr marL="342900" lvl="0" indent="-342900">
                        <a:lnSpc>
                          <a:spcPct val="107000"/>
                        </a:lnSpc>
                        <a:spcAft>
                          <a:spcPts val="0"/>
                        </a:spcAft>
                        <a:buFont typeface="Symbol" panose="05050102010706020507" pitchFamily="18" charset="2"/>
                        <a:buChar char=""/>
                      </a:pPr>
                      <a:r>
                        <a:rPr lang="es-CO" sz="2000" dirty="0">
                          <a:solidFill>
                            <a:schemeClr val="bg1"/>
                          </a:solidFill>
                          <a:effectLst/>
                        </a:rPr>
                        <a:t>Aplicación de las pruebas</a:t>
                      </a:r>
                      <a:endParaRPr lang="es-CO" sz="20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342900" lvl="0" indent="-342900">
                        <a:lnSpc>
                          <a:spcPct val="107000"/>
                        </a:lnSpc>
                        <a:spcAft>
                          <a:spcPts val="0"/>
                        </a:spcAft>
                        <a:buFont typeface="Symbol" panose="05050102010706020507" pitchFamily="18" charset="2"/>
                        <a:buChar char=""/>
                      </a:pPr>
                      <a:r>
                        <a:rPr lang="es-CO" sz="2000" b="0" dirty="0">
                          <a:effectLst/>
                        </a:rPr>
                        <a:t>Diseño de la prueba</a:t>
                      </a:r>
                    </a:p>
                    <a:p>
                      <a:pPr marL="342900" lvl="0" indent="-342900">
                        <a:lnSpc>
                          <a:spcPct val="107000"/>
                        </a:lnSpc>
                        <a:spcAft>
                          <a:spcPts val="0"/>
                        </a:spcAft>
                        <a:buFont typeface="Symbol" panose="05050102010706020507" pitchFamily="18" charset="2"/>
                        <a:buChar char=""/>
                      </a:pPr>
                      <a:r>
                        <a:rPr lang="es-CO" sz="2000" b="0" dirty="0">
                          <a:effectLst/>
                        </a:rPr>
                        <a:t>Aplicación de la prueba</a:t>
                      </a:r>
                    </a:p>
                    <a:p>
                      <a:pPr marL="342900" lvl="0" indent="-342900">
                        <a:lnSpc>
                          <a:spcPct val="107000"/>
                        </a:lnSpc>
                        <a:spcAft>
                          <a:spcPts val="0"/>
                        </a:spcAft>
                        <a:buFont typeface="Symbol" panose="05050102010706020507" pitchFamily="18" charset="2"/>
                        <a:buChar char=""/>
                      </a:pPr>
                      <a:r>
                        <a:rPr lang="es-CO" sz="2000" b="0" dirty="0">
                          <a:effectLst/>
                        </a:rPr>
                        <a:t>Recopilación de datos</a:t>
                      </a:r>
                    </a:p>
                    <a:p>
                      <a:pPr marL="342900" lvl="0" indent="-342900">
                        <a:lnSpc>
                          <a:spcPct val="107000"/>
                        </a:lnSpc>
                        <a:spcAft>
                          <a:spcPts val="0"/>
                        </a:spcAft>
                        <a:buFont typeface="Symbol" panose="05050102010706020507" pitchFamily="18" charset="2"/>
                        <a:buChar char=""/>
                      </a:pPr>
                      <a:r>
                        <a:rPr lang="es-CO" sz="2000" b="0" dirty="0">
                          <a:effectLst/>
                        </a:rPr>
                        <a:t>Inferencia de conclusiones</a:t>
                      </a:r>
                      <a:endParaRPr lang="es-CO" sz="2000" b="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3"/>
                  </a:ext>
                </a:extLst>
              </a:tr>
              <a:tr h="0">
                <a:tc>
                  <a:txBody>
                    <a:bodyPr/>
                    <a:lstStyle/>
                    <a:p>
                      <a:pPr marL="342900" lvl="0" indent="-342900">
                        <a:lnSpc>
                          <a:spcPct val="107000"/>
                        </a:lnSpc>
                        <a:spcAft>
                          <a:spcPts val="0"/>
                        </a:spcAft>
                        <a:buFont typeface="Symbol" panose="05050102010706020507" pitchFamily="18" charset="2"/>
                        <a:buChar char=""/>
                      </a:pPr>
                      <a:r>
                        <a:rPr lang="es-CO" sz="2000" dirty="0">
                          <a:solidFill>
                            <a:schemeClr val="bg1"/>
                          </a:solidFill>
                          <a:effectLst/>
                        </a:rPr>
                        <a:t>Introducción de las conclusiones a la teoría </a:t>
                      </a:r>
                      <a:endParaRPr lang="es-CO" sz="20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342900" lvl="0" indent="-342900">
                        <a:lnSpc>
                          <a:spcPct val="107000"/>
                        </a:lnSpc>
                        <a:spcAft>
                          <a:spcPts val="0"/>
                        </a:spcAft>
                        <a:buFont typeface="Symbol" panose="05050102010706020507" pitchFamily="18" charset="2"/>
                        <a:buChar char=""/>
                      </a:pPr>
                      <a:r>
                        <a:rPr lang="es-CO" sz="2000" b="0" dirty="0">
                          <a:effectLst/>
                        </a:rPr>
                        <a:t>Confrontación de las conclusiones con las predicciones </a:t>
                      </a:r>
                    </a:p>
                    <a:p>
                      <a:pPr marL="342900" lvl="0" indent="-342900">
                        <a:lnSpc>
                          <a:spcPct val="107000"/>
                        </a:lnSpc>
                        <a:spcAft>
                          <a:spcPts val="0"/>
                        </a:spcAft>
                        <a:buFont typeface="Symbol" panose="05050102010706020507" pitchFamily="18" charset="2"/>
                        <a:buChar char=""/>
                      </a:pPr>
                      <a:r>
                        <a:rPr lang="es-CO" sz="2000" b="0" dirty="0">
                          <a:effectLst/>
                        </a:rPr>
                        <a:t>Reajuste del modelo</a:t>
                      </a:r>
                    </a:p>
                    <a:p>
                      <a:pPr marL="342900" lvl="0" indent="-342900">
                        <a:lnSpc>
                          <a:spcPct val="107000"/>
                        </a:lnSpc>
                        <a:spcAft>
                          <a:spcPts val="0"/>
                        </a:spcAft>
                        <a:buFont typeface="Symbol" panose="05050102010706020507" pitchFamily="18" charset="2"/>
                        <a:buChar char=""/>
                      </a:pPr>
                      <a:r>
                        <a:rPr lang="es-CO" sz="2000" b="0" dirty="0">
                          <a:effectLst/>
                        </a:rPr>
                        <a:t>Sugerencias de trabajos posteriores.</a:t>
                      </a:r>
                      <a:endParaRPr lang="es-CO" sz="2000" b="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4"/>
                  </a:ext>
                </a:extLst>
              </a:tr>
            </a:tbl>
          </a:graphicData>
        </a:graphic>
      </p:graphicFrame>
      <p:sp>
        <p:nvSpPr>
          <p:cNvPr id="4" name="CuadroTexto 3"/>
          <p:cNvSpPr txBox="1"/>
          <p:nvPr/>
        </p:nvSpPr>
        <p:spPr>
          <a:xfrm>
            <a:off x="7002826" y="6413168"/>
            <a:ext cx="3149600" cy="369332"/>
          </a:xfrm>
          <a:prstGeom prst="rect">
            <a:avLst/>
          </a:prstGeom>
          <a:noFill/>
        </p:spPr>
        <p:txBody>
          <a:bodyPr wrap="square" rtlCol="0">
            <a:spAutoFit/>
          </a:bodyPr>
          <a:lstStyle/>
          <a:p>
            <a:r>
              <a:rPr lang="es-ES" dirty="0"/>
              <a:t>(Arenas, 2012)</a:t>
            </a:r>
          </a:p>
        </p:txBody>
      </p:sp>
    </p:spTree>
    <p:extLst>
      <p:ext uri="{BB962C8B-B14F-4D97-AF65-F5344CB8AC3E}">
        <p14:creationId xmlns:p14="http://schemas.microsoft.com/office/powerpoint/2010/main" val="35828628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CO" dirty="0"/>
              <a:t>Métodos científico Roberto Hernández y otros </a:t>
            </a:r>
          </a:p>
        </p:txBody>
      </p:sp>
      <p:sp>
        <p:nvSpPr>
          <p:cNvPr id="3" name="Marcador de contenido 2"/>
          <p:cNvSpPr>
            <a:spLocks noGrp="1"/>
          </p:cNvSpPr>
          <p:nvPr>
            <p:ph idx="1"/>
          </p:nvPr>
        </p:nvSpPr>
        <p:spPr>
          <a:xfrm>
            <a:off x="677334" y="2160589"/>
            <a:ext cx="9431400" cy="3880773"/>
          </a:xfrm>
        </p:spPr>
        <p:txBody>
          <a:bodyPr>
            <a:normAutofit fontScale="92500" lnSpcReduction="20000"/>
          </a:bodyPr>
          <a:lstStyle/>
          <a:p>
            <a:r>
              <a:rPr lang="es-ES" b="1" dirty="0"/>
              <a:t>Paso 1. Concebir la idea de investigación</a:t>
            </a:r>
          </a:p>
          <a:p>
            <a:r>
              <a:rPr lang="es-ES" b="1" dirty="0"/>
              <a:t>Paso 2. Plantear el problema de investigación(objetivos, pregunta)</a:t>
            </a:r>
          </a:p>
          <a:p>
            <a:r>
              <a:rPr lang="es-ES" b="1" dirty="0"/>
              <a:t>Paso 3. Elaborar el marco teórico</a:t>
            </a:r>
          </a:p>
          <a:p>
            <a:r>
              <a:rPr lang="es-ES" b="1" dirty="0"/>
              <a:t>Paso 4. Definir si la investigación es exploratoria, descriptiva, correlacional o explicativa y hasta qué nivel llegará</a:t>
            </a:r>
          </a:p>
          <a:p>
            <a:r>
              <a:rPr lang="es-ES" b="1" dirty="0"/>
              <a:t>Paso 5. Establecer la hipótesis</a:t>
            </a:r>
          </a:p>
          <a:p>
            <a:r>
              <a:rPr lang="es-ES" b="1" dirty="0"/>
              <a:t>Paso 6. Seleccionar el diseño apropiado de investigación (diseño experimental, pre experimental o cuasi experimental o no experimental)</a:t>
            </a:r>
          </a:p>
          <a:p>
            <a:r>
              <a:rPr lang="es-ES" b="1" dirty="0"/>
              <a:t>Paso 7. Determinar la población y la muestra</a:t>
            </a:r>
          </a:p>
          <a:p>
            <a:r>
              <a:rPr lang="es-ES" b="1" dirty="0"/>
              <a:t>Paso 8. Recolección de datos</a:t>
            </a:r>
          </a:p>
          <a:p>
            <a:r>
              <a:rPr lang="es-ES" b="1" dirty="0"/>
              <a:t>Paso 9. Analizar los datos</a:t>
            </a:r>
          </a:p>
          <a:p>
            <a:r>
              <a:rPr lang="es-ES" b="1" dirty="0"/>
              <a:t>Paso 10. Presentar los resultados</a:t>
            </a:r>
            <a:endParaRPr lang="es-CO" b="1" dirty="0"/>
          </a:p>
        </p:txBody>
      </p:sp>
      <p:sp>
        <p:nvSpPr>
          <p:cNvPr id="4" name="CuadroTexto 3"/>
          <p:cNvSpPr txBox="1"/>
          <p:nvPr/>
        </p:nvSpPr>
        <p:spPr>
          <a:xfrm>
            <a:off x="9385300" y="6488668"/>
            <a:ext cx="3149600" cy="369332"/>
          </a:xfrm>
          <a:prstGeom prst="rect">
            <a:avLst/>
          </a:prstGeom>
          <a:noFill/>
        </p:spPr>
        <p:txBody>
          <a:bodyPr wrap="square" rtlCol="0">
            <a:spAutoFit/>
          </a:bodyPr>
          <a:lstStyle/>
          <a:p>
            <a:r>
              <a:rPr lang="es-ES" dirty="0"/>
              <a:t>(</a:t>
            </a:r>
            <a:r>
              <a:rPr lang="es-ES" dirty="0" err="1"/>
              <a:t>Hernandez</a:t>
            </a:r>
            <a:r>
              <a:rPr lang="es-ES" dirty="0"/>
              <a:t>, 2006)</a:t>
            </a:r>
          </a:p>
        </p:txBody>
      </p:sp>
    </p:spTree>
    <p:extLst>
      <p:ext uri="{BB962C8B-B14F-4D97-AF65-F5344CB8AC3E}">
        <p14:creationId xmlns:p14="http://schemas.microsoft.com/office/powerpoint/2010/main" val="74570179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pPr algn="ctr"/>
            <a:r>
              <a:rPr lang="es-ES" dirty="0"/>
              <a:t>Tipos de métodos </a:t>
            </a:r>
          </a:p>
        </p:txBody>
      </p:sp>
      <p:sp>
        <p:nvSpPr>
          <p:cNvPr id="3" name="Marcador de contenido 2"/>
          <p:cNvSpPr>
            <a:spLocks noGrp="1"/>
          </p:cNvSpPr>
          <p:nvPr>
            <p:ph idx="1"/>
          </p:nvPr>
        </p:nvSpPr>
        <p:spPr>
          <a:xfrm>
            <a:off x="677334" y="1460500"/>
            <a:ext cx="8784166" cy="3880773"/>
          </a:xfrm>
        </p:spPr>
        <p:txBody>
          <a:bodyPr>
            <a:noAutofit/>
          </a:bodyPr>
          <a:lstStyle/>
          <a:p>
            <a:r>
              <a:rPr lang="es-ES" sz="2800" dirty="0"/>
              <a:t>Los métodos empíricos</a:t>
            </a:r>
          </a:p>
          <a:p>
            <a:r>
              <a:rPr lang="es-ES" sz="2800" dirty="0"/>
              <a:t>Los métodos estadísticos</a:t>
            </a:r>
          </a:p>
          <a:p>
            <a:r>
              <a:rPr lang="es-ES" sz="2800" dirty="0"/>
              <a:t>Métodos teóricos:</a:t>
            </a:r>
          </a:p>
          <a:p>
            <a:pPr lvl="1"/>
            <a:r>
              <a:rPr lang="es-ES" sz="2800" dirty="0"/>
              <a:t>Análisis y síntesis.</a:t>
            </a:r>
          </a:p>
          <a:p>
            <a:pPr lvl="1"/>
            <a:r>
              <a:rPr lang="es-ES" sz="2800" dirty="0"/>
              <a:t>Inducción y deducción.</a:t>
            </a:r>
          </a:p>
          <a:p>
            <a:pPr lvl="1"/>
            <a:r>
              <a:rPr lang="es-ES" sz="2800" dirty="0"/>
              <a:t>Hipotético-deductivo.</a:t>
            </a:r>
          </a:p>
          <a:p>
            <a:pPr lvl="1"/>
            <a:r>
              <a:rPr lang="es-ES" sz="2800" dirty="0"/>
              <a:t>Análisis histórico y el lógico.</a:t>
            </a:r>
          </a:p>
          <a:p>
            <a:pPr lvl="1"/>
            <a:r>
              <a:rPr lang="es-ES" sz="2800" dirty="0"/>
              <a:t>Modelación.</a:t>
            </a:r>
          </a:p>
        </p:txBody>
      </p:sp>
    </p:spTree>
    <p:extLst>
      <p:ext uri="{BB962C8B-B14F-4D97-AF65-F5344CB8AC3E}">
        <p14:creationId xmlns:p14="http://schemas.microsoft.com/office/powerpoint/2010/main" val="331215923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a:t>1-Los métodos empíricos</a:t>
            </a:r>
          </a:p>
        </p:txBody>
      </p:sp>
      <p:sp>
        <p:nvSpPr>
          <p:cNvPr id="3" name="Marcador de contenido 2"/>
          <p:cNvSpPr>
            <a:spLocks noGrp="1"/>
          </p:cNvSpPr>
          <p:nvPr>
            <p:ph idx="1"/>
          </p:nvPr>
        </p:nvSpPr>
        <p:spPr>
          <a:xfrm>
            <a:off x="677334" y="1270000"/>
            <a:ext cx="8596668" cy="3880773"/>
          </a:xfrm>
        </p:spPr>
        <p:txBody>
          <a:bodyPr>
            <a:noAutofit/>
          </a:bodyPr>
          <a:lstStyle/>
          <a:p>
            <a:pPr algn="just"/>
            <a:r>
              <a:rPr lang="es-ES" sz="2800" dirty="0"/>
              <a:t>Permiten la obtención y elaboración de los datos empíricos y el conocimiento de los hechos fundamentales que caracterizan a los fenómenos.</a:t>
            </a:r>
          </a:p>
          <a:p>
            <a:pPr algn="just"/>
            <a:r>
              <a:rPr lang="es-ES" sz="2800" dirty="0"/>
              <a:t>Los métodos empíricos principales son: La observación, el experimento y la medición, aunque hay autores que incluyen bajo éste término a métodos, procedimientos y técnicas de recolección de datos.</a:t>
            </a:r>
          </a:p>
          <a:p>
            <a:pPr lvl="5"/>
            <a:r>
              <a:rPr lang="es-ES" sz="2200" dirty="0"/>
              <a:t>observación.</a:t>
            </a:r>
          </a:p>
          <a:p>
            <a:pPr lvl="5"/>
            <a:r>
              <a:rPr lang="es-ES" sz="2200" dirty="0"/>
              <a:t>experimentación.</a:t>
            </a:r>
          </a:p>
          <a:p>
            <a:pPr lvl="5"/>
            <a:r>
              <a:rPr lang="es-ES" sz="2200" dirty="0"/>
              <a:t>medición.</a:t>
            </a:r>
          </a:p>
        </p:txBody>
      </p:sp>
    </p:spTree>
    <p:extLst>
      <p:ext uri="{BB962C8B-B14F-4D97-AF65-F5344CB8AC3E}">
        <p14:creationId xmlns:p14="http://schemas.microsoft.com/office/powerpoint/2010/main" val="132115029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a:t>1-Los métodos empíricos</a:t>
            </a:r>
            <a:endParaRPr lang="es-CO" dirty="0"/>
          </a:p>
        </p:txBody>
      </p:sp>
      <p:sp>
        <p:nvSpPr>
          <p:cNvPr id="3" name="Marcador de contenido 2"/>
          <p:cNvSpPr>
            <a:spLocks noGrp="1"/>
          </p:cNvSpPr>
          <p:nvPr>
            <p:ph idx="1"/>
          </p:nvPr>
        </p:nvSpPr>
        <p:spPr>
          <a:xfrm>
            <a:off x="806123" y="1671192"/>
            <a:ext cx="8596668" cy="3880773"/>
          </a:xfrm>
        </p:spPr>
        <p:txBody>
          <a:bodyPr>
            <a:noAutofit/>
          </a:bodyPr>
          <a:lstStyle/>
          <a:p>
            <a:pPr marL="342900" lvl="5" indent="-342900" algn="just"/>
            <a:r>
              <a:rPr lang="es-ES" sz="2400" dirty="0">
                <a:solidFill>
                  <a:srgbClr val="FF0000"/>
                </a:solidFill>
                <a:latin typeface="Calibri" panose="020F0502020204030204" pitchFamily="34" charset="0"/>
              </a:rPr>
              <a:t>Observación: </a:t>
            </a:r>
            <a:r>
              <a:rPr lang="es-ES" sz="2400" dirty="0">
                <a:latin typeface="Calibri" panose="020F0502020204030204" pitchFamily="34" charset="0"/>
              </a:rPr>
              <a:t>El primer paso de cualquier método científico será siempre la observación. Esta se podrá llevar a cabo </a:t>
            </a:r>
            <a:r>
              <a:rPr lang="es-ES" sz="2400" b="1" dirty="0">
                <a:latin typeface="Calibri" panose="020F0502020204030204" pitchFamily="34" charset="0"/>
              </a:rPr>
              <a:t>directamente con los sentidos o mediante herramientas</a:t>
            </a:r>
            <a:r>
              <a:rPr lang="es-ES" sz="2400" dirty="0">
                <a:latin typeface="Calibri" panose="020F0502020204030204" pitchFamily="34" charset="0"/>
              </a:rPr>
              <a:t> que nos ayuden a mejorar la percepción de la realidad observada</a:t>
            </a:r>
          </a:p>
          <a:p>
            <a:pPr marL="342900" lvl="5" indent="-342900" algn="just"/>
            <a:r>
              <a:rPr lang="es-ES" sz="2400" b="1" dirty="0">
                <a:solidFill>
                  <a:srgbClr val="FF0000"/>
                </a:solidFill>
                <a:latin typeface="Calibri" panose="020F0502020204030204" pitchFamily="34" charset="0"/>
              </a:rPr>
              <a:t>Experimentación:</a:t>
            </a:r>
            <a:r>
              <a:rPr lang="es-ES" sz="2400" b="1" dirty="0">
                <a:latin typeface="Calibri" panose="020F0502020204030204" pitchFamily="34" charset="0"/>
              </a:rPr>
              <a:t> </a:t>
            </a:r>
            <a:r>
              <a:rPr lang="es-ES" sz="2400" dirty="0">
                <a:latin typeface="Calibri" panose="020F0502020204030204" pitchFamily="34" charset="0"/>
              </a:rPr>
              <a:t>Este paso es posterior a la hipótesis y su función principal será darle validez mediante experimentos que sirvan para </a:t>
            </a:r>
            <a:r>
              <a:rPr lang="es-ES" sz="2400" b="1" dirty="0">
                <a:latin typeface="Calibri" panose="020F0502020204030204" pitchFamily="34" charset="0"/>
              </a:rPr>
              <a:t>demostrar la veracidad de la hipótesis planteada</a:t>
            </a:r>
            <a:r>
              <a:rPr lang="es-ES" sz="2400" dirty="0">
                <a:latin typeface="Calibri" panose="020F0502020204030204" pitchFamily="34" charset="0"/>
              </a:rPr>
              <a:t>.</a:t>
            </a:r>
          </a:p>
          <a:p>
            <a:pPr marL="342900" lvl="5" indent="-342900" algn="just"/>
            <a:r>
              <a:rPr lang="es-ES" sz="2400" dirty="0">
                <a:solidFill>
                  <a:srgbClr val="FF0000"/>
                </a:solidFill>
                <a:latin typeface="Calibri" panose="020F0502020204030204" pitchFamily="34" charset="0"/>
              </a:rPr>
              <a:t>Medición: </a:t>
            </a:r>
            <a:r>
              <a:rPr lang="es-ES" sz="2400" dirty="0">
                <a:latin typeface="Calibri" panose="020F0502020204030204" pitchFamily="34" charset="0"/>
              </a:rPr>
              <a:t>Valores cuantitativos o cualitativos de las variables de investigación</a:t>
            </a:r>
            <a:endParaRPr lang="es-CO" sz="2400" dirty="0">
              <a:latin typeface="Calibri" panose="020F0502020204030204" pitchFamily="34" charset="0"/>
            </a:endParaRPr>
          </a:p>
        </p:txBody>
      </p:sp>
    </p:spTree>
    <p:extLst>
      <p:ext uri="{BB962C8B-B14F-4D97-AF65-F5344CB8AC3E}">
        <p14:creationId xmlns:p14="http://schemas.microsoft.com/office/powerpoint/2010/main" val="353119554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a:t>2-Los métodos estadísticos</a:t>
            </a:r>
          </a:p>
        </p:txBody>
      </p:sp>
      <p:sp>
        <p:nvSpPr>
          <p:cNvPr id="3" name="Marcador de contenido 2"/>
          <p:cNvSpPr>
            <a:spLocks noGrp="1"/>
          </p:cNvSpPr>
          <p:nvPr>
            <p:ph idx="1"/>
          </p:nvPr>
        </p:nvSpPr>
        <p:spPr/>
        <p:txBody>
          <a:bodyPr>
            <a:normAutofit/>
          </a:bodyPr>
          <a:lstStyle/>
          <a:p>
            <a:pPr algn="just"/>
            <a:r>
              <a:rPr lang="es-ES" sz="2800" dirty="0"/>
              <a:t>Cumplen una función relevante, ya que contribuyen a determinar la muestra de sujetos a estudiar, tabular los datos empíricos obtenidos y establecer las generalizaciones apropiadas a partir de ellos.</a:t>
            </a:r>
          </a:p>
        </p:txBody>
      </p:sp>
    </p:spTree>
    <p:extLst>
      <p:ext uri="{BB962C8B-B14F-4D97-AF65-F5344CB8AC3E}">
        <p14:creationId xmlns:p14="http://schemas.microsoft.com/office/powerpoint/2010/main" val="62002271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a:t>2-Los métodos estadísticos</a:t>
            </a:r>
          </a:p>
        </p:txBody>
      </p:sp>
      <p:sp>
        <p:nvSpPr>
          <p:cNvPr id="3" name="Marcador de contenido 2"/>
          <p:cNvSpPr>
            <a:spLocks noGrp="1"/>
          </p:cNvSpPr>
          <p:nvPr>
            <p:ph idx="1"/>
          </p:nvPr>
        </p:nvSpPr>
        <p:spPr>
          <a:xfrm>
            <a:off x="677334" y="1754189"/>
            <a:ext cx="9127066" cy="3880773"/>
          </a:xfrm>
        </p:spPr>
        <p:txBody>
          <a:bodyPr>
            <a:noAutofit/>
          </a:bodyPr>
          <a:lstStyle/>
          <a:p>
            <a:pPr algn="just"/>
            <a:r>
              <a:rPr lang="es-ES" sz="2800" dirty="0">
                <a:solidFill>
                  <a:srgbClr val="FF0000"/>
                </a:solidFill>
              </a:rPr>
              <a:t>La estadística descriptiva </a:t>
            </a:r>
            <a:r>
              <a:rPr lang="es-ES" sz="2800" dirty="0"/>
              <a:t>permite organizar y clasificar los indicadores cuantitativos obtenidos en la medición, revelándose a través de ellos las propiedades, relaciones y tendencias del fenómeno, que en muchas ocasiones no se perciben de manera inmediata. Las formas más frecuentes de organizar la información es, mediante tablas de distribución de frecuencias, gráficos, y las medidas de tendencia central como: la mediana, la media, la moda y otros.</a:t>
            </a:r>
          </a:p>
        </p:txBody>
      </p:sp>
      <p:sp>
        <p:nvSpPr>
          <p:cNvPr id="4" name="CuadroTexto 3"/>
          <p:cNvSpPr txBox="1"/>
          <p:nvPr/>
        </p:nvSpPr>
        <p:spPr>
          <a:xfrm>
            <a:off x="9372600" y="6488668"/>
            <a:ext cx="3149600" cy="369332"/>
          </a:xfrm>
          <a:prstGeom prst="rect">
            <a:avLst/>
          </a:prstGeom>
          <a:noFill/>
        </p:spPr>
        <p:txBody>
          <a:bodyPr wrap="square" rtlCol="0">
            <a:spAutoFit/>
          </a:bodyPr>
          <a:lstStyle/>
          <a:p>
            <a:r>
              <a:rPr lang="es-ES" dirty="0"/>
              <a:t>(Hernández, 2006)</a:t>
            </a:r>
          </a:p>
        </p:txBody>
      </p:sp>
    </p:spTree>
    <p:extLst>
      <p:ext uri="{BB962C8B-B14F-4D97-AF65-F5344CB8AC3E}">
        <p14:creationId xmlns:p14="http://schemas.microsoft.com/office/powerpoint/2010/main" val="358277342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a:t>2-Los métodos estadísticos</a:t>
            </a:r>
          </a:p>
        </p:txBody>
      </p:sp>
      <p:sp>
        <p:nvSpPr>
          <p:cNvPr id="3" name="Marcador de contenido 2"/>
          <p:cNvSpPr>
            <a:spLocks noGrp="1"/>
          </p:cNvSpPr>
          <p:nvPr>
            <p:ph idx="1"/>
          </p:nvPr>
        </p:nvSpPr>
        <p:spPr>
          <a:xfrm>
            <a:off x="677334" y="1436689"/>
            <a:ext cx="10282766" cy="3880773"/>
          </a:xfrm>
        </p:spPr>
        <p:txBody>
          <a:bodyPr>
            <a:noAutofit/>
          </a:bodyPr>
          <a:lstStyle/>
          <a:p>
            <a:pPr algn="just"/>
            <a:r>
              <a:rPr lang="es-ES" sz="3200" dirty="0">
                <a:solidFill>
                  <a:srgbClr val="FF0000"/>
                </a:solidFill>
              </a:rPr>
              <a:t>La estadística inferencial </a:t>
            </a:r>
            <a:r>
              <a:rPr lang="es-ES" sz="3200" dirty="0"/>
              <a:t>se emplea en la interpretación y valoración cuantitativa de las magnitudes del fenómeno que se estudia, en este caso se determinan las regularidades y las relaciones cuantitativas entre propiedades sobre la base del cálculo de la probabilidad de ocurrencia. Las técnicas más aplicadas son: prueba de Chi cuadrado, pruebas de independencia, pruebas de homogeneidad, pruebas de aleatoriedad, la correlación, regresión lineal y otros.</a:t>
            </a:r>
          </a:p>
        </p:txBody>
      </p:sp>
      <p:sp>
        <p:nvSpPr>
          <p:cNvPr id="4" name="CuadroTexto 3"/>
          <p:cNvSpPr txBox="1"/>
          <p:nvPr/>
        </p:nvSpPr>
        <p:spPr>
          <a:xfrm>
            <a:off x="9372600" y="6488668"/>
            <a:ext cx="3149600" cy="369332"/>
          </a:xfrm>
          <a:prstGeom prst="rect">
            <a:avLst/>
          </a:prstGeom>
          <a:noFill/>
        </p:spPr>
        <p:txBody>
          <a:bodyPr wrap="square" rtlCol="0">
            <a:spAutoFit/>
          </a:bodyPr>
          <a:lstStyle/>
          <a:p>
            <a:r>
              <a:rPr lang="es-ES" dirty="0"/>
              <a:t>(Hernández, 2006)</a:t>
            </a:r>
          </a:p>
        </p:txBody>
      </p:sp>
    </p:spTree>
    <p:extLst>
      <p:ext uri="{BB962C8B-B14F-4D97-AF65-F5344CB8AC3E}">
        <p14:creationId xmlns:p14="http://schemas.microsoft.com/office/powerpoint/2010/main" val="9148648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b="1" dirty="0"/>
              <a:t>3-Método de inducción-deducción</a:t>
            </a:r>
            <a:endParaRPr lang="es-ES" dirty="0"/>
          </a:p>
        </p:txBody>
      </p:sp>
      <p:sp>
        <p:nvSpPr>
          <p:cNvPr id="3" name="Marcador de contenido 2"/>
          <p:cNvSpPr>
            <a:spLocks noGrp="1"/>
          </p:cNvSpPr>
          <p:nvPr>
            <p:ph idx="1"/>
          </p:nvPr>
        </p:nvSpPr>
        <p:spPr>
          <a:xfrm>
            <a:off x="677334" y="1498600"/>
            <a:ext cx="9419166" cy="3880773"/>
          </a:xfrm>
        </p:spPr>
        <p:txBody>
          <a:bodyPr>
            <a:noAutofit/>
          </a:bodyPr>
          <a:lstStyle/>
          <a:p>
            <a:pPr algn="just"/>
            <a:r>
              <a:rPr lang="es-ES" sz="2800" dirty="0"/>
              <a:t>Es un procedimiento de inferencia que </a:t>
            </a:r>
            <a:r>
              <a:rPr lang="es-ES" sz="2800" b="1" dirty="0"/>
              <a:t>se basa en la lógica </a:t>
            </a:r>
            <a:r>
              <a:rPr lang="es-ES" sz="2800" dirty="0"/>
              <a:t>para emitir su razonamiento; su principal aplicación se relaciona de un modo especial con las </a:t>
            </a:r>
            <a:r>
              <a:rPr lang="es-ES" sz="2800" b="1" dirty="0"/>
              <a:t>matemáticas puras</a:t>
            </a:r>
            <a:r>
              <a:rPr lang="es-ES" sz="2800" dirty="0"/>
              <a:t>.</a:t>
            </a:r>
          </a:p>
          <a:p>
            <a:pPr algn="just"/>
            <a:r>
              <a:rPr lang="es-ES" sz="2800" dirty="0"/>
              <a:t>El método de inducción-deducción se utiliza con los hechos particulares, siendo deductivo en un sentido, de lo general a lo particular, e inductivo en sentido contrario, de lo particular a lo general.</a:t>
            </a:r>
          </a:p>
          <a:p>
            <a:pPr algn="just"/>
            <a:r>
              <a:rPr lang="es-ES_tradnl" altLang="es-ES" sz="2800" dirty="0"/>
              <a:t>La inducción y deducción son dos métodos  de conocimiento que no son incompatibles sino complementarios.</a:t>
            </a:r>
          </a:p>
          <a:p>
            <a:pPr marL="0" indent="0" algn="just">
              <a:buNone/>
            </a:pPr>
            <a:endParaRPr lang="es-ES" sz="2800" dirty="0"/>
          </a:p>
        </p:txBody>
      </p:sp>
      <p:sp>
        <p:nvSpPr>
          <p:cNvPr id="4" name="CuadroTexto 3"/>
          <p:cNvSpPr txBox="1"/>
          <p:nvPr/>
        </p:nvSpPr>
        <p:spPr>
          <a:xfrm>
            <a:off x="9385300" y="6488668"/>
            <a:ext cx="3149600" cy="369332"/>
          </a:xfrm>
          <a:prstGeom prst="rect">
            <a:avLst/>
          </a:prstGeom>
          <a:noFill/>
        </p:spPr>
        <p:txBody>
          <a:bodyPr wrap="square" rtlCol="0">
            <a:spAutoFit/>
          </a:bodyPr>
          <a:lstStyle/>
          <a:p>
            <a:r>
              <a:rPr lang="es-ES" dirty="0"/>
              <a:t>(Méndez &amp; Vélez, 2001)</a:t>
            </a:r>
          </a:p>
        </p:txBody>
      </p:sp>
    </p:spTree>
    <p:extLst>
      <p:ext uri="{BB962C8B-B14F-4D97-AF65-F5344CB8AC3E}">
        <p14:creationId xmlns:p14="http://schemas.microsoft.com/office/powerpoint/2010/main" val="174934042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b="1" dirty="0"/>
              <a:t>3-Método de inducción-deducción</a:t>
            </a:r>
            <a:endParaRPr lang="es-ES" dirty="0"/>
          </a:p>
        </p:txBody>
      </p:sp>
      <p:sp>
        <p:nvSpPr>
          <p:cNvPr id="3" name="Marcador de contenido 2"/>
          <p:cNvSpPr>
            <a:spLocks noGrp="1"/>
          </p:cNvSpPr>
          <p:nvPr>
            <p:ph idx="1"/>
          </p:nvPr>
        </p:nvSpPr>
        <p:spPr>
          <a:xfrm>
            <a:off x="677334" y="1830389"/>
            <a:ext cx="9348409" cy="3880773"/>
          </a:xfrm>
        </p:spPr>
        <p:txBody>
          <a:bodyPr>
            <a:normAutofit fontScale="92500" lnSpcReduction="10000"/>
          </a:bodyPr>
          <a:lstStyle/>
          <a:p>
            <a:pPr algn="just"/>
            <a:r>
              <a:rPr lang="es-ES" sz="3200" b="1" dirty="0">
                <a:solidFill>
                  <a:srgbClr val="FF0000"/>
                </a:solidFill>
              </a:rPr>
              <a:t>Método inductivo</a:t>
            </a:r>
          </a:p>
          <a:p>
            <a:pPr algn="just"/>
            <a:r>
              <a:rPr lang="es-ES" sz="3200" dirty="0"/>
              <a:t>Del latín </a:t>
            </a:r>
            <a:r>
              <a:rPr lang="es-ES" sz="3200" i="1" dirty="0" err="1"/>
              <a:t>inductio</a:t>
            </a:r>
            <a:r>
              <a:rPr lang="es-ES" sz="3200" i="1" dirty="0"/>
              <a:t>, </a:t>
            </a:r>
            <a:r>
              <a:rPr lang="es-ES" sz="3200" dirty="0"/>
              <a:t>de </a:t>
            </a:r>
            <a:r>
              <a:rPr lang="es-ES" sz="3200" i="1" dirty="0"/>
              <a:t>in: </a:t>
            </a:r>
            <a:r>
              <a:rPr lang="es-ES" sz="3200" dirty="0"/>
              <a:t>en, y de </a:t>
            </a:r>
            <a:r>
              <a:rPr lang="es-ES" sz="3200" i="1" dirty="0" err="1"/>
              <a:t>ducere</a:t>
            </a:r>
            <a:r>
              <a:rPr lang="es-ES" sz="3200" i="1" dirty="0"/>
              <a:t>: </a:t>
            </a:r>
            <a:r>
              <a:rPr lang="es-ES" sz="3200" dirty="0"/>
              <a:t>conducir. Acción de inducir. Modo de razonar que consiste en sacar de los hechos particulares una conclusión general</a:t>
            </a:r>
          </a:p>
          <a:p>
            <a:pPr algn="just"/>
            <a:r>
              <a:rPr lang="es-ES" sz="3200" dirty="0"/>
              <a:t>Inducción: es un razonamiento que analiza una porción de un todo; parte de lo particular a lo general. Va de lo individual a lo universal.</a:t>
            </a:r>
          </a:p>
        </p:txBody>
      </p:sp>
      <p:sp>
        <p:nvSpPr>
          <p:cNvPr id="4" name="CuadroTexto 3"/>
          <p:cNvSpPr txBox="1"/>
          <p:nvPr/>
        </p:nvSpPr>
        <p:spPr>
          <a:xfrm>
            <a:off x="9372600" y="6488668"/>
            <a:ext cx="3149600" cy="369332"/>
          </a:xfrm>
          <a:prstGeom prst="rect">
            <a:avLst/>
          </a:prstGeom>
          <a:noFill/>
        </p:spPr>
        <p:txBody>
          <a:bodyPr wrap="square" rtlCol="0">
            <a:spAutoFit/>
          </a:bodyPr>
          <a:lstStyle/>
          <a:p>
            <a:r>
              <a:rPr lang="es-ES" dirty="0"/>
              <a:t>(Méndez &amp; Vélez, 2001)</a:t>
            </a:r>
          </a:p>
        </p:txBody>
      </p:sp>
    </p:spTree>
    <p:extLst>
      <p:ext uri="{BB962C8B-B14F-4D97-AF65-F5344CB8AC3E}">
        <p14:creationId xmlns:p14="http://schemas.microsoft.com/office/powerpoint/2010/main" val="265546624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b="1" dirty="0"/>
              <a:t>3-Método de inducción-deducción</a:t>
            </a:r>
            <a:endParaRPr lang="es-CO" dirty="0"/>
          </a:p>
        </p:txBody>
      </p:sp>
      <p:sp>
        <p:nvSpPr>
          <p:cNvPr id="3" name="Marcador de contenido 2"/>
          <p:cNvSpPr>
            <a:spLocks noGrp="1"/>
          </p:cNvSpPr>
          <p:nvPr>
            <p:ph idx="1"/>
          </p:nvPr>
        </p:nvSpPr>
        <p:spPr>
          <a:xfrm>
            <a:off x="677334" y="1930400"/>
            <a:ext cx="8596668" cy="3880773"/>
          </a:xfrm>
        </p:spPr>
        <p:txBody>
          <a:bodyPr/>
          <a:lstStyle/>
          <a:p>
            <a:pPr algn="just"/>
            <a:r>
              <a:rPr lang="es-ES" b="1" dirty="0">
                <a:solidFill>
                  <a:srgbClr val="FF0000"/>
                </a:solidFill>
              </a:rPr>
              <a:t>Método inductivo</a:t>
            </a:r>
          </a:p>
        </p:txBody>
      </p:sp>
      <p:pic>
        <p:nvPicPr>
          <p:cNvPr id="2050" name="Picture 2" descr="https://www.lifeder.com/wp-content/uploads/2019/10/inducir-lifeder.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68933" y="2556655"/>
            <a:ext cx="5800608" cy="3259027"/>
          </a:xfrm>
          <a:prstGeom prst="rect">
            <a:avLst/>
          </a:prstGeom>
          <a:noFill/>
          <a:extLst>
            <a:ext uri="{909E8E84-426E-40DD-AFC4-6F175D3DCCD1}">
              <a14:hiddenFill xmlns:a14="http://schemas.microsoft.com/office/drawing/2010/main">
                <a:solidFill>
                  <a:srgbClr val="FFFFFF"/>
                </a:solidFill>
              </a14:hiddenFill>
            </a:ext>
          </a:extLst>
        </p:spPr>
      </p:pic>
      <p:sp>
        <p:nvSpPr>
          <p:cNvPr id="4" name="Rectángulo 3"/>
          <p:cNvSpPr/>
          <p:nvPr/>
        </p:nvSpPr>
        <p:spPr>
          <a:xfrm>
            <a:off x="10332174" y="6377189"/>
            <a:ext cx="1671420" cy="369332"/>
          </a:xfrm>
          <a:prstGeom prst="rect">
            <a:avLst/>
          </a:prstGeom>
        </p:spPr>
        <p:txBody>
          <a:bodyPr wrap="none">
            <a:spAutoFit/>
          </a:bodyPr>
          <a:lstStyle/>
          <a:p>
            <a:r>
              <a:rPr lang="es-CO" dirty="0"/>
              <a:t>(Kothari,2004)</a:t>
            </a:r>
          </a:p>
        </p:txBody>
      </p:sp>
    </p:spTree>
    <p:extLst>
      <p:ext uri="{BB962C8B-B14F-4D97-AF65-F5344CB8AC3E}">
        <p14:creationId xmlns:p14="http://schemas.microsoft.com/office/powerpoint/2010/main" val="132310732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Rectangle 3"/>
          <p:cNvSpPr>
            <a:spLocks noGrp="1" noChangeArrowheads="1"/>
          </p:cNvSpPr>
          <p:nvPr>
            <p:ph type="body" idx="1"/>
          </p:nvPr>
        </p:nvSpPr>
        <p:spPr>
          <a:xfrm>
            <a:off x="827088" y="1625600"/>
            <a:ext cx="8875712" cy="4575175"/>
          </a:xfrm>
        </p:spPr>
        <p:txBody>
          <a:bodyPr>
            <a:noAutofit/>
          </a:bodyPr>
          <a:lstStyle/>
          <a:p>
            <a:pPr>
              <a:lnSpc>
                <a:spcPct val="90000"/>
              </a:lnSpc>
            </a:pPr>
            <a:r>
              <a:rPr lang="es-ES" sz="3200" b="1" dirty="0">
                <a:solidFill>
                  <a:srgbClr val="FF0000"/>
                </a:solidFill>
              </a:rPr>
              <a:t>Método deductivo</a:t>
            </a:r>
            <a:endParaRPr lang="es-ES_tradnl" altLang="es-ES" sz="3200" dirty="0">
              <a:solidFill>
                <a:srgbClr val="FF0000"/>
              </a:solidFill>
            </a:endParaRPr>
          </a:p>
          <a:p>
            <a:pPr algn="just">
              <a:lnSpc>
                <a:spcPct val="90000"/>
              </a:lnSpc>
            </a:pPr>
            <a:r>
              <a:rPr lang="es-ES" sz="3200" dirty="0"/>
              <a:t>Del latín </a:t>
            </a:r>
            <a:r>
              <a:rPr lang="es-ES" sz="3200" i="1" dirty="0" err="1"/>
              <a:t>deducere</a:t>
            </a:r>
            <a:r>
              <a:rPr lang="es-ES" sz="3200" dirty="0"/>
              <a:t>. Sacar consecuencias (Concluir)</a:t>
            </a:r>
            <a:endParaRPr lang="es-ES_tradnl" altLang="es-ES" sz="3200" dirty="0"/>
          </a:p>
          <a:p>
            <a:pPr algn="just">
              <a:lnSpc>
                <a:spcPct val="90000"/>
              </a:lnSpc>
            </a:pPr>
            <a:r>
              <a:rPr lang="es-ES_tradnl" altLang="es-ES" sz="3200" dirty="0"/>
              <a:t>El conocimiento  deductivo permite que las verdades particulares contenidas en las verdades universales se vuelvan explicitas, esto es que a partir de situaciones generales  se llegue a identificar explicaciones  particulares contenidas explícitamente en la situación general.</a:t>
            </a:r>
          </a:p>
          <a:p>
            <a:pPr eaLnBrk="1" hangingPunct="1">
              <a:lnSpc>
                <a:spcPct val="90000"/>
              </a:lnSpc>
            </a:pPr>
            <a:endParaRPr lang="es-CL" altLang="es-ES" sz="3200" dirty="0">
              <a:latin typeface="Times New Roman" panose="02020603050405020304" pitchFamily="18" charset="0"/>
            </a:endParaRPr>
          </a:p>
        </p:txBody>
      </p:sp>
      <p:sp>
        <p:nvSpPr>
          <p:cNvPr id="6" name="Título 1"/>
          <p:cNvSpPr>
            <a:spLocks noGrp="1"/>
          </p:cNvSpPr>
          <p:nvPr>
            <p:ph type="title"/>
          </p:nvPr>
        </p:nvSpPr>
        <p:spPr>
          <a:xfrm>
            <a:off x="677334" y="609600"/>
            <a:ext cx="8596668" cy="1320800"/>
          </a:xfrm>
        </p:spPr>
        <p:txBody>
          <a:bodyPr/>
          <a:lstStyle/>
          <a:p>
            <a:r>
              <a:rPr lang="es-ES" b="1" dirty="0"/>
              <a:t>3-Método de inducción-deducción</a:t>
            </a:r>
            <a:endParaRPr lang="es-ES" dirty="0"/>
          </a:p>
        </p:txBody>
      </p:sp>
      <p:sp>
        <p:nvSpPr>
          <p:cNvPr id="5" name="CuadroTexto 4"/>
          <p:cNvSpPr txBox="1"/>
          <p:nvPr/>
        </p:nvSpPr>
        <p:spPr>
          <a:xfrm>
            <a:off x="9372600" y="6488668"/>
            <a:ext cx="3149600" cy="369332"/>
          </a:xfrm>
          <a:prstGeom prst="rect">
            <a:avLst/>
          </a:prstGeom>
          <a:noFill/>
        </p:spPr>
        <p:txBody>
          <a:bodyPr wrap="square" rtlCol="0">
            <a:spAutoFit/>
          </a:bodyPr>
          <a:lstStyle/>
          <a:p>
            <a:r>
              <a:rPr lang="es-ES" dirty="0"/>
              <a:t>(Méndez &amp; Vélez, 2001)</a:t>
            </a:r>
          </a:p>
        </p:txBody>
      </p:sp>
    </p:spTree>
    <p:extLst>
      <p:ext uri="{BB962C8B-B14F-4D97-AF65-F5344CB8AC3E}">
        <p14:creationId xmlns:p14="http://schemas.microsoft.com/office/powerpoint/2010/main" val="274642911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https://www.lifeder.com/wp-content/uploads/2017/05/ejemplos-de-m%C3%A9todo-deductivo-lifeder-1.jp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376131" y="2643064"/>
            <a:ext cx="5334000" cy="3000375"/>
          </a:xfrm>
          <a:prstGeom prst="rect">
            <a:avLst/>
          </a:prstGeom>
          <a:noFill/>
          <a:extLst>
            <a:ext uri="{909E8E84-426E-40DD-AFC4-6F175D3DCCD1}">
              <a14:hiddenFill xmlns:a14="http://schemas.microsoft.com/office/drawing/2010/main">
                <a:solidFill>
                  <a:srgbClr val="FFFFFF"/>
                </a:solidFill>
              </a14:hiddenFill>
            </a:ext>
          </a:extLst>
        </p:spPr>
      </p:pic>
      <p:sp>
        <p:nvSpPr>
          <p:cNvPr id="4" name="Rectángulo 3"/>
          <p:cNvSpPr/>
          <p:nvPr/>
        </p:nvSpPr>
        <p:spPr>
          <a:xfrm>
            <a:off x="1021134" y="2301432"/>
            <a:ext cx="2113079" cy="341632"/>
          </a:xfrm>
          <a:prstGeom prst="rect">
            <a:avLst/>
          </a:prstGeom>
        </p:spPr>
        <p:txBody>
          <a:bodyPr wrap="none">
            <a:spAutoFit/>
          </a:bodyPr>
          <a:lstStyle/>
          <a:p>
            <a:pPr>
              <a:lnSpc>
                <a:spcPct val="90000"/>
              </a:lnSpc>
            </a:pPr>
            <a:r>
              <a:rPr lang="es-ES" b="1" dirty="0">
                <a:solidFill>
                  <a:srgbClr val="FF0000"/>
                </a:solidFill>
              </a:rPr>
              <a:t>Método deductivo</a:t>
            </a:r>
            <a:endParaRPr lang="es-ES_tradnl" altLang="es-ES" dirty="0">
              <a:solidFill>
                <a:srgbClr val="FF0000"/>
              </a:solidFill>
            </a:endParaRPr>
          </a:p>
        </p:txBody>
      </p:sp>
      <p:sp>
        <p:nvSpPr>
          <p:cNvPr id="6" name="Título 1"/>
          <p:cNvSpPr txBox="1">
            <a:spLocks/>
          </p:cNvSpPr>
          <p:nvPr/>
        </p:nvSpPr>
        <p:spPr>
          <a:xfrm>
            <a:off x="829734" y="762000"/>
            <a:ext cx="8596668" cy="1320800"/>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s-ES" b="1"/>
              <a:t>3-Método de inducción-deducción</a:t>
            </a:r>
            <a:endParaRPr lang="es-ES" dirty="0"/>
          </a:p>
        </p:txBody>
      </p:sp>
      <p:sp>
        <p:nvSpPr>
          <p:cNvPr id="5" name="Rectángulo 4"/>
          <p:cNvSpPr/>
          <p:nvPr/>
        </p:nvSpPr>
        <p:spPr>
          <a:xfrm>
            <a:off x="10357932" y="6488668"/>
            <a:ext cx="1671420" cy="369332"/>
          </a:xfrm>
          <a:prstGeom prst="rect">
            <a:avLst/>
          </a:prstGeom>
        </p:spPr>
        <p:txBody>
          <a:bodyPr wrap="none">
            <a:spAutoFit/>
          </a:bodyPr>
          <a:lstStyle/>
          <a:p>
            <a:r>
              <a:rPr lang="es-CO" dirty="0"/>
              <a:t>(Kothari,2004)</a:t>
            </a:r>
          </a:p>
        </p:txBody>
      </p:sp>
    </p:spTree>
    <p:extLst>
      <p:ext uri="{BB962C8B-B14F-4D97-AF65-F5344CB8AC3E}">
        <p14:creationId xmlns:p14="http://schemas.microsoft.com/office/powerpoint/2010/main" val="406834127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436034" y="306271"/>
            <a:ext cx="8596668" cy="1320800"/>
          </a:xfrm>
        </p:spPr>
        <p:txBody>
          <a:bodyPr/>
          <a:lstStyle/>
          <a:p>
            <a:r>
              <a:rPr lang="es-ES" b="1" dirty="0"/>
              <a:t>3-Método de inducción-deducción</a:t>
            </a:r>
            <a:endParaRPr lang="es-ES" dirty="0"/>
          </a:p>
        </p:txBody>
      </p:sp>
      <p:sp>
        <p:nvSpPr>
          <p:cNvPr id="3" name="Marcador de contenido 2"/>
          <p:cNvSpPr>
            <a:spLocks noGrp="1"/>
          </p:cNvSpPr>
          <p:nvPr>
            <p:ph idx="1"/>
          </p:nvPr>
        </p:nvSpPr>
        <p:spPr>
          <a:xfrm>
            <a:off x="740834" y="1182689"/>
            <a:ext cx="9596966" cy="3880773"/>
          </a:xfrm>
        </p:spPr>
        <p:txBody>
          <a:bodyPr>
            <a:noAutofit/>
          </a:bodyPr>
          <a:lstStyle/>
          <a:p>
            <a:pPr algn="just"/>
            <a:r>
              <a:rPr lang="es-ES" sz="2200" dirty="0">
                <a:solidFill>
                  <a:srgbClr val="FF0000"/>
                </a:solidFill>
              </a:rPr>
              <a:t>REGLAS</a:t>
            </a:r>
          </a:p>
          <a:p>
            <a:pPr algn="just"/>
            <a:r>
              <a:rPr lang="es-ES" sz="2200" dirty="0"/>
              <a:t>Observar cómo ciertos fenómenos están asociados y por inducción intentar descubrir la ley o los principios que permiten dicha asociación.</a:t>
            </a:r>
          </a:p>
          <a:p>
            <a:pPr algn="just"/>
            <a:r>
              <a:rPr lang="es-ES" sz="2200" dirty="0"/>
              <a:t>A partir de la ley anterior, inducir una teoría más abstracta que sea aplicable a fenómenos distintos de los que se partió.</a:t>
            </a:r>
          </a:p>
          <a:p>
            <a:pPr algn="just"/>
            <a:r>
              <a:rPr lang="es-ES" sz="2200" dirty="0"/>
              <a:t>Deducir las consecuencias de la teoría con respecto a esos nuevos fenómenos.</a:t>
            </a:r>
          </a:p>
          <a:p>
            <a:pPr algn="just"/>
            <a:r>
              <a:rPr lang="es-ES" sz="2200" dirty="0"/>
              <a:t>Efectuar observaciones o experimentos para ver si las consecuencias son verificadas por los hechos.</a:t>
            </a:r>
          </a:p>
          <a:p>
            <a:pPr algn="just"/>
            <a:r>
              <a:rPr lang="es-ES" sz="2200" dirty="0"/>
              <a:t>Dicho método considera que entre mayor sea el número de experimentos realizados, mayores serán las probabilidades de que las leyes resulten verídicas.</a:t>
            </a:r>
          </a:p>
        </p:txBody>
      </p:sp>
      <p:sp>
        <p:nvSpPr>
          <p:cNvPr id="4" name="CuadroTexto 3"/>
          <p:cNvSpPr txBox="1"/>
          <p:nvPr/>
        </p:nvSpPr>
        <p:spPr>
          <a:xfrm>
            <a:off x="9347200" y="6488668"/>
            <a:ext cx="3149600" cy="369332"/>
          </a:xfrm>
          <a:prstGeom prst="rect">
            <a:avLst/>
          </a:prstGeom>
          <a:noFill/>
        </p:spPr>
        <p:txBody>
          <a:bodyPr wrap="square" rtlCol="0">
            <a:spAutoFit/>
          </a:bodyPr>
          <a:lstStyle/>
          <a:p>
            <a:r>
              <a:rPr lang="es-ES" dirty="0"/>
              <a:t>(Méndez &amp; Vélez, 2001)</a:t>
            </a:r>
          </a:p>
        </p:txBody>
      </p:sp>
    </p:spTree>
    <p:extLst>
      <p:ext uri="{BB962C8B-B14F-4D97-AF65-F5344CB8AC3E}">
        <p14:creationId xmlns:p14="http://schemas.microsoft.com/office/powerpoint/2010/main" val="140564736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a:xfrm>
            <a:off x="715434" y="215900"/>
            <a:ext cx="8596668" cy="1320800"/>
          </a:xfrm>
        </p:spPr>
        <p:txBody>
          <a:bodyPr>
            <a:normAutofit/>
          </a:bodyPr>
          <a:lstStyle/>
          <a:p>
            <a:pPr>
              <a:lnSpc>
                <a:spcPct val="80000"/>
              </a:lnSpc>
            </a:pPr>
            <a:r>
              <a:rPr lang="es-ES" b="1" dirty="0"/>
              <a:t>4-Método de análisis-síntesis</a:t>
            </a:r>
            <a:endParaRPr lang="es-ES" altLang="es-ES" dirty="0">
              <a:latin typeface="Times New Roman" panose="02020603050405020304" pitchFamily="18" charset="0"/>
            </a:endParaRPr>
          </a:p>
        </p:txBody>
      </p:sp>
      <p:sp>
        <p:nvSpPr>
          <p:cNvPr id="17411" name="Rectangle 3"/>
          <p:cNvSpPr>
            <a:spLocks noGrp="1" noChangeArrowheads="1"/>
          </p:cNvSpPr>
          <p:nvPr>
            <p:ph type="body" idx="1"/>
          </p:nvPr>
        </p:nvSpPr>
        <p:spPr>
          <a:xfrm>
            <a:off x="1079500" y="1536700"/>
            <a:ext cx="8610600" cy="3149600"/>
          </a:xfrm>
        </p:spPr>
        <p:txBody>
          <a:bodyPr>
            <a:noAutofit/>
          </a:bodyPr>
          <a:lstStyle/>
          <a:p>
            <a:pPr algn="just"/>
            <a:r>
              <a:rPr lang="es-ES" sz="3200" dirty="0"/>
              <a:t>Es un método que consiste en la separación de las partes de un todo para estudiarlas en forma individual (Análisis), y la reunión racional de elementos dispersos para estudiarlos en su totalidad. (Síntesis)</a:t>
            </a:r>
            <a:endParaRPr lang="es-ES" altLang="es-ES" sz="3200" dirty="0">
              <a:latin typeface="Times New Roman" panose="02020603050405020304" pitchFamily="18" charset="0"/>
            </a:endParaRPr>
          </a:p>
        </p:txBody>
      </p:sp>
      <p:sp>
        <p:nvSpPr>
          <p:cNvPr id="4" name="CuadroTexto 3"/>
          <p:cNvSpPr txBox="1"/>
          <p:nvPr/>
        </p:nvSpPr>
        <p:spPr>
          <a:xfrm>
            <a:off x="9312102" y="6488668"/>
            <a:ext cx="3149600" cy="369332"/>
          </a:xfrm>
          <a:prstGeom prst="rect">
            <a:avLst/>
          </a:prstGeom>
          <a:noFill/>
        </p:spPr>
        <p:txBody>
          <a:bodyPr wrap="square" rtlCol="0">
            <a:spAutoFit/>
          </a:bodyPr>
          <a:lstStyle/>
          <a:p>
            <a:r>
              <a:rPr lang="es-ES" dirty="0"/>
              <a:t>(Méndez &amp; Vélez, 2001)</a:t>
            </a:r>
          </a:p>
        </p:txBody>
      </p:sp>
    </p:spTree>
    <p:extLst>
      <p:ext uri="{BB962C8B-B14F-4D97-AF65-F5344CB8AC3E}">
        <p14:creationId xmlns:p14="http://schemas.microsoft.com/office/powerpoint/2010/main" val="351139800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545484" y="1169989"/>
            <a:ext cx="9728815" cy="3880773"/>
          </a:xfrm>
        </p:spPr>
        <p:txBody>
          <a:bodyPr>
            <a:noAutofit/>
          </a:bodyPr>
          <a:lstStyle/>
          <a:p>
            <a:pPr algn="just"/>
            <a:r>
              <a:rPr lang="es-ES" sz="2400" b="1" dirty="0">
                <a:solidFill>
                  <a:srgbClr val="FF0000"/>
                </a:solidFill>
              </a:rPr>
              <a:t>ANÁLISIS</a:t>
            </a:r>
          </a:p>
          <a:p>
            <a:pPr algn="just"/>
            <a:r>
              <a:rPr lang="es-ES" sz="2400" dirty="0"/>
              <a:t>Del griego </a:t>
            </a:r>
            <a:r>
              <a:rPr lang="es-ES" sz="2400" i="1" dirty="0"/>
              <a:t>analizas</a:t>
            </a:r>
            <a:r>
              <a:rPr lang="es-ES" sz="2400" dirty="0"/>
              <a:t>: descomposición, fragmentación de un cuerpo en sus principios constitutivos. Método que va de lo compuesto a lo simple.</a:t>
            </a:r>
          </a:p>
          <a:p>
            <a:pPr algn="just"/>
            <a:r>
              <a:rPr lang="es-ES" sz="2400" dirty="0"/>
              <a:t>Proceso cognoscitivo por medio del cual una realidad es descompuesta en partes para su mejor comprensión.</a:t>
            </a:r>
          </a:p>
          <a:p>
            <a:pPr algn="just"/>
            <a:r>
              <a:rPr lang="es-ES" sz="2400" dirty="0"/>
              <a:t>Separación de un todo en sus partes constitutivas con el propósito de estudiar éstas por separado, así como las relaciones que las unen.</a:t>
            </a:r>
            <a:r>
              <a:rPr lang="es-ES_tradnl" altLang="es-ES" sz="2400" dirty="0"/>
              <a:t> De esta manera  se establece la relación  causa –efecto entre los elementos que componen el objeto de investigación.</a:t>
            </a:r>
            <a:endParaRPr lang="es-ES" altLang="es-ES" sz="2400" dirty="0"/>
          </a:p>
          <a:p>
            <a:endParaRPr lang="es-ES" sz="2400" dirty="0"/>
          </a:p>
        </p:txBody>
      </p:sp>
      <p:sp>
        <p:nvSpPr>
          <p:cNvPr id="4" name="Rectangle 2"/>
          <p:cNvSpPr txBox="1">
            <a:spLocks noChangeArrowheads="1"/>
          </p:cNvSpPr>
          <p:nvPr/>
        </p:nvSpPr>
        <p:spPr>
          <a:xfrm>
            <a:off x="715434" y="215900"/>
            <a:ext cx="8596668" cy="1320800"/>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nSpc>
                <a:spcPct val="80000"/>
              </a:lnSpc>
            </a:pPr>
            <a:r>
              <a:rPr lang="es-ES" b="1" dirty="0"/>
              <a:t>4-Método de análisis-síntesis</a:t>
            </a:r>
            <a:endParaRPr lang="es-ES" altLang="es-ES" dirty="0">
              <a:latin typeface="Times New Roman" panose="02020603050405020304" pitchFamily="18" charset="0"/>
            </a:endParaRPr>
          </a:p>
        </p:txBody>
      </p:sp>
    </p:spTree>
    <p:extLst>
      <p:ext uri="{BB962C8B-B14F-4D97-AF65-F5344CB8AC3E}">
        <p14:creationId xmlns:p14="http://schemas.microsoft.com/office/powerpoint/2010/main" val="101596469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715434" y="1536700"/>
            <a:ext cx="8596668" cy="3880773"/>
          </a:xfrm>
        </p:spPr>
        <p:txBody>
          <a:bodyPr>
            <a:noAutofit/>
          </a:bodyPr>
          <a:lstStyle/>
          <a:p>
            <a:pPr algn="just"/>
            <a:r>
              <a:rPr lang="es-ES" sz="2400" dirty="0">
                <a:solidFill>
                  <a:srgbClr val="FF0000"/>
                </a:solidFill>
              </a:rPr>
              <a:t>SÍNTESIS</a:t>
            </a:r>
          </a:p>
          <a:p>
            <a:pPr algn="just"/>
            <a:r>
              <a:rPr lang="es-ES" sz="2400" dirty="0"/>
              <a:t>Del griego síntesis: método que procede de lo simple a lo compuesto, de las partes al todo, de la causa a los efectos, del principio a las consecuencias.</a:t>
            </a:r>
          </a:p>
          <a:p>
            <a:pPr algn="just"/>
            <a:r>
              <a:rPr lang="es-ES" sz="2400" dirty="0"/>
              <a:t>Composición de un todo por la reunión de sus partes.</a:t>
            </a:r>
          </a:p>
          <a:p>
            <a:pPr algn="just"/>
            <a:r>
              <a:rPr lang="es-ES" sz="2400" dirty="0"/>
              <a:t>Reunión de las partes o elementos para analizar, dentro de un todo, su naturaleza y comportamiento con el propósito de identificar las características del fenómeno observado.</a:t>
            </a:r>
          </a:p>
        </p:txBody>
      </p:sp>
      <p:sp>
        <p:nvSpPr>
          <p:cNvPr id="4" name="Rectangle 2"/>
          <p:cNvSpPr txBox="1">
            <a:spLocks noChangeArrowheads="1"/>
          </p:cNvSpPr>
          <p:nvPr/>
        </p:nvSpPr>
        <p:spPr>
          <a:xfrm>
            <a:off x="715434" y="215900"/>
            <a:ext cx="8596668" cy="1320800"/>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nSpc>
                <a:spcPct val="80000"/>
              </a:lnSpc>
            </a:pPr>
            <a:r>
              <a:rPr lang="es-ES" b="1" dirty="0"/>
              <a:t>4-Método de análisis-síntesis</a:t>
            </a:r>
            <a:endParaRPr lang="es-ES" altLang="es-ES" dirty="0">
              <a:latin typeface="Times New Roman" panose="02020603050405020304" pitchFamily="18" charset="0"/>
            </a:endParaRPr>
          </a:p>
        </p:txBody>
      </p:sp>
    </p:spTree>
    <p:extLst>
      <p:ext uri="{BB962C8B-B14F-4D97-AF65-F5344CB8AC3E}">
        <p14:creationId xmlns:p14="http://schemas.microsoft.com/office/powerpoint/2010/main" val="187012137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588434" y="1042989"/>
            <a:ext cx="10435166" cy="3880773"/>
          </a:xfrm>
        </p:spPr>
        <p:txBody>
          <a:bodyPr>
            <a:noAutofit/>
          </a:bodyPr>
          <a:lstStyle/>
          <a:p>
            <a:pPr algn="just"/>
            <a:r>
              <a:rPr lang="es-ES" sz="2800" dirty="0">
                <a:solidFill>
                  <a:srgbClr val="FF0000"/>
                </a:solidFill>
              </a:rPr>
              <a:t>REGLAS</a:t>
            </a:r>
            <a:endParaRPr lang="es-ES" sz="2800" dirty="0"/>
          </a:p>
          <a:p>
            <a:pPr algn="just"/>
            <a:r>
              <a:rPr lang="es-ES" sz="2800" dirty="0"/>
              <a:t>Observación de un fenómeno, sus hechos, comportamiento, partes y componentes.</a:t>
            </a:r>
          </a:p>
          <a:p>
            <a:pPr algn="just"/>
            <a:r>
              <a:rPr lang="es-ES" sz="2800" dirty="0"/>
              <a:t>Descripción. Identificación de todos sus elementos, partes y componentes para poder entenderlo.</a:t>
            </a:r>
          </a:p>
          <a:p>
            <a:pPr algn="just"/>
            <a:r>
              <a:rPr lang="es-ES" sz="2800" dirty="0"/>
              <a:t>Examen crítico. Es la revisión rigurosa de cada uno de los elementos de un todo.</a:t>
            </a:r>
          </a:p>
          <a:p>
            <a:pPr algn="just"/>
            <a:r>
              <a:rPr lang="es-ES" sz="2800" dirty="0"/>
              <a:t>Descomposición. Análisis exhaustivo de todos los detalles, comportamientos y características de cada uno de los elementos constitutivos de un todo; estudio de sus partes.</a:t>
            </a:r>
          </a:p>
        </p:txBody>
      </p:sp>
      <p:sp>
        <p:nvSpPr>
          <p:cNvPr id="4" name="Rectangle 2"/>
          <p:cNvSpPr txBox="1">
            <a:spLocks noChangeArrowheads="1"/>
          </p:cNvSpPr>
          <p:nvPr/>
        </p:nvSpPr>
        <p:spPr>
          <a:xfrm>
            <a:off x="715434" y="215900"/>
            <a:ext cx="8596668" cy="1320800"/>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nSpc>
                <a:spcPct val="80000"/>
              </a:lnSpc>
            </a:pPr>
            <a:r>
              <a:rPr lang="es-ES" b="1" dirty="0"/>
              <a:t>4-Método de análisis-síntesis</a:t>
            </a:r>
            <a:endParaRPr lang="es-ES" altLang="es-ES" dirty="0">
              <a:latin typeface="Times New Roman" panose="02020603050405020304" pitchFamily="18" charset="0"/>
            </a:endParaRPr>
          </a:p>
        </p:txBody>
      </p:sp>
    </p:spTree>
    <p:extLst>
      <p:ext uri="{BB962C8B-B14F-4D97-AF65-F5344CB8AC3E}">
        <p14:creationId xmlns:p14="http://schemas.microsoft.com/office/powerpoint/2010/main" val="194690343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563034" y="763589"/>
            <a:ext cx="10435166" cy="3880773"/>
          </a:xfrm>
        </p:spPr>
        <p:txBody>
          <a:bodyPr>
            <a:noAutofit/>
          </a:bodyPr>
          <a:lstStyle/>
          <a:p>
            <a:pPr algn="just"/>
            <a:r>
              <a:rPr lang="es-ES" sz="2800" dirty="0">
                <a:solidFill>
                  <a:srgbClr val="FF0000"/>
                </a:solidFill>
              </a:rPr>
              <a:t>REGLAS</a:t>
            </a:r>
            <a:endParaRPr lang="es-ES" sz="2800" dirty="0"/>
          </a:p>
          <a:p>
            <a:pPr algn="just"/>
            <a:r>
              <a:rPr lang="es-ES" sz="2800" dirty="0"/>
              <a:t>Enumeración. Desintegración de los componentes a fin de identificarlos, registrarlos y establecer sus relaciones con los demás.</a:t>
            </a:r>
          </a:p>
          <a:p>
            <a:pPr algn="just"/>
            <a:r>
              <a:rPr lang="es-ES" sz="2800" dirty="0"/>
              <a:t>Ordenación Volver a armar y reacomodar cada un de las partes del todo descompuesto a fin de restituir su estado original.</a:t>
            </a:r>
          </a:p>
          <a:p>
            <a:pPr algn="just"/>
            <a:r>
              <a:rPr lang="es-ES" sz="2800" dirty="0"/>
              <a:t>Clasificación. Ordenación de cada una de las partes por clases, siguiendo el patrón del fenómeno analizado, para conocer sus características, detalles y comportamiento.</a:t>
            </a:r>
          </a:p>
          <a:p>
            <a:pPr algn="just"/>
            <a:r>
              <a:rPr lang="es-ES" sz="2800" dirty="0"/>
              <a:t>Conclusión. Analizar los resultados obtenidos, estudiarlos y dar una explicación del fenómeno observado.</a:t>
            </a:r>
          </a:p>
        </p:txBody>
      </p:sp>
      <p:sp>
        <p:nvSpPr>
          <p:cNvPr id="4" name="Rectangle 2"/>
          <p:cNvSpPr txBox="1">
            <a:spLocks noChangeArrowheads="1"/>
          </p:cNvSpPr>
          <p:nvPr/>
        </p:nvSpPr>
        <p:spPr>
          <a:xfrm>
            <a:off x="715434" y="215900"/>
            <a:ext cx="8596668" cy="1320800"/>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nSpc>
                <a:spcPct val="80000"/>
              </a:lnSpc>
            </a:pPr>
            <a:r>
              <a:rPr lang="es-ES" b="1" dirty="0"/>
              <a:t>4-Método de análisis-síntesis</a:t>
            </a:r>
            <a:endParaRPr lang="es-ES" altLang="es-ES" dirty="0">
              <a:latin typeface="Times New Roman" panose="02020603050405020304" pitchFamily="18" charset="0"/>
            </a:endParaRPr>
          </a:p>
        </p:txBody>
      </p:sp>
    </p:spTree>
    <p:extLst>
      <p:ext uri="{BB962C8B-B14F-4D97-AF65-F5344CB8AC3E}">
        <p14:creationId xmlns:p14="http://schemas.microsoft.com/office/powerpoint/2010/main" val="295949959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b="1" dirty="0"/>
              <a:t>5-Método Hipotético – Deductivo</a:t>
            </a:r>
            <a:endParaRPr lang="es-ES" dirty="0"/>
          </a:p>
        </p:txBody>
      </p:sp>
      <p:sp>
        <p:nvSpPr>
          <p:cNvPr id="3" name="Marcador de contenido 2"/>
          <p:cNvSpPr>
            <a:spLocks noGrp="1"/>
          </p:cNvSpPr>
          <p:nvPr>
            <p:ph idx="1"/>
          </p:nvPr>
        </p:nvSpPr>
        <p:spPr>
          <a:xfrm>
            <a:off x="677334" y="1627189"/>
            <a:ext cx="9101666" cy="3880773"/>
          </a:xfrm>
        </p:spPr>
        <p:txBody>
          <a:bodyPr>
            <a:noAutofit/>
          </a:bodyPr>
          <a:lstStyle/>
          <a:p>
            <a:pPr algn="just"/>
            <a:r>
              <a:rPr lang="es-ES" sz="2800" dirty="0"/>
              <a:t>En las ciencias que han alcanzado determinado desarrollo teórico metodológico, las hipótesis cumplen una función importante en el progreso del conocimiento, al convertirse en punto de partida de nuevas deducciones, dando lugar al denominado método hipotético-deductivo.</a:t>
            </a:r>
          </a:p>
          <a:p>
            <a:pPr algn="just"/>
            <a:r>
              <a:rPr lang="es-ES" sz="2800" dirty="0"/>
              <a:t>El método hipotético-deductivo es la vía primera de inferencias lógicas deductivas para arribar a conclusiones particulares a partir de la Hipótesis, que después se pueden comprobar experimentalmente.</a:t>
            </a:r>
          </a:p>
        </p:txBody>
      </p:sp>
    </p:spTree>
    <p:extLst>
      <p:ext uri="{BB962C8B-B14F-4D97-AF65-F5344CB8AC3E}">
        <p14:creationId xmlns:p14="http://schemas.microsoft.com/office/powerpoint/2010/main" val="80655760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a:t>6-Modelacion</a:t>
            </a:r>
          </a:p>
        </p:txBody>
      </p:sp>
      <p:sp>
        <p:nvSpPr>
          <p:cNvPr id="3" name="Marcador de contenido 2"/>
          <p:cNvSpPr>
            <a:spLocks noGrp="1"/>
          </p:cNvSpPr>
          <p:nvPr>
            <p:ph idx="1"/>
          </p:nvPr>
        </p:nvSpPr>
        <p:spPr>
          <a:xfrm>
            <a:off x="677334" y="1576389"/>
            <a:ext cx="10117666" cy="3880773"/>
          </a:xfrm>
        </p:spPr>
        <p:txBody>
          <a:bodyPr>
            <a:normAutofit/>
          </a:bodyPr>
          <a:lstStyle/>
          <a:p>
            <a:r>
              <a:rPr lang="es-ES" sz="2400" dirty="0"/>
              <a:t>La modelación es el proceso mediante el cual se crea una representación o modelo para investigar la realidad.</a:t>
            </a:r>
          </a:p>
          <a:p>
            <a:r>
              <a:rPr lang="es-ES" sz="2400" dirty="0"/>
              <a:t>Un modelo es una abstracción del mundo real.</a:t>
            </a:r>
          </a:p>
        </p:txBody>
      </p:sp>
      <p:pic>
        <p:nvPicPr>
          <p:cNvPr id="4" name="Imagen 3"/>
          <p:cNvPicPr>
            <a:picLocks noChangeAspect="1"/>
          </p:cNvPicPr>
          <p:nvPr/>
        </p:nvPicPr>
        <p:blipFill>
          <a:blip r:embed="rId2"/>
          <a:stretch>
            <a:fillRect/>
          </a:stretch>
        </p:blipFill>
        <p:spPr>
          <a:xfrm>
            <a:off x="1587327" y="2897189"/>
            <a:ext cx="7686675" cy="3481387"/>
          </a:xfrm>
          <a:prstGeom prst="rect">
            <a:avLst/>
          </a:prstGeom>
        </p:spPr>
      </p:pic>
    </p:spTree>
    <p:extLst>
      <p:ext uri="{BB962C8B-B14F-4D97-AF65-F5344CB8AC3E}">
        <p14:creationId xmlns:p14="http://schemas.microsoft.com/office/powerpoint/2010/main" val="159256665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CO" dirty="0"/>
              <a:t>El propósito de un modelo </a:t>
            </a:r>
          </a:p>
        </p:txBody>
      </p:sp>
      <p:sp>
        <p:nvSpPr>
          <p:cNvPr id="3" name="Marcador de contenido 2"/>
          <p:cNvSpPr>
            <a:spLocks noGrp="1"/>
          </p:cNvSpPr>
          <p:nvPr>
            <p:ph idx="1"/>
          </p:nvPr>
        </p:nvSpPr>
        <p:spPr>
          <a:xfrm>
            <a:off x="677334" y="2427265"/>
            <a:ext cx="8596668" cy="3880773"/>
          </a:xfrm>
        </p:spPr>
        <p:txBody>
          <a:bodyPr>
            <a:normAutofit/>
          </a:bodyPr>
          <a:lstStyle/>
          <a:p>
            <a:r>
              <a:rPr lang="es-ES" sz="2200" dirty="0"/>
              <a:t>Predicción</a:t>
            </a:r>
          </a:p>
          <a:p>
            <a:r>
              <a:rPr lang="es-ES" sz="2200" dirty="0"/>
              <a:t>Explicación</a:t>
            </a:r>
          </a:p>
          <a:p>
            <a:r>
              <a:rPr lang="es-ES" sz="2200" dirty="0"/>
              <a:t>Descripción</a:t>
            </a:r>
          </a:p>
          <a:p>
            <a:r>
              <a:rPr lang="es-ES" sz="2200" dirty="0"/>
              <a:t>Exploración teórica</a:t>
            </a:r>
          </a:p>
          <a:p>
            <a:r>
              <a:rPr lang="es-ES" sz="2200" dirty="0"/>
              <a:t>Ilustración</a:t>
            </a:r>
          </a:p>
          <a:p>
            <a:r>
              <a:rPr lang="es-ES" sz="2200" dirty="0"/>
              <a:t>Analogía</a:t>
            </a:r>
          </a:p>
          <a:p>
            <a:r>
              <a:rPr lang="es-ES" sz="2200" dirty="0"/>
              <a:t>Aprendizaje social </a:t>
            </a:r>
            <a:endParaRPr lang="es-CO" sz="2200" dirty="0"/>
          </a:p>
        </p:txBody>
      </p:sp>
      <p:sp>
        <p:nvSpPr>
          <p:cNvPr id="4" name="Rectángulo 3"/>
          <p:cNvSpPr/>
          <p:nvPr/>
        </p:nvSpPr>
        <p:spPr>
          <a:xfrm>
            <a:off x="576647" y="1415639"/>
            <a:ext cx="10536195" cy="830997"/>
          </a:xfrm>
          <a:prstGeom prst="rect">
            <a:avLst/>
          </a:prstGeom>
        </p:spPr>
        <p:txBody>
          <a:bodyPr wrap="square">
            <a:spAutoFit/>
          </a:bodyPr>
          <a:lstStyle/>
          <a:p>
            <a:r>
              <a:rPr lang="es-ES" sz="2400" dirty="0"/>
              <a:t>Cómo uno construye, verifica, valida e interpreta un modelo depende de su "propósito". (</a:t>
            </a:r>
            <a:r>
              <a:rPr lang="es-CO" sz="2400" b="1" dirty="0"/>
              <a:t>Edmonds,2019)</a:t>
            </a:r>
            <a:endParaRPr lang="es-CO" sz="2400" dirty="0"/>
          </a:p>
        </p:txBody>
      </p:sp>
      <p:sp>
        <p:nvSpPr>
          <p:cNvPr id="5" name="Rectángulo 4"/>
          <p:cNvSpPr/>
          <p:nvPr/>
        </p:nvSpPr>
        <p:spPr>
          <a:xfrm>
            <a:off x="10011307" y="6488668"/>
            <a:ext cx="1943161" cy="369332"/>
          </a:xfrm>
          <a:prstGeom prst="rect">
            <a:avLst/>
          </a:prstGeom>
        </p:spPr>
        <p:txBody>
          <a:bodyPr wrap="none">
            <a:spAutoFit/>
          </a:bodyPr>
          <a:lstStyle/>
          <a:p>
            <a:r>
              <a:rPr lang="es-ES" dirty="0"/>
              <a:t>(</a:t>
            </a:r>
            <a:r>
              <a:rPr lang="es-CO" b="1" dirty="0"/>
              <a:t>Edmonds,2019)</a:t>
            </a:r>
            <a:endParaRPr lang="es-CO" dirty="0"/>
          </a:p>
        </p:txBody>
      </p:sp>
    </p:spTree>
    <p:extLst>
      <p:ext uri="{BB962C8B-B14F-4D97-AF65-F5344CB8AC3E}">
        <p14:creationId xmlns:p14="http://schemas.microsoft.com/office/powerpoint/2010/main" val="394041890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77334" y="403654"/>
            <a:ext cx="8596668" cy="1320800"/>
          </a:xfrm>
        </p:spPr>
        <p:txBody>
          <a:bodyPr/>
          <a:lstStyle/>
          <a:p>
            <a:r>
              <a:rPr lang="es-CO" dirty="0"/>
              <a:t>El propósito de un modelo </a:t>
            </a:r>
          </a:p>
        </p:txBody>
      </p:sp>
      <p:graphicFrame>
        <p:nvGraphicFramePr>
          <p:cNvPr id="4" name="Tabla 3"/>
          <p:cNvGraphicFramePr>
            <a:graphicFrameLocks noGrp="1"/>
          </p:cNvGraphicFramePr>
          <p:nvPr>
            <p:extLst>
              <p:ext uri="{D42A27DB-BD31-4B8C-83A1-F6EECF244321}">
                <p14:modId xmlns:p14="http://schemas.microsoft.com/office/powerpoint/2010/main" val="3910058095"/>
              </p:ext>
            </p:extLst>
          </p:nvPr>
        </p:nvGraphicFramePr>
        <p:xfrm>
          <a:off x="444842" y="1235714"/>
          <a:ext cx="10873946" cy="5250499"/>
        </p:xfrm>
        <a:graphic>
          <a:graphicData uri="http://schemas.openxmlformats.org/drawingml/2006/table">
            <a:tbl>
              <a:tblPr firstRow="1" firstCol="1" bandRow="1">
                <a:tableStyleId>{5C22544A-7EE6-4342-B048-85BDC9FD1C3A}</a:tableStyleId>
              </a:tblPr>
              <a:tblGrid>
                <a:gridCol w="2669061">
                  <a:extLst>
                    <a:ext uri="{9D8B030D-6E8A-4147-A177-3AD203B41FA5}">
                      <a16:colId xmlns:a16="http://schemas.microsoft.com/office/drawing/2014/main" val="20000"/>
                    </a:ext>
                  </a:extLst>
                </a:gridCol>
                <a:gridCol w="4840580">
                  <a:extLst>
                    <a:ext uri="{9D8B030D-6E8A-4147-A177-3AD203B41FA5}">
                      <a16:colId xmlns:a16="http://schemas.microsoft.com/office/drawing/2014/main" val="20001"/>
                    </a:ext>
                  </a:extLst>
                </a:gridCol>
                <a:gridCol w="3364305">
                  <a:extLst>
                    <a:ext uri="{9D8B030D-6E8A-4147-A177-3AD203B41FA5}">
                      <a16:colId xmlns:a16="http://schemas.microsoft.com/office/drawing/2014/main" val="20002"/>
                    </a:ext>
                  </a:extLst>
                </a:gridCol>
              </a:tblGrid>
              <a:tr h="0">
                <a:tc>
                  <a:txBody>
                    <a:bodyPr/>
                    <a:lstStyle/>
                    <a:p>
                      <a:pPr>
                        <a:lnSpc>
                          <a:spcPct val="107000"/>
                        </a:lnSpc>
                        <a:spcAft>
                          <a:spcPts val="0"/>
                        </a:spcAft>
                      </a:pPr>
                      <a:r>
                        <a:rPr lang="es-CO" sz="1400" dirty="0">
                          <a:solidFill>
                            <a:schemeClr val="bg1"/>
                          </a:solidFill>
                          <a:effectLst/>
                        </a:rPr>
                        <a:t>Propósitos de modelado</a:t>
                      </a:r>
                      <a:endParaRPr lang="es-CO" sz="14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txBody>
                  <a:tcPr marL="18319" marR="18319" marT="0" marB="0"/>
                </a:tc>
                <a:tc>
                  <a:txBody>
                    <a:bodyPr/>
                    <a:lstStyle/>
                    <a:p>
                      <a:pPr>
                        <a:lnSpc>
                          <a:spcPct val="107000"/>
                        </a:lnSpc>
                        <a:spcAft>
                          <a:spcPts val="0"/>
                        </a:spcAft>
                      </a:pPr>
                      <a:r>
                        <a:rPr lang="es-CO" sz="1400">
                          <a:solidFill>
                            <a:schemeClr val="bg1"/>
                          </a:solidFill>
                          <a:effectLst/>
                        </a:rPr>
                        <a:t>Motivación</a:t>
                      </a:r>
                      <a:endParaRPr lang="es-CO" sz="140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txBody>
                  <a:tcPr marL="18319" marR="18319" marT="0" marB="0"/>
                </a:tc>
                <a:tc>
                  <a:txBody>
                    <a:bodyPr/>
                    <a:lstStyle/>
                    <a:p>
                      <a:pPr>
                        <a:lnSpc>
                          <a:spcPct val="107000"/>
                        </a:lnSpc>
                        <a:spcAft>
                          <a:spcPts val="0"/>
                        </a:spcAft>
                      </a:pPr>
                      <a:r>
                        <a:rPr lang="es-CO" sz="1400" dirty="0">
                          <a:solidFill>
                            <a:schemeClr val="bg1"/>
                          </a:solidFill>
                          <a:effectLst/>
                        </a:rPr>
                        <a:t>Definición </a:t>
                      </a:r>
                      <a:endParaRPr lang="es-CO" sz="14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txBody>
                  <a:tcPr marL="18319" marR="18319" marT="0" marB="0"/>
                </a:tc>
                <a:extLst>
                  <a:ext uri="{0D108BD9-81ED-4DB2-BD59-A6C34878D82A}">
                    <a16:rowId xmlns:a16="http://schemas.microsoft.com/office/drawing/2014/main" val="10000"/>
                  </a:ext>
                </a:extLst>
              </a:tr>
              <a:tr h="575028">
                <a:tc>
                  <a:txBody>
                    <a:bodyPr/>
                    <a:lstStyle/>
                    <a:p>
                      <a:pPr>
                        <a:lnSpc>
                          <a:spcPct val="107000"/>
                        </a:lnSpc>
                        <a:spcAft>
                          <a:spcPts val="0"/>
                        </a:spcAft>
                      </a:pPr>
                      <a:r>
                        <a:rPr lang="es-ES" sz="1400" dirty="0">
                          <a:solidFill>
                            <a:schemeClr val="bg1"/>
                          </a:solidFill>
                          <a:effectLst/>
                        </a:rPr>
                        <a:t>Predicción</a:t>
                      </a:r>
                      <a:endParaRPr lang="es-CO" sz="14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txBody>
                  <a:tcPr marL="18319" marR="18319" marT="0" marB="0"/>
                </a:tc>
                <a:tc>
                  <a:txBody>
                    <a:bodyPr/>
                    <a:lstStyle/>
                    <a:p>
                      <a:pPr algn="just">
                        <a:lnSpc>
                          <a:spcPct val="107000"/>
                        </a:lnSpc>
                        <a:spcAft>
                          <a:spcPts val="0"/>
                        </a:spcAft>
                      </a:pPr>
                      <a:r>
                        <a:rPr lang="es-CO" sz="1400" dirty="0">
                          <a:effectLst/>
                        </a:rPr>
                        <a:t>Si uno puede predecir de manera confiable algo que aún no se conoce, esto es innegablemente útil independientemente de la naturaleza del modelo</a:t>
                      </a:r>
                    </a:p>
                    <a:p>
                      <a:pPr algn="just">
                        <a:lnSpc>
                          <a:spcPct val="107000"/>
                        </a:lnSpc>
                        <a:spcAft>
                          <a:spcPts val="0"/>
                        </a:spcAft>
                      </a:pPr>
                      <a:r>
                        <a:rPr lang="es-CO" sz="1400" dirty="0">
                          <a:effectLst/>
                        </a:rPr>
                        <a:t> </a:t>
                      </a:r>
                    </a:p>
                    <a:p>
                      <a:pPr algn="just">
                        <a:lnSpc>
                          <a:spcPct val="107000"/>
                        </a:lnSpc>
                        <a:spcAft>
                          <a:spcPts val="0"/>
                        </a:spcAft>
                      </a:pPr>
                      <a:r>
                        <a:rPr lang="es-CO" sz="1400" dirty="0">
                          <a:effectLst/>
                        </a:rPr>
                        <a:t>La capacidad de un modelo o teoría para predecir se toma como el indicador más confiable de la verdad de un modelo.</a:t>
                      </a:r>
                      <a:endParaRPr lang="es-CO"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18319" marR="18319" marT="0" marB="0"/>
                </a:tc>
                <a:tc>
                  <a:txBody>
                    <a:bodyPr/>
                    <a:lstStyle/>
                    <a:p>
                      <a:pPr algn="just">
                        <a:lnSpc>
                          <a:spcPct val="107000"/>
                        </a:lnSpc>
                        <a:spcAft>
                          <a:spcPts val="0"/>
                        </a:spcAft>
                      </a:pPr>
                      <a:r>
                        <a:rPr lang="es-CO" sz="1400">
                          <a:effectLst/>
                        </a:rPr>
                        <a:t>Por "predicción", nos referimos a la capacidad de anticipar de manera confiable aspectos bien definidos de los datos que actualmente no se conocen.</a:t>
                      </a:r>
                      <a:endParaRPr lang="es-CO" sz="1400">
                        <a:effectLst/>
                        <a:latin typeface="Calibri" panose="020F0502020204030204" pitchFamily="34" charset="0"/>
                        <a:ea typeface="Calibri" panose="020F0502020204030204" pitchFamily="34" charset="0"/>
                        <a:cs typeface="Times New Roman" panose="02020603050405020304" pitchFamily="18" charset="0"/>
                      </a:endParaRPr>
                    </a:p>
                  </a:txBody>
                  <a:tcPr marL="18319" marR="18319" marT="0" marB="0"/>
                </a:tc>
                <a:extLst>
                  <a:ext uri="{0D108BD9-81ED-4DB2-BD59-A6C34878D82A}">
                    <a16:rowId xmlns:a16="http://schemas.microsoft.com/office/drawing/2014/main" val="10001"/>
                  </a:ext>
                </a:extLst>
              </a:tr>
              <a:tr h="383352">
                <a:tc>
                  <a:txBody>
                    <a:bodyPr/>
                    <a:lstStyle/>
                    <a:p>
                      <a:pPr>
                        <a:lnSpc>
                          <a:spcPct val="107000"/>
                        </a:lnSpc>
                        <a:spcAft>
                          <a:spcPts val="0"/>
                        </a:spcAft>
                      </a:pPr>
                      <a:r>
                        <a:rPr lang="es-ES" sz="1400">
                          <a:solidFill>
                            <a:schemeClr val="bg1"/>
                          </a:solidFill>
                          <a:effectLst/>
                        </a:rPr>
                        <a:t>Explicación</a:t>
                      </a:r>
                      <a:endParaRPr lang="es-CO" sz="140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txBody>
                  <a:tcPr marL="18319" marR="18319" marT="0" marB="0"/>
                </a:tc>
                <a:tc>
                  <a:txBody>
                    <a:bodyPr/>
                    <a:lstStyle/>
                    <a:p>
                      <a:pPr algn="just">
                        <a:lnSpc>
                          <a:spcPct val="107000"/>
                        </a:lnSpc>
                        <a:spcAft>
                          <a:spcPts val="0"/>
                        </a:spcAft>
                      </a:pPr>
                      <a:r>
                        <a:rPr lang="es-CO" sz="1400" dirty="0">
                          <a:effectLst/>
                        </a:rPr>
                        <a:t>A menudo, especialmente con fenómenos sociales complejos, uno está particularmente interesado en comprender por qué algo</a:t>
                      </a:r>
                      <a:r>
                        <a:rPr lang="es-CO" sz="1400" baseline="0" dirty="0">
                          <a:effectLst/>
                        </a:rPr>
                        <a:t> o</a:t>
                      </a:r>
                      <a:r>
                        <a:rPr lang="es-CO" sz="1400" dirty="0">
                          <a:effectLst/>
                        </a:rPr>
                        <a:t>curre, en otras palabras, explicándolo.</a:t>
                      </a:r>
                      <a:endParaRPr lang="es-CO"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18319" marR="18319" marT="0" marB="0"/>
                </a:tc>
                <a:tc>
                  <a:txBody>
                    <a:bodyPr/>
                    <a:lstStyle/>
                    <a:p>
                      <a:pPr algn="just">
                        <a:lnSpc>
                          <a:spcPct val="107000"/>
                        </a:lnSpc>
                        <a:spcAft>
                          <a:spcPts val="0"/>
                        </a:spcAft>
                      </a:pPr>
                      <a:r>
                        <a:rPr lang="es-CO" sz="1400" dirty="0">
                          <a:effectLst/>
                        </a:rPr>
                        <a:t>Por "explicación" nos referimos al establecimiento de una posible cadena causal desde una configuración hasta sus consecuencias</a:t>
                      </a:r>
                      <a:endParaRPr lang="es-CO"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18319" marR="18319" marT="0" marB="0"/>
                </a:tc>
                <a:extLst>
                  <a:ext uri="{0D108BD9-81ED-4DB2-BD59-A6C34878D82A}">
                    <a16:rowId xmlns:a16="http://schemas.microsoft.com/office/drawing/2014/main" val="10002"/>
                  </a:ext>
                </a:extLst>
              </a:tr>
              <a:tr h="622947">
                <a:tc>
                  <a:txBody>
                    <a:bodyPr/>
                    <a:lstStyle/>
                    <a:p>
                      <a:pPr>
                        <a:lnSpc>
                          <a:spcPct val="107000"/>
                        </a:lnSpc>
                        <a:spcAft>
                          <a:spcPts val="0"/>
                        </a:spcAft>
                      </a:pPr>
                      <a:r>
                        <a:rPr lang="es-ES" sz="1400">
                          <a:solidFill>
                            <a:schemeClr val="bg1"/>
                          </a:solidFill>
                          <a:effectLst/>
                        </a:rPr>
                        <a:t>Descripción</a:t>
                      </a:r>
                      <a:endParaRPr lang="es-CO" sz="140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txBody>
                  <a:tcPr marL="18319" marR="18319" marT="0" marB="0"/>
                </a:tc>
                <a:tc>
                  <a:txBody>
                    <a:bodyPr/>
                    <a:lstStyle/>
                    <a:p>
                      <a:pPr algn="just">
                        <a:lnSpc>
                          <a:spcPct val="107000"/>
                        </a:lnSpc>
                        <a:spcAft>
                          <a:spcPts val="0"/>
                        </a:spcAft>
                      </a:pPr>
                      <a:r>
                        <a:rPr lang="es-CO" sz="1400" dirty="0">
                          <a:effectLst/>
                        </a:rPr>
                        <a:t>Una actividad científica importante, pero actualmente infravalorada, es la descripción. El propósito de las</a:t>
                      </a:r>
                      <a:r>
                        <a:rPr lang="es-CO" sz="1400" baseline="0" dirty="0">
                          <a:effectLst/>
                        </a:rPr>
                        <a:t> </a:t>
                      </a:r>
                      <a:r>
                        <a:rPr lang="es-CO" sz="1400" dirty="0">
                          <a:effectLst/>
                        </a:rPr>
                        <a:t>descripciones es el de registrar, de manera coherente, un conjunto de aspectos seleccionados</a:t>
                      </a:r>
                      <a:r>
                        <a:rPr lang="es-CO" sz="1400" baseline="0" dirty="0">
                          <a:effectLst/>
                        </a:rPr>
                        <a:t> </a:t>
                      </a:r>
                      <a:r>
                        <a:rPr lang="es-CO" sz="1400" dirty="0">
                          <a:effectLst/>
                        </a:rPr>
                        <a:t>de los fenómenos bajo observación. </a:t>
                      </a:r>
                    </a:p>
                    <a:p>
                      <a:pPr algn="just">
                        <a:lnSpc>
                          <a:spcPct val="107000"/>
                        </a:lnSpc>
                        <a:spcAft>
                          <a:spcPts val="0"/>
                        </a:spcAft>
                      </a:pPr>
                      <a:r>
                        <a:rPr lang="es-CO" sz="1400" dirty="0">
                          <a:effectLst/>
                        </a:rPr>
                        <a:t> </a:t>
                      </a:r>
                      <a:endParaRPr lang="es-CO"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18319" marR="18319" marT="0" marB="0"/>
                </a:tc>
                <a:tc>
                  <a:txBody>
                    <a:bodyPr/>
                    <a:lstStyle/>
                    <a:p>
                      <a:pPr algn="just">
                        <a:lnSpc>
                          <a:spcPct val="107000"/>
                        </a:lnSpc>
                        <a:spcAft>
                          <a:spcPts val="0"/>
                        </a:spcAft>
                      </a:pPr>
                      <a:r>
                        <a:rPr lang="es-CO" sz="1400" dirty="0">
                          <a:effectLst/>
                        </a:rPr>
                        <a:t>Una descripción es un intento de representar parcialmente lo que es importante de un caso observado específico</a:t>
                      </a:r>
                      <a:r>
                        <a:rPr lang="es-CO" sz="1400" baseline="0" dirty="0">
                          <a:effectLst/>
                        </a:rPr>
                        <a:t> </a:t>
                      </a:r>
                      <a:r>
                        <a:rPr lang="es-CO" sz="1400" dirty="0">
                          <a:effectLst/>
                        </a:rPr>
                        <a:t>(o un pequeño conjunto de casos estrechamente relacionados).</a:t>
                      </a:r>
                      <a:endParaRPr lang="es-CO"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18319" marR="18319" marT="0" marB="0"/>
                </a:tc>
                <a:extLst>
                  <a:ext uri="{0D108BD9-81ED-4DB2-BD59-A6C34878D82A}">
                    <a16:rowId xmlns:a16="http://schemas.microsoft.com/office/drawing/2014/main" val="10003"/>
                  </a:ext>
                </a:extLst>
              </a:tr>
              <a:tr h="479190">
                <a:tc>
                  <a:txBody>
                    <a:bodyPr/>
                    <a:lstStyle/>
                    <a:p>
                      <a:pPr algn="just">
                        <a:lnSpc>
                          <a:spcPct val="107000"/>
                        </a:lnSpc>
                        <a:spcAft>
                          <a:spcPts val="0"/>
                        </a:spcAft>
                      </a:pPr>
                      <a:r>
                        <a:rPr lang="es-ES" sz="1400" dirty="0">
                          <a:solidFill>
                            <a:schemeClr val="bg1"/>
                          </a:solidFill>
                          <a:effectLst/>
                        </a:rPr>
                        <a:t>Exposición teórica</a:t>
                      </a:r>
                      <a:endParaRPr lang="es-CO" sz="14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txBody>
                  <a:tcPr marL="18319" marR="18319" marT="0" marB="0"/>
                </a:tc>
                <a:tc>
                  <a:txBody>
                    <a:bodyPr/>
                    <a:lstStyle/>
                    <a:p>
                      <a:pPr algn="just">
                        <a:lnSpc>
                          <a:spcPct val="107000"/>
                        </a:lnSpc>
                        <a:spcAft>
                          <a:spcPts val="0"/>
                        </a:spcAft>
                      </a:pPr>
                      <a:r>
                        <a:rPr lang="es-CO" sz="1400" dirty="0">
                          <a:effectLst/>
                        </a:rPr>
                        <a:t>Así, con procesos muy complicados, donde la mente humana no puede realizar un seguimiento de las partes sin ayuda, uno tiene el problema de comprender cómo se desarrollan estos procesos en general. Crear la teoría sobre el comportamiento o estructura de algo.</a:t>
                      </a:r>
                      <a:endParaRPr lang="es-CO"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18319" marR="18319" marT="0" marB="0"/>
                </a:tc>
                <a:tc>
                  <a:txBody>
                    <a:bodyPr/>
                    <a:lstStyle/>
                    <a:p>
                      <a:pPr algn="just">
                        <a:lnSpc>
                          <a:spcPct val="107000"/>
                        </a:lnSpc>
                        <a:spcAft>
                          <a:spcPts val="0"/>
                        </a:spcAft>
                      </a:pPr>
                      <a:r>
                        <a:rPr lang="es-CO" sz="1400" dirty="0">
                          <a:effectLst/>
                        </a:rPr>
                        <a:t>Exposición teórica" significa establecer y luego caracterizar (o evaluar) hipótesis sobre el comportamiento general</a:t>
                      </a:r>
                    </a:p>
                    <a:p>
                      <a:pPr algn="just">
                        <a:lnSpc>
                          <a:spcPct val="107000"/>
                        </a:lnSpc>
                        <a:spcAft>
                          <a:spcPts val="0"/>
                        </a:spcAft>
                      </a:pPr>
                      <a:r>
                        <a:rPr lang="es-CO" sz="1400" dirty="0">
                          <a:effectLst/>
                        </a:rPr>
                        <a:t>de un conjunto de mecanismos</a:t>
                      </a:r>
                      <a:endParaRPr lang="es-CO"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18319" marR="18319" marT="0" marB="0"/>
                </a:tc>
                <a:extLst>
                  <a:ext uri="{0D108BD9-81ED-4DB2-BD59-A6C34878D82A}">
                    <a16:rowId xmlns:a16="http://schemas.microsoft.com/office/drawing/2014/main" val="10004"/>
                  </a:ext>
                </a:extLst>
              </a:tr>
            </a:tbl>
          </a:graphicData>
        </a:graphic>
      </p:graphicFrame>
      <p:sp>
        <p:nvSpPr>
          <p:cNvPr id="5" name="Rectángulo 4"/>
          <p:cNvSpPr/>
          <p:nvPr/>
        </p:nvSpPr>
        <p:spPr>
          <a:xfrm>
            <a:off x="10011307" y="6488668"/>
            <a:ext cx="1943161" cy="369332"/>
          </a:xfrm>
          <a:prstGeom prst="rect">
            <a:avLst/>
          </a:prstGeom>
        </p:spPr>
        <p:txBody>
          <a:bodyPr wrap="none">
            <a:spAutoFit/>
          </a:bodyPr>
          <a:lstStyle/>
          <a:p>
            <a:r>
              <a:rPr lang="es-ES" dirty="0"/>
              <a:t>(</a:t>
            </a:r>
            <a:r>
              <a:rPr lang="es-CO" b="1" dirty="0"/>
              <a:t>Edmonds,2019)</a:t>
            </a:r>
            <a:endParaRPr lang="es-CO" dirty="0"/>
          </a:p>
        </p:txBody>
      </p:sp>
    </p:spTree>
    <p:extLst>
      <p:ext uri="{BB962C8B-B14F-4D97-AF65-F5344CB8AC3E}">
        <p14:creationId xmlns:p14="http://schemas.microsoft.com/office/powerpoint/2010/main" val="259750909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751474" y="403654"/>
            <a:ext cx="8596668" cy="1320800"/>
          </a:xfrm>
        </p:spPr>
        <p:txBody>
          <a:bodyPr/>
          <a:lstStyle/>
          <a:p>
            <a:r>
              <a:rPr lang="es-CO" dirty="0"/>
              <a:t>El propósito de un modelo </a:t>
            </a:r>
          </a:p>
        </p:txBody>
      </p:sp>
      <p:graphicFrame>
        <p:nvGraphicFramePr>
          <p:cNvPr id="4" name="Tabla 3"/>
          <p:cNvGraphicFramePr>
            <a:graphicFrameLocks noGrp="1"/>
          </p:cNvGraphicFramePr>
          <p:nvPr>
            <p:extLst>
              <p:ext uri="{D42A27DB-BD31-4B8C-83A1-F6EECF244321}">
                <p14:modId xmlns:p14="http://schemas.microsoft.com/office/powerpoint/2010/main" val="1089273291"/>
              </p:ext>
            </p:extLst>
          </p:nvPr>
        </p:nvGraphicFramePr>
        <p:xfrm>
          <a:off x="593125" y="1433421"/>
          <a:ext cx="10766853" cy="5022216"/>
        </p:xfrm>
        <a:graphic>
          <a:graphicData uri="http://schemas.openxmlformats.org/drawingml/2006/table">
            <a:tbl>
              <a:tblPr firstRow="1" firstCol="1" bandRow="1">
                <a:tableStyleId>{5C22544A-7EE6-4342-B048-85BDC9FD1C3A}</a:tableStyleId>
              </a:tblPr>
              <a:tblGrid>
                <a:gridCol w="2441398">
                  <a:extLst>
                    <a:ext uri="{9D8B030D-6E8A-4147-A177-3AD203B41FA5}">
                      <a16:colId xmlns:a16="http://schemas.microsoft.com/office/drawing/2014/main" val="20000"/>
                    </a:ext>
                  </a:extLst>
                </a:gridCol>
                <a:gridCol w="4737034">
                  <a:extLst>
                    <a:ext uri="{9D8B030D-6E8A-4147-A177-3AD203B41FA5}">
                      <a16:colId xmlns:a16="http://schemas.microsoft.com/office/drawing/2014/main" val="20001"/>
                    </a:ext>
                  </a:extLst>
                </a:gridCol>
                <a:gridCol w="3588421">
                  <a:extLst>
                    <a:ext uri="{9D8B030D-6E8A-4147-A177-3AD203B41FA5}">
                      <a16:colId xmlns:a16="http://schemas.microsoft.com/office/drawing/2014/main" val="20002"/>
                    </a:ext>
                  </a:extLst>
                </a:gridCol>
              </a:tblGrid>
              <a:tr h="0">
                <a:tc>
                  <a:txBody>
                    <a:bodyPr/>
                    <a:lstStyle/>
                    <a:p>
                      <a:pPr>
                        <a:lnSpc>
                          <a:spcPct val="107000"/>
                        </a:lnSpc>
                        <a:spcAft>
                          <a:spcPts val="0"/>
                        </a:spcAft>
                      </a:pPr>
                      <a:r>
                        <a:rPr lang="es-CO" sz="1400" dirty="0">
                          <a:solidFill>
                            <a:schemeClr val="bg1"/>
                          </a:solidFill>
                          <a:effectLst/>
                        </a:rPr>
                        <a:t>Propósitos de modelado</a:t>
                      </a:r>
                      <a:endParaRPr lang="es-CO" sz="14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txBody>
                  <a:tcPr marL="18319" marR="18319" marT="0" marB="0"/>
                </a:tc>
                <a:tc>
                  <a:txBody>
                    <a:bodyPr/>
                    <a:lstStyle/>
                    <a:p>
                      <a:pPr>
                        <a:lnSpc>
                          <a:spcPct val="107000"/>
                        </a:lnSpc>
                        <a:spcAft>
                          <a:spcPts val="0"/>
                        </a:spcAft>
                      </a:pPr>
                      <a:r>
                        <a:rPr lang="es-CO" sz="1400">
                          <a:solidFill>
                            <a:schemeClr val="bg1"/>
                          </a:solidFill>
                          <a:effectLst/>
                        </a:rPr>
                        <a:t>Motivación</a:t>
                      </a:r>
                      <a:endParaRPr lang="es-CO" sz="140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txBody>
                  <a:tcPr marL="18319" marR="18319" marT="0" marB="0"/>
                </a:tc>
                <a:tc>
                  <a:txBody>
                    <a:bodyPr/>
                    <a:lstStyle/>
                    <a:p>
                      <a:pPr>
                        <a:lnSpc>
                          <a:spcPct val="107000"/>
                        </a:lnSpc>
                        <a:spcAft>
                          <a:spcPts val="0"/>
                        </a:spcAft>
                      </a:pPr>
                      <a:r>
                        <a:rPr lang="es-CO" sz="1400" dirty="0">
                          <a:solidFill>
                            <a:schemeClr val="bg1"/>
                          </a:solidFill>
                          <a:effectLst/>
                        </a:rPr>
                        <a:t>Definición </a:t>
                      </a:r>
                      <a:endParaRPr lang="es-CO" sz="14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txBody>
                  <a:tcPr marL="18319" marR="18319" marT="0" marB="0"/>
                </a:tc>
                <a:extLst>
                  <a:ext uri="{0D108BD9-81ED-4DB2-BD59-A6C34878D82A}">
                    <a16:rowId xmlns:a16="http://schemas.microsoft.com/office/drawing/2014/main" val="10000"/>
                  </a:ext>
                </a:extLst>
              </a:tr>
              <a:tr h="527109">
                <a:tc>
                  <a:txBody>
                    <a:bodyPr/>
                    <a:lstStyle/>
                    <a:p>
                      <a:pPr>
                        <a:lnSpc>
                          <a:spcPct val="107000"/>
                        </a:lnSpc>
                        <a:spcAft>
                          <a:spcPts val="0"/>
                        </a:spcAft>
                      </a:pPr>
                      <a:r>
                        <a:rPr lang="es-ES" sz="1400" dirty="0">
                          <a:solidFill>
                            <a:schemeClr val="bg1"/>
                          </a:solidFill>
                          <a:effectLst/>
                        </a:rPr>
                        <a:t>Ilustración</a:t>
                      </a:r>
                      <a:endParaRPr lang="es-CO" sz="14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txBody>
                  <a:tcPr marL="18319" marR="18319" marT="0" marB="0"/>
                </a:tc>
                <a:tc>
                  <a:txBody>
                    <a:bodyPr/>
                    <a:lstStyle/>
                    <a:p>
                      <a:pPr algn="just">
                        <a:lnSpc>
                          <a:spcPct val="107000"/>
                        </a:lnSpc>
                        <a:spcAft>
                          <a:spcPts val="0"/>
                        </a:spcAft>
                      </a:pPr>
                      <a:r>
                        <a:rPr lang="es-CO" sz="1400" dirty="0">
                          <a:effectLst/>
                        </a:rPr>
                        <a:t>A veces uno quiere aclarar una idea o mostrar que es posible, entonces una ilustración es una buena forma de hacerlo.</a:t>
                      </a:r>
                    </a:p>
                    <a:p>
                      <a:pPr algn="just">
                        <a:lnSpc>
                          <a:spcPct val="107000"/>
                        </a:lnSpc>
                        <a:spcAft>
                          <a:spcPts val="0"/>
                        </a:spcAft>
                      </a:pPr>
                      <a:endParaRPr lang="es-CO" sz="1400" dirty="0">
                        <a:effectLst/>
                      </a:endParaRPr>
                    </a:p>
                    <a:p>
                      <a:pPr algn="just">
                        <a:lnSpc>
                          <a:spcPct val="107000"/>
                        </a:lnSpc>
                        <a:spcAft>
                          <a:spcPts val="0"/>
                        </a:spcAft>
                      </a:pPr>
                      <a:r>
                        <a:rPr lang="es-CO" sz="1400" dirty="0">
                          <a:effectLst/>
                        </a:rPr>
                        <a:t>La ilustración va al corazón del objetivo del modelado formal, ya que es la instanciación de un conjunto de ideas en una</a:t>
                      </a:r>
                      <a:r>
                        <a:rPr lang="es-CO" sz="1400" baseline="0" dirty="0">
                          <a:effectLst/>
                        </a:rPr>
                        <a:t>  </a:t>
                      </a:r>
                      <a:r>
                        <a:rPr lang="es-CO" sz="1400" dirty="0">
                          <a:effectLst/>
                        </a:rPr>
                        <a:t>estructura que puede ser inspeccionada y criticada indefinidamente.</a:t>
                      </a:r>
                      <a:endParaRPr lang="es-CO"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18319" marR="18319" marT="0" marB="0"/>
                </a:tc>
                <a:tc>
                  <a:txBody>
                    <a:bodyPr/>
                    <a:lstStyle/>
                    <a:p>
                      <a:pPr algn="just">
                        <a:lnSpc>
                          <a:spcPct val="107000"/>
                        </a:lnSpc>
                        <a:spcAft>
                          <a:spcPts val="0"/>
                        </a:spcAft>
                      </a:pPr>
                      <a:r>
                        <a:rPr lang="es-CO" sz="1400" dirty="0">
                          <a:effectLst/>
                        </a:rPr>
                        <a:t>Una ilustración es para comunicar o aclarar una idea, teoría o explicación.</a:t>
                      </a:r>
                      <a:endParaRPr lang="es-CO"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18319" marR="18319" marT="0" marB="0"/>
                </a:tc>
                <a:extLst>
                  <a:ext uri="{0D108BD9-81ED-4DB2-BD59-A6C34878D82A}">
                    <a16:rowId xmlns:a16="http://schemas.microsoft.com/office/drawing/2014/main" val="10001"/>
                  </a:ext>
                </a:extLst>
              </a:tr>
              <a:tr h="575028">
                <a:tc>
                  <a:txBody>
                    <a:bodyPr/>
                    <a:lstStyle/>
                    <a:p>
                      <a:pPr>
                        <a:lnSpc>
                          <a:spcPct val="107000"/>
                        </a:lnSpc>
                        <a:spcAft>
                          <a:spcPts val="0"/>
                        </a:spcAft>
                      </a:pPr>
                      <a:r>
                        <a:rPr lang="es-ES" sz="1400">
                          <a:solidFill>
                            <a:schemeClr val="bg1"/>
                          </a:solidFill>
                          <a:effectLst/>
                        </a:rPr>
                        <a:t>Analogía</a:t>
                      </a:r>
                      <a:endParaRPr lang="es-CO" sz="140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txBody>
                  <a:tcPr marL="18319" marR="18319" marT="0" marB="0"/>
                </a:tc>
                <a:tc>
                  <a:txBody>
                    <a:bodyPr/>
                    <a:lstStyle/>
                    <a:p>
                      <a:pPr algn="just">
                        <a:lnSpc>
                          <a:spcPct val="107000"/>
                        </a:lnSpc>
                        <a:spcAft>
                          <a:spcPts val="0"/>
                        </a:spcAft>
                      </a:pPr>
                      <a:r>
                        <a:rPr lang="es-CO" sz="1400" dirty="0">
                          <a:effectLst/>
                        </a:rPr>
                        <a:t>La analogía es una forma poderosa de pensar sobre las cosas. Se aplican las ideas o la estructura de un dominio y</a:t>
                      </a:r>
                    </a:p>
                    <a:p>
                      <a:pPr algn="just">
                        <a:lnSpc>
                          <a:spcPct val="107000"/>
                        </a:lnSpc>
                        <a:spcAft>
                          <a:spcPts val="0"/>
                        </a:spcAft>
                      </a:pPr>
                      <a:r>
                        <a:rPr lang="es-CO" sz="1400" dirty="0">
                          <a:effectLst/>
                        </a:rPr>
                        <a:t>Se  proyecta sobre otro (</a:t>
                      </a:r>
                      <a:r>
                        <a:rPr lang="es-CO" sz="1400" dirty="0" err="1">
                          <a:effectLst/>
                        </a:rPr>
                        <a:t>Hofstadter</a:t>
                      </a:r>
                      <a:r>
                        <a:rPr lang="es-CO" sz="1400" dirty="0">
                          <a:effectLst/>
                        </a:rPr>
                        <a:t> 1995). Esto puede ser especialmente útil para pensar en nuevos o desconocidos fenómenos o como una guía para la dirección de un pensamiento más riguroso</a:t>
                      </a:r>
                      <a:endParaRPr lang="es-CO"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18319" marR="18319" marT="0" marB="0"/>
                </a:tc>
                <a:tc>
                  <a:txBody>
                    <a:bodyPr/>
                    <a:lstStyle/>
                    <a:p>
                      <a:pPr algn="just">
                        <a:lnSpc>
                          <a:spcPct val="107000"/>
                        </a:lnSpc>
                        <a:spcAft>
                          <a:spcPts val="0"/>
                        </a:spcAft>
                      </a:pPr>
                      <a:r>
                        <a:rPr lang="es-CO" sz="1400">
                          <a:effectLst/>
                        </a:rPr>
                        <a:t>Una analogía es cuando los procesos ilustrados por una simulación se usan como una forma de pensar algo de manera informal.</a:t>
                      </a:r>
                      <a:endParaRPr lang="es-CO" sz="1400">
                        <a:effectLst/>
                        <a:latin typeface="Calibri" panose="020F0502020204030204" pitchFamily="34" charset="0"/>
                        <a:ea typeface="Calibri" panose="020F0502020204030204" pitchFamily="34" charset="0"/>
                        <a:cs typeface="Times New Roman" panose="02020603050405020304" pitchFamily="18" charset="0"/>
                      </a:endParaRPr>
                    </a:p>
                  </a:txBody>
                  <a:tcPr marL="18319" marR="18319" marT="0" marB="0"/>
                </a:tc>
                <a:extLst>
                  <a:ext uri="{0D108BD9-81ED-4DB2-BD59-A6C34878D82A}">
                    <a16:rowId xmlns:a16="http://schemas.microsoft.com/office/drawing/2014/main" val="10002"/>
                  </a:ext>
                </a:extLst>
              </a:tr>
              <a:tr h="622947">
                <a:tc>
                  <a:txBody>
                    <a:bodyPr/>
                    <a:lstStyle/>
                    <a:p>
                      <a:pPr>
                        <a:lnSpc>
                          <a:spcPct val="107000"/>
                        </a:lnSpc>
                        <a:spcAft>
                          <a:spcPts val="0"/>
                        </a:spcAft>
                      </a:pPr>
                      <a:r>
                        <a:rPr lang="es-CO" sz="1400" dirty="0">
                          <a:solidFill>
                            <a:schemeClr val="bg1"/>
                          </a:solidFill>
                          <a:effectLst/>
                        </a:rPr>
                        <a:t>Aprendizaje social </a:t>
                      </a:r>
                    </a:p>
                    <a:p>
                      <a:pPr>
                        <a:lnSpc>
                          <a:spcPct val="107000"/>
                        </a:lnSpc>
                        <a:spcAft>
                          <a:spcPts val="0"/>
                        </a:spcAft>
                      </a:pPr>
                      <a:r>
                        <a:rPr lang="es-CO" sz="1400" dirty="0">
                          <a:solidFill>
                            <a:schemeClr val="bg1"/>
                          </a:solidFill>
                          <a:effectLst/>
                        </a:rPr>
                        <a:t> </a:t>
                      </a:r>
                      <a:endParaRPr lang="es-CO" sz="14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txBody>
                  <a:tcPr marL="18319" marR="18319" marT="0" marB="0"/>
                </a:tc>
                <a:tc>
                  <a:txBody>
                    <a:bodyPr/>
                    <a:lstStyle/>
                    <a:p>
                      <a:pPr algn="just" fontAlgn="t">
                        <a:lnSpc>
                          <a:spcPct val="107000"/>
                        </a:lnSpc>
                        <a:spcAft>
                          <a:spcPts val="0"/>
                        </a:spcAft>
                      </a:pPr>
                      <a:r>
                        <a:rPr lang="es-CO" sz="1400" dirty="0">
                          <a:effectLst/>
                        </a:rPr>
                        <a:t>A veces, nuestros modelos no tratan en absoluto del mundo observado, sino que son diseñados para reflejar la visión de un actor de este mundo. En esto</a:t>
                      </a:r>
                      <a:br>
                        <a:rPr lang="es-CO" sz="1400" dirty="0">
                          <a:effectLst/>
                        </a:rPr>
                      </a:br>
                      <a:r>
                        <a:rPr lang="es-CO" sz="1400" dirty="0">
                          <a:effectLst/>
                        </a:rPr>
                        <a:t>caso, el modelo puede actuar como un mediador entre los miembros del grupo y puede resultar en un entendimiento compartido</a:t>
                      </a:r>
                      <a:r>
                        <a:rPr lang="es-CO" sz="1400" baseline="0" dirty="0">
                          <a:effectLst/>
                        </a:rPr>
                        <a:t> </a:t>
                      </a:r>
                      <a:r>
                        <a:rPr lang="es-CO" sz="1400" dirty="0">
                          <a:effectLst/>
                        </a:rPr>
                        <a:t>del mundo </a:t>
                      </a:r>
                    </a:p>
                    <a:p>
                      <a:pPr algn="just">
                        <a:lnSpc>
                          <a:spcPct val="107000"/>
                        </a:lnSpc>
                        <a:spcAft>
                          <a:spcPts val="0"/>
                        </a:spcAft>
                      </a:pPr>
                      <a:r>
                        <a:rPr lang="es-CO" sz="1400" dirty="0">
                          <a:effectLst/>
                        </a:rPr>
                        <a:t> </a:t>
                      </a:r>
                      <a:endParaRPr lang="es-CO"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18319" marR="18319" marT="0" marB="0"/>
                </a:tc>
                <a:tc>
                  <a:txBody>
                    <a:bodyPr/>
                    <a:lstStyle/>
                    <a:p>
                      <a:pPr algn="just">
                        <a:lnSpc>
                          <a:spcPct val="107000"/>
                        </a:lnSpc>
                        <a:spcAft>
                          <a:spcPts val="0"/>
                        </a:spcAft>
                      </a:pPr>
                      <a:r>
                        <a:rPr lang="es-CO" sz="1400" dirty="0">
                          <a:effectLst/>
                        </a:rPr>
                        <a:t>Es una herramienta para el aprendizaje social cuando encapsula una comprensión compartida (o un conjunto de comprensiones)</a:t>
                      </a:r>
                      <a:r>
                        <a:rPr lang="es-CO" sz="1400" baseline="0" dirty="0">
                          <a:effectLst/>
                        </a:rPr>
                        <a:t> </a:t>
                      </a:r>
                      <a:r>
                        <a:rPr lang="es-CO" sz="1400" dirty="0">
                          <a:effectLst/>
                        </a:rPr>
                        <a:t>de un grupo de personas.</a:t>
                      </a:r>
                      <a:endParaRPr lang="es-CO"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18319" marR="18319" marT="0" marB="0"/>
                </a:tc>
                <a:extLst>
                  <a:ext uri="{0D108BD9-81ED-4DB2-BD59-A6C34878D82A}">
                    <a16:rowId xmlns:a16="http://schemas.microsoft.com/office/drawing/2014/main" val="10003"/>
                  </a:ext>
                </a:extLst>
              </a:tr>
            </a:tbl>
          </a:graphicData>
        </a:graphic>
      </p:graphicFrame>
      <p:sp>
        <p:nvSpPr>
          <p:cNvPr id="3" name="Rectángulo 2"/>
          <p:cNvSpPr/>
          <p:nvPr/>
        </p:nvSpPr>
        <p:spPr>
          <a:xfrm>
            <a:off x="10021293" y="6488668"/>
            <a:ext cx="1943161" cy="369332"/>
          </a:xfrm>
          <a:prstGeom prst="rect">
            <a:avLst/>
          </a:prstGeom>
        </p:spPr>
        <p:txBody>
          <a:bodyPr wrap="none">
            <a:spAutoFit/>
          </a:bodyPr>
          <a:lstStyle/>
          <a:p>
            <a:r>
              <a:rPr lang="es-ES" dirty="0"/>
              <a:t>(</a:t>
            </a:r>
            <a:r>
              <a:rPr lang="es-CO" b="1" dirty="0"/>
              <a:t>Edmonds,2019)</a:t>
            </a:r>
            <a:endParaRPr lang="es-CO" dirty="0"/>
          </a:p>
        </p:txBody>
      </p:sp>
    </p:spTree>
    <p:extLst>
      <p:ext uri="{BB962C8B-B14F-4D97-AF65-F5344CB8AC3E}">
        <p14:creationId xmlns:p14="http://schemas.microsoft.com/office/powerpoint/2010/main" val="124776801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77334" y="292100"/>
            <a:ext cx="8596668" cy="1320800"/>
          </a:xfrm>
        </p:spPr>
        <p:txBody>
          <a:bodyPr/>
          <a:lstStyle/>
          <a:p>
            <a:r>
              <a:rPr lang="es-ES" dirty="0"/>
              <a:t>6-Modelacion: Tipos de modelos</a:t>
            </a:r>
          </a:p>
        </p:txBody>
      </p:sp>
      <p:sp>
        <p:nvSpPr>
          <p:cNvPr id="3" name="Marcador de contenido 2"/>
          <p:cNvSpPr>
            <a:spLocks noGrp="1"/>
          </p:cNvSpPr>
          <p:nvPr>
            <p:ph idx="1"/>
          </p:nvPr>
        </p:nvSpPr>
        <p:spPr>
          <a:xfrm>
            <a:off x="486834" y="1157289"/>
            <a:ext cx="10828866" cy="4570411"/>
          </a:xfrm>
        </p:spPr>
        <p:txBody>
          <a:bodyPr>
            <a:noAutofit/>
          </a:bodyPr>
          <a:lstStyle/>
          <a:p>
            <a:pPr algn="just"/>
            <a:r>
              <a:rPr lang="es-ES" sz="2000" u="sng" dirty="0">
                <a:solidFill>
                  <a:srgbClr val="FF0000"/>
                </a:solidFill>
              </a:rPr>
              <a:t>Modelos Físicos: </a:t>
            </a:r>
            <a:r>
              <a:rPr lang="es-ES" sz="2000" dirty="0"/>
              <a:t>Es una representación o copia -generalmente a escala, ya sea mayor o menor- de algún objeto de interés y que permite su examen en diferentes circunstancias.</a:t>
            </a:r>
          </a:p>
          <a:p>
            <a:pPr algn="just"/>
            <a:r>
              <a:rPr lang="es-ES" sz="2000" u="sng" dirty="0">
                <a:solidFill>
                  <a:srgbClr val="FF0000"/>
                </a:solidFill>
              </a:rPr>
              <a:t>Modelos Conceptuales: </a:t>
            </a:r>
            <a:r>
              <a:rPr lang="es-ES" sz="2000" dirty="0"/>
              <a:t>Pueden entenderse como un mapa de conceptos y sus relaciones, incluyendo suposiciones acerca de la naturaleza tanto de los fenómenos como sus relaciones. Estos modelos implican un alto nivel de abstracción, concentrándose en aspectos de categorías semánticas o conceptuales que son considerados fundamentales para la comprensión de lo representado.</a:t>
            </a:r>
          </a:p>
          <a:p>
            <a:pPr algn="just"/>
            <a:r>
              <a:rPr lang="es-ES" sz="2000" u="sng" dirty="0">
                <a:solidFill>
                  <a:srgbClr val="FF0000"/>
                </a:solidFill>
              </a:rPr>
              <a:t>Modelos analógicos:</a:t>
            </a:r>
            <a:r>
              <a:rPr lang="es-ES" sz="2000" dirty="0"/>
              <a:t> Se basan en las analogías que se observan desde el punto de vista del comportamiento de sistemas físicos diferentes que, sin embargo, están regidos por formulaciones matemáticas idénticas</a:t>
            </a:r>
          </a:p>
          <a:p>
            <a:pPr algn="just"/>
            <a:r>
              <a:rPr lang="es-ES" sz="2000" u="sng" dirty="0">
                <a:solidFill>
                  <a:srgbClr val="FF0000"/>
                </a:solidFill>
              </a:rPr>
              <a:t>Modelos gráficos:</a:t>
            </a:r>
            <a:r>
              <a:rPr lang="es-ES" sz="2000" dirty="0"/>
              <a:t> Son la representación de datos, generalmente numéricos, mediante recursos gráficos (tales como líneas, vectores, superficies o símbolos).</a:t>
            </a:r>
          </a:p>
          <a:p>
            <a:pPr algn="just"/>
            <a:r>
              <a:rPr lang="es-ES" sz="2000" u="sng" dirty="0">
                <a:solidFill>
                  <a:srgbClr val="FF0000"/>
                </a:solidFill>
              </a:rPr>
              <a:t>Modelos matemáticos:</a:t>
            </a:r>
            <a:r>
              <a:rPr lang="es-ES" sz="2000" dirty="0">
                <a:solidFill>
                  <a:srgbClr val="FF0000"/>
                </a:solidFill>
              </a:rPr>
              <a:t> </a:t>
            </a:r>
            <a:r>
              <a:rPr lang="es-ES" sz="2000" dirty="0"/>
              <a:t>Busca representar fenómenos o relaciones entre ellos a través de una formulación matemática. </a:t>
            </a:r>
          </a:p>
        </p:txBody>
      </p:sp>
      <p:sp>
        <p:nvSpPr>
          <p:cNvPr id="4" name="Rectángulo 3"/>
          <p:cNvSpPr/>
          <p:nvPr/>
        </p:nvSpPr>
        <p:spPr>
          <a:xfrm>
            <a:off x="863600" y="6488668"/>
            <a:ext cx="9486900" cy="369332"/>
          </a:xfrm>
          <a:prstGeom prst="rect">
            <a:avLst/>
          </a:prstGeom>
        </p:spPr>
        <p:txBody>
          <a:bodyPr wrap="square">
            <a:spAutoFit/>
          </a:bodyPr>
          <a:lstStyle/>
          <a:p>
            <a:r>
              <a:rPr lang="es-ES" dirty="0"/>
              <a:t>http://www.tiposde.org/ciencias-exactas/415-tipos-de-modelos-cientificos/</a:t>
            </a:r>
          </a:p>
        </p:txBody>
      </p:sp>
    </p:spTree>
    <p:extLst>
      <p:ext uri="{BB962C8B-B14F-4D97-AF65-F5344CB8AC3E}">
        <p14:creationId xmlns:p14="http://schemas.microsoft.com/office/powerpoint/2010/main" val="34344120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677334" y="1093789"/>
            <a:ext cx="10562166" cy="3880773"/>
          </a:xfrm>
        </p:spPr>
        <p:txBody>
          <a:bodyPr>
            <a:noAutofit/>
          </a:bodyPr>
          <a:lstStyle/>
          <a:p>
            <a:pPr marL="0" indent="0" algn="just" fontAlgn="base">
              <a:buNone/>
            </a:pPr>
            <a:r>
              <a:rPr lang="es-ES" sz="2000" u="sng" dirty="0">
                <a:solidFill>
                  <a:srgbClr val="FF0000"/>
                </a:solidFill>
              </a:rPr>
              <a:t>Modelos matemáticos:</a:t>
            </a:r>
            <a:endParaRPr lang="es-ES" sz="2000" b="1" dirty="0"/>
          </a:p>
          <a:p>
            <a:pPr algn="just" fontAlgn="base"/>
            <a:r>
              <a:rPr lang="es-ES" sz="2000" b="1" dirty="0">
                <a:solidFill>
                  <a:srgbClr val="FF0000"/>
                </a:solidFill>
              </a:rPr>
              <a:t>Modelos deterministas</a:t>
            </a:r>
            <a:r>
              <a:rPr lang="es-ES" sz="2000" dirty="0">
                <a:solidFill>
                  <a:srgbClr val="FF0000"/>
                </a:solidFill>
              </a:rPr>
              <a:t>: </a:t>
            </a:r>
            <a:r>
              <a:rPr lang="es-ES" sz="2000" dirty="0"/>
              <a:t>los modelos deterministas cuentan con la particularidad de que los datos empleados y el fenómeno estudiado se conocen de manera total. es decir que las fórmulas utilizadas son de tal exactitud, que lograrán obtener un resultado preciso. por ejemplo, la ley de gravitación formulada por newton.</a:t>
            </a:r>
          </a:p>
          <a:p>
            <a:pPr algn="just" fontAlgn="base"/>
            <a:r>
              <a:rPr lang="es-ES" sz="2000" b="1" dirty="0">
                <a:solidFill>
                  <a:srgbClr val="FF0000"/>
                </a:solidFill>
              </a:rPr>
              <a:t>Modelos numéricos</a:t>
            </a:r>
            <a:r>
              <a:rPr lang="es-ES" sz="2000" dirty="0">
                <a:solidFill>
                  <a:srgbClr val="FF0000"/>
                </a:solidFill>
              </a:rPr>
              <a:t>: </a:t>
            </a:r>
            <a:r>
              <a:rPr lang="es-ES" sz="2000" dirty="0"/>
              <a:t>aquí las circunstancias de inicio y la realidad física son simbolizadas por medio de una serie numérica.  con la aplicación de un método específico se adquiere un resultado también de carácter numérico que proporciona las consecuencias o derivaciones de las condiciones dadas al principio.</a:t>
            </a:r>
          </a:p>
          <a:p>
            <a:pPr algn="just" fontAlgn="base"/>
            <a:r>
              <a:rPr lang="es-ES" sz="2000" b="1" dirty="0">
                <a:solidFill>
                  <a:srgbClr val="FF0000"/>
                </a:solidFill>
              </a:rPr>
              <a:t>Modelos estocástico</a:t>
            </a:r>
            <a:r>
              <a:rPr lang="es-ES" sz="2000" dirty="0">
                <a:solidFill>
                  <a:srgbClr val="FF0000"/>
                </a:solidFill>
              </a:rPr>
              <a:t>: </a:t>
            </a:r>
            <a:r>
              <a:rPr lang="es-ES" sz="2000" dirty="0"/>
              <a:t>a diferencia de los modelos deterministas, en esta clase de modelo no se conocen los datos con exactitud, de manera que se observa un cierto grado de incertidumbre. como consecuencia, el resultado obtenido representara una probabilidad y no una certeza total.</a:t>
            </a:r>
          </a:p>
          <a:p>
            <a:pPr algn="just" fontAlgn="base"/>
            <a:br>
              <a:rPr lang="es-ES" sz="2000" dirty="0"/>
            </a:br>
            <a:br>
              <a:rPr lang="es-ES" sz="2000" dirty="0"/>
            </a:br>
            <a:endParaRPr lang="es-ES" sz="2000" dirty="0"/>
          </a:p>
        </p:txBody>
      </p:sp>
      <p:sp>
        <p:nvSpPr>
          <p:cNvPr id="5" name="Rectángulo 4"/>
          <p:cNvSpPr/>
          <p:nvPr/>
        </p:nvSpPr>
        <p:spPr>
          <a:xfrm>
            <a:off x="1028700" y="6384262"/>
            <a:ext cx="9486900" cy="369332"/>
          </a:xfrm>
          <a:prstGeom prst="rect">
            <a:avLst/>
          </a:prstGeom>
        </p:spPr>
        <p:txBody>
          <a:bodyPr wrap="square">
            <a:spAutoFit/>
          </a:bodyPr>
          <a:lstStyle/>
          <a:p>
            <a:r>
              <a:rPr lang="es-ES" dirty="0"/>
              <a:t>http://www.tiposde.org/ciencias-exactas/415-tipos-de-modelos-cientificos/</a:t>
            </a:r>
          </a:p>
        </p:txBody>
      </p:sp>
      <p:sp>
        <p:nvSpPr>
          <p:cNvPr id="7" name="Título 1"/>
          <p:cNvSpPr txBox="1">
            <a:spLocks/>
          </p:cNvSpPr>
          <p:nvPr/>
        </p:nvSpPr>
        <p:spPr>
          <a:xfrm>
            <a:off x="677334" y="292100"/>
            <a:ext cx="8596668" cy="1320800"/>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s-ES"/>
              <a:t>6-Modelacion: Tipos de modelos</a:t>
            </a:r>
            <a:endParaRPr lang="es-ES" dirty="0"/>
          </a:p>
        </p:txBody>
      </p:sp>
    </p:spTree>
    <p:extLst>
      <p:ext uri="{BB962C8B-B14F-4D97-AF65-F5344CB8AC3E}">
        <p14:creationId xmlns:p14="http://schemas.microsoft.com/office/powerpoint/2010/main" val="149161506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728134" y="0"/>
            <a:ext cx="8596668" cy="1320800"/>
          </a:xfrm>
        </p:spPr>
        <p:txBody>
          <a:bodyPr/>
          <a:lstStyle/>
          <a:p>
            <a:pPr algn="ctr"/>
            <a:r>
              <a:rPr lang="es-ES" dirty="0"/>
              <a:t>Formato para  guiar la construcción de la metodología </a:t>
            </a:r>
          </a:p>
        </p:txBody>
      </p:sp>
      <p:graphicFrame>
        <p:nvGraphicFramePr>
          <p:cNvPr id="4" name="Marcador de contenido 3"/>
          <p:cNvGraphicFramePr>
            <a:graphicFrameLocks noGrp="1"/>
          </p:cNvGraphicFramePr>
          <p:nvPr>
            <p:ph idx="1"/>
            <p:extLst>
              <p:ext uri="{D42A27DB-BD31-4B8C-83A1-F6EECF244321}">
                <p14:modId xmlns:p14="http://schemas.microsoft.com/office/powerpoint/2010/main" val="2465911018"/>
              </p:ext>
            </p:extLst>
          </p:nvPr>
        </p:nvGraphicFramePr>
        <p:xfrm>
          <a:off x="728491" y="1320800"/>
          <a:ext cx="9876010" cy="4722492"/>
        </p:xfrm>
        <a:graphic>
          <a:graphicData uri="http://schemas.openxmlformats.org/drawingml/2006/table">
            <a:tbl>
              <a:tblPr firstRow="1" bandRow="1">
                <a:tableStyleId>{5C22544A-7EE6-4342-B048-85BDC9FD1C3A}</a:tableStyleId>
              </a:tblPr>
              <a:tblGrid>
                <a:gridCol w="2425003">
                  <a:extLst>
                    <a:ext uri="{9D8B030D-6E8A-4147-A177-3AD203B41FA5}">
                      <a16:colId xmlns:a16="http://schemas.microsoft.com/office/drawing/2014/main" val="20000"/>
                    </a:ext>
                  </a:extLst>
                </a:gridCol>
                <a:gridCol w="2601001">
                  <a:extLst>
                    <a:ext uri="{9D8B030D-6E8A-4147-A177-3AD203B41FA5}">
                      <a16:colId xmlns:a16="http://schemas.microsoft.com/office/drawing/2014/main" val="4251926974"/>
                    </a:ext>
                  </a:extLst>
                </a:gridCol>
                <a:gridCol w="2601001">
                  <a:extLst>
                    <a:ext uri="{9D8B030D-6E8A-4147-A177-3AD203B41FA5}">
                      <a16:colId xmlns:a16="http://schemas.microsoft.com/office/drawing/2014/main" val="20001"/>
                    </a:ext>
                  </a:extLst>
                </a:gridCol>
                <a:gridCol w="2249005">
                  <a:extLst>
                    <a:ext uri="{9D8B030D-6E8A-4147-A177-3AD203B41FA5}">
                      <a16:colId xmlns:a16="http://schemas.microsoft.com/office/drawing/2014/main" val="20002"/>
                    </a:ext>
                  </a:extLst>
                </a:gridCol>
              </a:tblGrid>
              <a:tr h="634682">
                <a:tc>
                  <a:txBody>
                    <a:bodyPr/>
                    <a:lstStyle/>
                    <a:p>
                      <a:pPr algn="ctr"/>
                      <a:r>
                        <a:rPr lang="es-ES" dirty="0">
                          <a:solidFill>
                            <a:schemeClr val="bg1"/>
                          </a:solidFill>
                        </a:rPr>
                        <a:t>Objetivo específicos</a:t>
                      </a:r>
                    </a:p>
                  </a:txBody>
                  <a:tcPr/>
                </a:tc>
                <a:tc>
                  <a:txBody>
                    <a:bodyPr/>
                    <a:lstStyle/>
                    <a:p>
                      <a:pPr algn="ctr"/>
                      <a:r>
                        <a:rPr lang="es-ES" sz="1800" b="1" kern="1200" dirty="0">
                          <a:solidFill>
                            <a:schemeClr val="bg1"/>
                          </a:solidFill>
                          <a:latin typeface="+mn-lt"/>
                          <a:ea typeface="+mn-ea"/>
                          <a:cs typeface="+mn-cs"/>
                        </a:rPr>
                        <a:t>Metodología</a:t>
                      </a:r>
                    </a:p>
                  </a:txBody>
                  <a:tcPr/>
                </a:tc>
                <a:tc>
                  <a:txBody>
                    <a:bodyPr/>
                    <a:lstStyle/>
                    <a:p>
                      <a:pPr algn="ctr"/>
                      <a:r>
                        <a:rPr lang="es-ES" dirty="0">
                          <a:solidFill>
                            <a:schemeClr val="bg1"/>
                          </a:solidFill>
                        </a:rPr>
                        <a:t>Cómo se logra el objetivo, Secuencia</a:t>
                      </a:r>
                      <a:r>
                        <a:rPr lang="es-ES" baseline="0" dirty="0">
                          <a:solidFill>
                            <a:schemeClr val="bg1"/>
                          </a:solidFill>
                        </a:rPr>
                        <a:t> de actividades</a:t>
                      </a:r>
                      <a:endParaRPr lang="es-ES" dirty="0">
                        <a:solidFill>
                          <a:schemeClr val="bg1"/>
                        </a:solidFill>
                      </a:endParaRPr>
                    </a:p>
                  </a:txBody>
                  <a:tcPr/>
                </a:tc>
                <a:tc>
                  <a:txBody>
                    <a:bodyPr/>
                    <a:lstStyle/>
                    <a:p>
                      <a:pPr algn="ctr"/>
                      <a:r>
                        <a:rPr lang="es-ES" dirty="0">
                          <a:solidFill>
                            <a:schemeClr val="bg1"/>
                          </a:solidFill>
                        </a:rPr>
                        <a:t>Resultado de la actividad </a:t>
                      </a:r>
                    </a:p>
                  </a:txBody>
                  <a:tcPr/>
                </a:tc>
                <a:extLst>
                  <a:ext uri="{0D108BD9-81ED-4DB2-BD59-A6C34878D82A}">
                    <a16:rowId xmlns:a16="http://schemas.microsoft.com/office/drawing/2014/main" val="10000"/>
                  </a:ext>
                </a:extLst>
              </a:tr>
              <a:tr h="634682">
                <a:tc rowSpan="2">
                  <a:txBody>
                    <a:bodyPr/>
                    <a:lstStyle/>
                    <a:p>
                      <a:r>
                        <a:rPr lang="es-ES" dirty="0">
                          <a:solidFill>
                            <a:schemeClr val="bg1"/>
                          </a:solidFill>
                        </a:rPr>
                        <a:t>Objetivo</a:t>
                      </a:r>
                      <a:r>
                        <a:rPr lang="es-ES" baseline="0" dirty="0">
                          <a:solidFill>
                            <a:schemeClr val="bg1"/>
                          </a:solidFill>
                        </a:rPr>
                        <a:t> específico 1</a:t>
                      </a:r>
                      <a:endParaRPr lang="es-ES" dirty="0">
                        <a:solidFill>
                          <a:schemeClr val="bg1"/>
                        </a:solidFill>
                      </a:endParaRPr>
                    </a:p>
                  </a:txBody>
                  <a:tcPr/>
                </a:tc>
                <a:tc rowSpan="2">
                  <a:txBody>
                    <a:bodyPr/>
                    <a:lstStyle/>
                    <a:p>
                      <a:endParaRPr lang="es-ES" dirty="0">
                        <a:solidFill>
                          <a:schemeClr val="bg1"/>
                        </a:solidFill>
                      </a:endParaRPr>
                    </a:p>
                  </a:txBody>
                  <a:tcPr/>
                </a:tc>
                <a:tc>
                  <a:txBody>
                    <a:bodyPr/>
                    <a:lstStyle/>
                    <a:p>
                      <a:r>
                        <a:rPr lang="es-ES" dirty="0">
                          <a:solidFill>
                            <a:schemeClr val="bg1"/>
                          </a:solidFill>
                        </a:rPr>
                        <a:t>………</a:t>
                      </a:r>
                    </a:p>
                  </a:txBody>
                  <a:tcPr/>
                </a:tc>
                <a:tc>
                  <a:txBody>
                    <a:bodyPr/>
                    <a:lstStyle/>
                    <a:p>
                      <a:endParaRPr lang="es-ES" dirty="0">
                        <a:solidFill>
                          <a:schemeClr val="bg1"/>
                        </a:solidFill>
                      </a:endParaRPr>
                    </a:p>
                  </a:txBody>
                  <a:tcPr/>
                </a:tc>
                <a:extLst>
                  <a:ext uri="{0D108BD9-81ED-4DB2-BD59-A6C34878D82A}">
                    <a16:rowId xmlns:a16="http://schemas.microsoft.com/office/drawing/2014/main" val="10001"/>
                  </a:ext>
                </a:extLst>
              </a:tr>
              <a:tr h="634682">
                <a:tc vMerge="1">
                  <a:txBody>
                    <a:bodyPr/>
                    <a:lstStyle/>
                    <a:p>
                      <a:endParaRPr lang="es-ES" dirty="0">
                        <a:solidFill>
                          <a:schemeClr val="bg1"/>
                        </a:solidFill>
                      </a:endParaRPr>
                    </a:p>
                  </a:txBody>
                  <a:tcPr/>
                </a:tc>
                <a:tc vMerge="1">
                  <a:txBody>
                    <a:bodyPr/>
                    <a:lstStyle/>
                    <a:p>
                      <a:endParaRPr lang="es-ES" dirty="0">
                        <a:solidFill>
                          <a:schemeClr val="bg1"/>
                        </a:solidFill>
                      </a:endParaRPr>
                    </a:p>
                  </a:txBody>
                  <a:tcPr/>
                </a:tc>
                <a:tc>
                  <a:txBody>
                    <a:bodyPr/>
                    <a:lstStyle/>
                    <a:p>
                      <a:r>
                        <a:rPr lang="es-ES" dirty="0">
                          <a:solidFill>
                            <a:schemeClr val="bg1"/>
                          </a:solidFill>
                        </a:rPr>
                        <a:t>……..</a:t>
                      </a:r>
                    </a:p>
                  </a:txBody>
                  <a:tcPr/>
                </a:tc>
                <a:tc>
                  <a:txBody>
                    <a:bodyPr/>
                    <a:lstStyle/>
                    <a:p>
                      <a:endParaRPr lang="es-ES">
                        <a:solidFill>
                          <a:schemeClr val="bg1"/>
                        </a:solidFill>
                      </a:endParaRPr>
                    </a:p>
                  </a:txBody>
                  <a:tcPr/>
                </a:tc>
                <a:extLst>
                  <a:ext uri="{0D108BD9-81ED-4DB2-BD59-A6C34878D82A}">
                    <a16:rowId xmlns:a16="http://schemas.microsoft.com/office/drawing/2014/main" val="10002"/>
                  </a:ext>
                </a:extLst>
              </a:tr>
              <a:tr h="634682">
                <a:tc rowSpan="2">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s-ES" dirty="0">
                          <a:solidFill>
                            <a:schemeClr val="bg1"/>
                          </a:solidFill>
                        </a:rPr>
                        <a:t>Objetivo</a:t>
                      </a:r>
                      <a:r>
                        <a:rPr lang="es-ES" baseline="0" dirty="0">
                          <a:solidFill>
                            <a:schemeClr val="bg1"/>
                          </a:solidFill>
                        </a:rPr>
                        <a:t> específico 2</a:t>
                      </a:r>
                      <a:endParaRPr lang="es-ES" dirty="0">
                        <a:solidFill>
                          <a:schemeClr val="bg1"/>
                        </a:solidFill>
                      </a:endParaRPr>
                    </a:p>
                    <a:p>
                      <a:endParaRPr lang="es-ES" dirty="0">
                        <a:solidFill>
                          <a:schemeClr val="bg1"/>
                        </a:solidFill>
                      </a:endParaRPr>
                    </a:p>
                  </a:txBody>
                  <a:tcPr/>
                </a:tc>
                <a:tc rowSpan="2">
                  <a:txBody>
                    <a:bodyPr/>
                    <a:lstStyle/>
                    <a:p>
                      <a:endParaRPr lang="es-ES" dirty="0">
                        <a:solidFill>
                          <a:schemeClr val="bg1"/>
                        </a:solidFill>
                      </a:endParaRPr>
                    </a:p>
                  </a:txBody>
                  <a:tcPr/>
                </a:tc>
                <a:tc>
                  <a:txBody>
                    <a:bodyPr/>
                    <a:lstStyle/>
                    <a:p>
                      <a:r>
                        <a:rPr lang="es-ES" dirty="0">
                          <a:solidFill>
                            <a:schemeClr val="bg1"/>
                          </a:solidFill>
                        </a:rPr>
                        <a:t>………</a:t>
                      </a:r>
                    </a:p>
                  </a:txBody>
                  <a:tcPr/>
                </a:tc>
                <a:tc>
                  <a:txBody>
                    <a:bodyPr/>
                    <a:lstStyle/>
                    <a:p>
                      <a:endParaRPr lang="es-ES" dirty="0">
                        <a:solidFill>
                          <a:schemeClr val="bg1"/>
                        </a:solidFill>
                      </a:endParaRPr>
                    </a:p>
                  </a:txBody>
                  <a:tcPr/>
                </a:tc>
                <a:extLst>
                  <a:ext uri="{0D108BD9-81ED-4DB2-BD59-A6C34878D82A}">
                    <a16:rowId xmlns:a16="http://schemas.microsoft.com/office/drawing/2014/main" val="10003"/>
                  </a:ext>
                </a:extLst>
              </a:tr>
              <a:tr h="634682">
                <a:tc vMerge="1">
                  <a:txBody>
                    <a:bodyPr/>
                    <a:lstStyle/>
                    <a:p>
                      <a:endParaRPr lang="es-ES" dirty="0">
                        <a:solidFill>
                          <a:schemeClr val="bg1"/>
                        </a:solidFill>
                      </a:endParaRPr>
                    </a:p>
                  </a:txBody>
                  <a:tcPr/>
                </a:tc>
                <a:tc vMerge="1">
                  <a:txBody>
                    <a:bodyPr/>
                    <a:lstStyle/>
                    <a:p>
                      <a:endParaRPr lang="es-ES" dirty="0">
                        <a:solidFill>
                          <a:schemeClr val="bg1"/>
                        </a:solidFill>
                      </a:endParaRPr>
                    </a:p>
                  </a:txBody>
                  <a:tcPr/>
                </a:tc>
                <a:tc>
                  <a:txBody>
                    <a:bodyPr/>
                    <a:lstStyle/>
                    <a:p>
                      <a:r>
                        <a:rPr lang="es-ES" dirty="0">
                          <a:solidFill>
                            <a:schemeClr val="bg1"/>
                          </a:solidFill>
                        </a:rPr>
                        <a:t>……..</a:t>
                      </a:r>
                    </a:p>
                  </a:txBody>
                  <a:tcPr/>
                </a:tc>
                <a:tc>
                  <a:txBody>
                    <a:bodyPr/>
                    <a:lstStyle/>
                    <a:p>
                      <a:endParaRPr lang="es-ES" dirty="0">
                        <a:solidFill>
                          <a:schemeClr val="bg1"/>
                        </a:solidFill>
                      </a:endParaRPr>
                    </a:p>
                  </a:txBody>
                  <a:tcPr/>
                </a:tc>
                <a:extLst>
                  <a:ext uri="{0D108BD9-81ED-4DB2-BD59-A6C34878D82A}">
                    <a16:rowId xmlns:a16="http://schemas.microsoft.com/office/drawing/2014/main" val="10004"/>
                  </a:ext>
                </a:extLst>
              </a:tr>
              <a:tr h="634682">
                <a:tc rowSpan="2">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s-ES" dirty="0">
                          <a:solidFill>
                            <a:schemeClr val="bg1"/>
                          </a:solidFill>
                        </a:rPr>
                        <a:t>Objetivo</a:t>
                      </a:r>
                      <a:r>
                        <a:rPr lang="es-ES" baseline="0" dirty="0">
                          <a:solidFill>
                            <a:schemeClr val="bg1"/>
                          </a:solidFill>
                        </a:rPr>
                        <a:t> específico 3</a:t>
                      </a:r>
                      <a:endParaRPr lang="es-ES" dirty="0">
                        <a:solidFill>
                          <a:schemeClr val="bg1"/>
                        </a:solidFill>
                      </a:endParaRPr>
                    </a:p>
                    <a:p>
                      <a:endParaRPr lang="es-ES" dirty="0">
                        <a:solidFill>
                          <a:schemeClr val="bg1"/>
                        </a:solidFill>
                      </a:endParaRPr>
                    </a:p>
                  </a:txBody>
                  <a:tcPr/>
                </a:tc>
                <a:tc rowSpan="2">
                  <a:txBody>
                    <a:bodyPr/>
                    <a:lstStyle/>
                    <a:p>
                      <a:endParaRPr lang="es-ES" dirty="0">
                        <a:solidFill>
                          <a:schemeClr val="bg1"/>
                        </a:solidFill>
                      </a:endParaRPr>
                    </a:p>
                  </a:txBody>
                  <a:tcPr/>
                </a:tc>
                <a:tc>
                  <a:txBody>
                    <a:bodyPr/>
                    <a:lstStyle/>
                    <a:p>
                      <a:r>
                        <a:rPr lang="es-ES" dirty="0">
                          <a:solidFill>
                            <a:schemeClr val="bg1"/>
                          </a:solidFill>
                        </a:rPr>
                        <a:t>………</a:t>
                      </a:r>
                    </a:p>
                  </a:txBody>
                  <a:tcPr/>
                </a:tc>
                <a:tc>
                  <a:txBody>
                    <a:bodyPr/>
                    <a:lstStyle/>
                    <a:p>
                      <a:endParaRPr lang="es-ES" dirty="0">
                        <a:solidFill>
                          <a:schemeClr val="bg1"/>
                        </a:solidFill>
                      </a:endParaRPr>
                    </a:p>
                  </a:txBody>
                  <a:tcPr/>
                </a:tc>
                <a:extLst>
                  <a:ext uri="{0D108BD9-81ED-4DB2-BD59-A6C34878D82A}">
                    <a16:rowId xmlns:a16="http://schemas.microsoft.com/office/drawing/2014/main" val="10005"/>
                  </a:ext>
                </a:extLst>
              </a:tr>
              <a:tr h="634682">
                <a:tc vMerge="1">
                  <a:txBody>
                    <a:bodyPr/>
                    <a:lstStyle/>
                    <a:p>
                      <a:endParaRPr lang="es-ES" dirty="0">
                        <a:solidFill>
                          <a:schemeClr val="bg1"/>
                        </a:solidFill>
                      </a:endParaRPr>
                    </a:p>
                  </a:txBody>
                  <a:tcPr/>
                </a:tc>
                <a:tc vMerge="1">
                  <a:txBody>
                    <a:bodyPr/>
                    <a:lstStyle/>
                    <a:p>
                      <a:endParaRPr lang="es-ES" dirty="0">
                        <a:solidFill>
                          <a:schemeClr val="bg1"/>
                        </a:solidFill>
                      </a:endParaRPr>
                    </a:p>
                  </a:txBody>
                  <a:tcPr/>
                </a:tc>
                <a:tc>
                  <a:txBody>
                    <a:bodyPr/>
                    <a:lstStyle/>
                    <a:p>
                      <a:r>
                        <a:rPr lang="es-ES" dirty="0">
                          <a:solidFill>
                            <a:schemeClr val="bg1"/>
                          </a:solidFill>
                        </a:rPr>
                        <a:t>……..</a:t>
                      </a:r>
                    </a:p>
                  </a:txBody>
                  <a:tcPr/>
                </a:tc>
                <a:tc>
                  <a:txBody>
                    <a:bodyPr/>
                    <a:lstStyle/>
                    <a:p>
                      <a:endParaRPr lang="es-ES" dirty="0">
                        <a:solidFill>
                          <a:schemeClr val="bg1"/>
                        </a:solidFill>
                      </a:endParaRPr>
                    </a:p>
                  </a:txBody>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59580992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CO" dirty="0"/>
              <a:t>REFERENCIAS </a:t>
            </a:r>
          </a:p>
        </p:txBody>
      </p:sp>
      <p:sp>
        <p:nvSpPr>
          <p:cNvPr id="3" name="Marcador de contenido 2"/>
          <p:cNvSpPr>
            <a:spLocks noGrp="1"/>
          </p:cNvSpPr>
          <p:nvPr>
            <p:ph idx="1"/>
          </p:nvPr>
        </p:nvSpPr>
        <p:spPr>
          <a:xfrm>
            <a:off x="677334" y="1930400"/>
            <a:ext cx="9097731" cy="3880773"/>
          </a:xfrm>
        </p:spPr>
        <p:txBody>
          <a:bodyPr/>
          <a:lstStyle/>
          <a:p>
            <a:r>
              <a:rPr lang="es-ES" dirty="0"/>
              <a:t>Arenas, W (2012), </a:t>
            </a:r>
            <a:r>
              <a:rPr lang="es-CO" dirty="0"/>
              <a:t>“</a:t>
            </a:r>
            <a:r>
              <a:rPr lang="es-ES" dirty="0"/>
              <a:t>Metodología de la investigación</a:t>
            </a:r>
            <a:r>
              <a:rPr lang="es-CO" dirty="0"/>
              <a:t>”, </a:t>
            </a:r>
            <a:r>
              <a:rPr lang="es-ES" dirty="0">
                <a:hlinkClick r:id="rId2"/>
              </a:rPr>
              <a:t>https://es.slideshare.net/</a:t>
            </a:r>
            <a:r>
              <a:rPr lang="es-ES" dirty="0" err="1">
                <a:hlinkClick r:id="rId2"/>
              </a:rPr>
              <a:t>marthaiparraguirre</a:t>
            </a:r>
            <a:r>
              <a:rPr lang="es-ES" dirty="0">
                <a:hlinkClick r:id="rId2"/>
              </a:rPr>
              <a:t>/</a:t>
            </a:r>
            <a:r>
              <a:rPr lang="es-ES" dirty="0" err="1">
                <a:hlinkClick r:id="rId2"/>
              </a:rPr>
              <a:t>metododologia</a:t>
            </a:r>
            <a:r>
              <a:rPr lang="es-ES" dirty="0">
                <a:hlinkClick r:id="rId2"/>
              </a:rPr>
              <a:t>-de-la-</a:t>
            </a:r>
            <a:r>
              <a:rPr lang="es-ES" dirty="0" err="1">
                <a:hlinkClick r:id="rId2"/>
              </a:rPr>
              <a:t>investigacion</a:t>
            </a:r>
            <a:r>
              <a:rPr lang="es-ES" dirty="0">
                <a:hlinkClick r:id="rId2"/>
              </a:rPr>
              <a:t>-</a:t>
            </a:r>
            <a:r>
              <a:rPr lang="es-ES" dirty="0" err="1">
                <a:hlinkClick r:id="rId2"/>
              </a:rPr>
              <a:t>pptç</a:t>
            </a:r>
            <a:endParaRPr lang="es-ES" dirty="0"/>
          </a:p>
          <a:p>
            <a:r>
              <a:rPr lang="es-CO" dirty="0"/>
              <a:t>B. </a:t>
            </a:r>
            <a:r>
              <a:rPr lang="es-CO" dirty="0" err="1"/>
              <a:t>Edmonds</a:t>
            </a:r>
            <a:r>
              <a:rPr lang="es-CO" dirty="0"/>
              <a:t>, C. Le Page, M. </a:t>
            </a:r>
            <a:r>
              <a:rPr lang="es-CO" dirty="0" err="1"/>
              <a:t>Bithell</a:t>
            </a:r>
            <a:r>
              <a:rPr lang="es-CO" dirty="0"/>
              <a:t>, V. Grimm, R. Meyer, C. </a:t>
            </a:r>
            <a:r>
              <a:rPr lang="es-CO" dirty="0" err="1"/>
              <a:t>Montañola</a:t>
            </a:r>
            <a:r>
              <a:rPr lang="es-CO" dirty="0"/>
              <a:t>-, P. </a:t>
            </a:r>
            <a:r>
              <a:rPr lang="es-CO" dirty="0" err="1"/>
              <a:t>Ormerod</a:t>
            </a:r>
            <a:r>
              <a:rPr lang="es-CO" dirty="0"/>
              <a:t>, H. </a:t>
            </a:r>
            <a:r>
              <a:rPr lang="es-CO" dirty="0" err="1"/>
              <a:t>Root</a:t>
            </a:r>
            <a:r>
              <a:rPr lang="es-CO" dirty="0"/>
              <a:t>, and F. </a:t>
            </a:r>
            <a:r>
              <a:rPr lang="es-CO" dirty="0" err="1"/>
              <a:t>Squazzoni</a:t>
            </a:r>
            <a:r>
              <a:rPr lang="es-CO" dirty="0"/>
              <a:t>, (2019),“</a:t>
            </a:r>
            <a:r>
              <a:rPr lang="es-CO" dirty="0" err="1"/>
              <a:t>Diferent</a:t>
            </a:r>
            <a:r>
              <a:rPr lang="es-CO" dirty="0"/>
              <a:t> </a:t>
            </a:r>
            <a:r>
              <a:rPr lang="es-CO" dirty="0" err="1"/>
              <a:t>Modelling</a:t>
            </a:r>
            <a:r>
              <a:rPr lang="es-CO" dirty="0"/>
              <a:t> </a:t>
            </a:r>
            <a:r>
              <a:rPr lang="es-CO" dirty="0" err="1"/>
              <a:t>Purposes</a:t>
            </a:r>
            <a:r>
              <a:rPr lang="es-CO" dirty="0"/>
              <a:t>,”.</a:t>
            </a:r>
            <a:endParaRPr lang="es-ES" dirty="0"/>
          </a:p>
          <a:p>
            <a:r>
              <a:rPr lang="es-ES" dirty="0"/>
              <a:t>HERNÁNDEZ SAMPIERI R. y otros. (2006). </a:t>
            </a:r>
            <a:r>
              <a:rPr lang="es-CO" dirty="0"/>
              <a:t>“</a:t>
            </a:r>
            <a:r>
              <a:rPr lang="es-ES" dirty="0"/>
              <a:t>Metodología de la Investigación</a:t>
            </a:r>
            <a:r>
              <a:rPr lang="es-CO" dirty="0"/>
              <a:t>”</a:t>
            </a:r>
            <a:r>
              <a:rPr lang="es-ES" dirty="0"/>
              <a:t>. Cuarta Edición. Editorial Me Graw Hill, México ‘</a:t>
            </a:r>
          </a:p>
          <a:p>
            <a:r>
              <a:rPr lang="es-CO" dirty="0"/>
              <a:t>C.R </a:t>
            </a:r>
            <a:r>
              <a:rPr lang="es-CO" dirty="0" err="1"/>
              <a:t>Kothari</a:t>
            </a:r>
            <a:r>
              <a:rPr lang="es-CO" dirty="0"/>
              <a:t>. “</a:t>
            </a:r>
            <a:r>
              <a:rPr lang="es-CO" dirty="0" err="1"/>
              <a:t>Research</a:t>
            </a:r>
            <a:r>
              <a:rPr lang="es-CO" dirty="0"/>
              <a:t> </a:t>
            </a:r>
            <a:r>
              <a:rPr lang="es-CO" dirty="0" err="1"/>
              <a:t>Methodology</a:t>
            </a:r>
            <a:r>
              <a:rPr lang="es-CO" dirty="0"/>
              <a:t> ”. (2004). Recuperado de: modares.ac.ir.</a:t>
            </a:r>
          </a:p>
          <a:p>
            <a:pPr lvl="0"/>
            <a:r>
              <a:rPr lang="es-ES" dirty="0"/>
              <a:t>Eduardo Méndez, Rodrigo Vélez Bedoya. Metodología Diseño y desarrollo del Proceso de investigación. McGraw-Hill, 2001.</a:t>
            </a:r>
            <a:endParaRPr lang="es-CO" dirty="0"/>
          </a:p>
          <a:p>
            <a:endParaRPr lang="es-CO" dirty="0"/>
          </a:p>
          <a:p>
            <a:endParaRPr lang="es-CO" dirty="0"/>
          </a:p>
        </p:txBody>
      </p:sp>
    </p:spTree>
    <p:extLst>
      <p:ext uri="{BB962C8B-B14F-4D97-AF65-F5344CB8AC3E}">
        <p14:creationId xmlns:p14="http://schemas.microsoft.com/office/powerpoint/2010/main" val="163136581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http://ejemplosde.com.mx/wp-content/uploads/2012/02/Justificaci%C3%B3n.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55975" y="893762"/>
            <a:ext cx="5381625" cy="461282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65479760"/>
      </p:ext>
    </p:extLst>
  </p:cSld>
  <p:clrMapOvr>
    <a:masterClrMapping/>
  </p:clrMapOvr>
</p:sld>
</file>

<file path=ppt/theme/theme1.xml><?xml version="1.0" encoding="utf-8"?>
<a:theme xmlns:a="http://schemas.openxmlformats.org/drawingml/2006/main" name="Faceta">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8C59B386-999D-4CB6-B907-9F3997C027CC}"/>
    </a:ext>
  </a:extLst>
</a:theme>
</file>

<file path=docProps/app.xml><?xml version="1.0" encoding="utf-8"?>
<Properties xmlns="http://schemas.openxmlformats.org/officeDocument/2006/extended-properties" xmlns:vt="http://schemas.openxmlformats.org/officeDocument/2006/docPropsVTypes">
  <Template>Facet</Template>
  <TotalTime>1309</TotalTime>
  <Words>3088</Words>
  <Application>Microsoft Office PowerPoint</Application>
  <PresentationFormat>Widescreen</PresentationFormat>
  <Paragraphs>249</Paragraphs>
  <Slides>37</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37</vt:i4>
      </vt:variant>
    </vt:vector>
  </HeadingPairs>
  <TitlesOfParts>
    <vt:vector size="44" baseType="lpstr">
      <vt:lpstr>Arial</vt:lpstr>
      <vt:lpstr>Calibri</vt:lpstr>
      <vt:lpstr>Symbol</vt:lpstr>
      <vt:lpstr>Times New Roman</vt:lpstr>
      <vt:lpstr>Trebuchet MS</vt:lpstr>
      <vt:lpstr>Wingdings 3</vt:lpstr>
      <vt:lpstr>Faceta</vt:lpstr>
      <vt:lpstr>METODOLOGÍA DE LA INVESTIGACIÓN</vt:lpstr>
      <vt:lpstr>INTRODUCCIÓN </vt:lpstr>
      <vt:lpstr>INTRODUCCIÓN</vt:lpstr>
      <vt:lpstr>INTRODUCCIÓN</vt:lpstr>
      <vt:lpstr>INTRODUCCIÓN</vt:lpstr>
      <vt:lpstr>¿Por qué utilizar una  metodología ?</vt:lpstr>
      <vt:lpstr>Métodos Cuantitativos-Métodos Cualitativos </vt:lpstr>
      <vt:lpstr>Método científico </vt:lpstr>
      <vt:lpstr>Método Científico-Mario Bunge</vt:lpstr>
      <vt:lpstr>Métodos científico Roberto Hernández y otros </vt:lpstr>
      <vt:lpstr>Tipos de métodos </vt:lpstr>
      <vt:lpstr>1-Los métodos empíricos</vt:lpstr>
      <vt:lpstr>1-Los métodos empíricos</vt:lpstr>
      <vt:lpstr>2-Los métodos estadísticos</vt:lpstr>
      <vt:lpstr>2-Los métodos estadísticos</vt:lpstr>
      <vt:lpstr>2-Los métodos estadísticos</vt:lpstr>
      <vt:lpstr>3-Método de inducción-deducción</vt:lpstr>
      <vt:lpstr>3-Método de inducción-deducción</vt:lpstr>
      <vt:lpstr>3-Método de inducción-deducción</vt:lpstr>
      <vt:lpstr>3-Método de inducción-deducción</vt:lpstr>
      <vt:lpstr>PowerPoint Presentation</vt:lpstr>
      <vt:lpstr>3-Método de inducción-deducción</vt:lpstr>
      <vt:lpstr>4-Método de análisis-síntesis</vt:lpstr>
      <vt:lpstr>PowerPoint Presentation</vt:lpstr>
      <vt:lpstr>PowerPoint Presentation</vt:lpstr>
      <vt:lpstr>PowerPoint Presentation</vt:lpstr>
      <vt:lpstr>PowerPoint Presentation</vt:lpstr>
      <vt:lpstr>5-Método Hipotético – Deductivo</vt:lpstr>
      <vt:lpstr>6-Modelacion</vt:lpstr>
      <vt:lpstr>El propósito de un modelo </vt:lpstr>
      <vt:lpstr>El propósito de un modelo </vt:lpstr>
      <vt:lpstr>El propósito de un modelo </vt:lpstr>
      <vt:lpstr>6-Modelacion: Tipos de modelos</vt:lpstr>
      <vt:lpstr>PowerPoint Presentation</vt:lpstr>
      <vt:lpstr>Formato para  guiar la construcción de la metodología </vt:lpstr>
      <vt:lpstr>REFERENCIAS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HIPÓTESIS DE LA INVESTIGACIÓN</dc:title>
  <dc:creator>Ernesto</dc:creator>
  <cp:lastModifiedBy>Norbey Muñoz</cp:lastModifiedBy>
  <cp:revision>62</cp:revision>
  <dcterms:created xsi:type="dcterms:W3CDTF">2015-10-09T13:44:11Z</dcterms:created>
  <dcterms:modified xsi:type="dcterms:W3CDTF">2026-08-10T23:04:04Z</dcterms:modified>
</cp:coreProperties>
</file>
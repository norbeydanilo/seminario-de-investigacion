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80" r:id="rId3"/>
    <p:sldId id="259" r:id="rId4"/>
    <p:sldId id="261" r:id="rId5"/>
    <p:sldId id="262" r:id="rId6"/>
    <p:sldId id="257" r:id="rId7"/>
    <p:sldId id="258" r:id="rId8"/>
    <p:sldId id="260" r:id="rId9"/>
    <p:sldId id="276" r:id="rId10"/>
    <p:sldId id="279" r:id="rId11"/>
    <p:sldId id="263" r:id="rId12"/>
    <p:sldId id="264" r:id="rId13"/>
    <p:sldId id="281" r:id="rId14"/>
    <p:sldId id="282" r:id="rId15"/>
    <p:sldId id="266" r:id="rId16"/>
    <p:sldId id="277" r:id="rId17"/>
    <p:sldId id="267" r:id="rId18"/>
    <p:sldId id="268" r:id="rId19"/>
    <p:sldId id="265" r:id="rId20"/>
    <p:sldId id="270" r:id="rId21"/>
    <p:sldId id="271" r:id="rId22"/>
    <p:sldId id="272" r:id="rId23"/>
    <p:sldId id="269" r:id="rId24"/>
    <p:sldId id="273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CF5F7F-B5F4-4591-9072-DFD5AE2D8F06}" v="1" dt="2026-06-13T16:58:03.6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44" autoAdjust="0"/>
    <p:restoredTop sz="94660"/>
  </p:normalViewPr>
  <p:slideViewPr>
    <p:cSldViewPr snapToGrid="0">
      <p:cViewPr>
        <p:scale>
          <a:sx n="110" d="100"/>
          <a:sy n="110" d="100"/>
        </p:scale>
        <p:origin x="902" y="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rbey Muñoz" userId="b7e811e8891ccd42" providerId="LiveId" clId="{2482167B-ADD3-4E68-AB8B-ADE9CECE27D0}"/>
    <pc:docChg chg="delSld modSld">
      <pc:chgData name="Norbey Muñoz" userId="b7e811e8891ccd42" providerId="LiveId" clId="{2482167B-ADD3-4E68-AB8B-ADE9CECE27D0}" dt="2026-06-13T17:00:59.408" v="13" actId="47"/>
      <pc:docMkLst>
        <pc:docMk/>
      </pc:docMkLst>
      <pc:sldChg chg="delSp modSp mod">
        <pc:chgData name="Norbey Muñoz" userId="b7e811e8891ccd42" providerId="LiveId" clId="{2482167B-ADD3-4E68-AB8B-ADE9CECE27D0}" dt="2026-06-13T16:58:08.381" v="3" actId="20577"/>
        <pc:sldMkLst>
          <pc:docMk/>
          <pc:sldMk cId="1341775348" sldId="256"/>
        </pc:sldMkLst>
        <pc:spChg chg="mod">
          <ac:chgData name="Norbey Muñoz" userId="b7e811e8891ccd42" providerId="LiveId" clId="{2482167B-ADD3-4E68-AB8B-ADE9CECE27D0}" dt="2026-06-13T16:58:02.355" v="0" actId="20577"/>
          <ac:spMkLst>
            <pc:docMk/>
            <pc:sldMk cId="1341775348" sldId="256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6-13T16:58:08.381" v="3" actId="20577"/>
          <ac:spMkLst>
            <pc:docMk/>
            <pc:sldMk cId="1341775348" sldId="256"/>
            <ac:spMk id="5" creationId="{00000000-0000-0000-0000-000000000000}"/>
          </ac:spMkLst>
        </pc:spChg>
        <pc:picChg chg="del">
          <ac:chgData name="Norbey Muñoz" userId="b7e811e8891ccd42" providerId="LiveId" clId="{2482167B-ADD3-4E68-AB8B-ADE9CECE27D0}" dt="2026-06-13T16:58:03.658" v="1" actId="478"/>
          <ac:picMkLst>
            <pc:docMk/>
            <pc:sldMk cId="1341775348" sldId="256"/>
            <ac:picMk id="4" creationId="{00000000-0000-0000-0000-000000000000}"/>
          </ac:picMkLst>
        </pc:picChg>
      </pc:sldChg>
      <pc:sldChg chg="modSp mod">
        <pc:chgData name="Norbey Muñoz" userId="b7e811e8891ccd42" providerId="LiveId" clId="{2482167B-ADD3-4E68-AB8B-ADE9CECE27D0}" dt="2026-06-13T16:59:23.148" v="12" actId="20577"/>
        <pc:sldMkLst>
          <pc:docMk/>
          <pc:sldMk cId="3611200397" sldId="257"/>
        </pc:sldMkLst>
        <pc:spChg chg="mod">
          <ac:chgData name="Norbey Muñoz" userId="b7e811e8891ccd42" providerId="LiveId" clId="{2482167B-ADD3-4E68-AB8B-ADE9CECE27D0}" dt="2026-06-13T16:59:23.148" v="12" actId="20577"/>
          <ac:spMkLst>
            <pc:docMk/>
            <pc:sldMk cId="3611200397" sldId="257"/>
            <ac:spMk id="2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6-13T16:59:04.351" v="10" actId="20577"/>
        <pc:sldMkLst>
          <pc:docMk/>
          <pc:sldMk cId="3600378709" sldId="261"/>
        </pc:sldMkLst>
        <pc:spChg chg="mod">
          <ac:chgData name="Norbey Muñoz" userId="b7e811e8891ccd42" providerId="LiveId" clId="{2482167B-ADD3-4E68-AB8B-ADE9CECE27D0}" dt="2026-06-13T16:59:04.351" v="10" actId="20577"/>
          <ac:spMkLst>
            <pc:docMk/>
            <pc:sldMk cId="3600378709" sldId="261"/>
            <ac:spMk id="2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6-13T16:59:18.229" v="11" actId="20577"/>
        <pc:sldMkLst>
          <pc:docMk/>
          <pc:sldMk cId="2840260355" sldId="262"/>
        </pc:sldMkLst>
        <pc:spChg chg="mod">
          <ac:chgData name="Norbey Muñoz" userId="b7e811e8891ccd42" providerId="LiveId" clId="{2482167B-ADD3-4E68-AB8B-ADE9CECE27D0}" dt="2026-06-13T16:59:18.229" v="11" actId="20577"/>
          <ac:spMkLst>
            <pc:docMk/>
            <pc:sldMk cId="2840260355" sldId="262"/>
            <ac:spMk id="2" creationId="{00000000-0000-0000-0000-000000000000}"/>
          </ac:spMkLst>
        </pc:spChg>
      </pc:sldChg>
      <pc:sldChg chg="del">
        <pc:chgData name="Norbey Muñoz" userId="b7e811e8891ccd42" providerId="LiveId" clId="{2482167B-ADD3-4E68-AB8B-ADE9CECE27D0}" dt="2026-06-13T17:00:59.408" v="13" actId="47"/>
        <pc:sldMkLst>
          <pc:docMk/>
          <pc:sldMk cId="3303186226" sldId="274"/>
        </pc:sldMkLst>
      </pc:sldChg>
      <pc:sldChg chg="modSp mod">
        <pc:chgData name="Norbey Muñoz" userId="b7e811e8891ccd42" providerId="LiveId" clId="{2482167B-ADD3-4E68-AB8B-ADE9CECE27D0}" dt="2026-06-13T16:58:41.322" v="9" actId="122"/>
        <pc:sldMkLst>
          <pc:docMk/>
          <pc:sldMk cId="3360854919" sldId="280"/>
        </pc:sldMkLst>
        <pc:graphicFrameChg chg="modGraphic">
          <ac:chgData name="Norbey Muñoz" userId="b7e811e8891ccd42" providerId="LiveId" clId="{2482167B-ADD3-4E68-AB8B-ADE9CECE27D0}" dt="2026-06-13T16:58:41.322" v="9" actId="122"/>
          <ac:graphicFrameMkLst>
            <pc:docMk/>
            <pc:sldMk cId="3360854919" sldId="280"/>
            <ac:graphicFrameMk id="4" creationId="{00000000-0000-0000-0000-00000000000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6/13/2026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6/13/2026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6/13/2026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6/13/2026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6/13/2026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6/13/2026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96DFF08F-DC6B-4601-B491-B0F83F6DD2DA}" type="datetimeFigureOut">
              <a:rPr lang="en-US" dirty="0"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El problema de investigación</a:t>
            </a:r>
          </a:p>
        </p:txBody>
      </p:sp>
      <p:sp>
        <p:nvSpPr>
          <p:cNvPr id="5" name="Rectángulo 4"/>
          <p:cNvSpPr/>
          <p:nvPr/>
        </p:nvSpPr>
        <p:spPr>
          <a:xfrm>
            <a:off x="1668088" y="4225118"/>
            <a:ext cx="8390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dirty="0"/>
              <a:t>SEMINARIO DE INVESTIGACIÓN</a:t>
            </a:r>
          </a:p>
        </p:txBody>
      </p:sp>
    </p:spTree>
    <p:extLst>
      <p:ext uri="{BB962C8B-B14F-4D97-AF65-F5344CB8AC3E}">
        <p14:creationId xmlns:p14="http://schemas.microsoft.com/office/powerpoint/2010/main" val="1341775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 preguntas claves-EN LA PROPUESTA </a:t>
            </a:r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2647682"/>
              </p:ext>
            </p:extLst>
          </p:nvPr>
        </p:nvGraphicFramePr>
        <p:xfrm>
          <a:off x="1905821" y="1986119"/>
          <a:ext cx="8001060" cy="35190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2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8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7907">
                <a:tc>
                  <a:txBody>
                    <a:bodyPr/>
                    <a:lstStyle/>
                    <a:p>
                      <a:pPr algn="ctr"/>
                      <a:r>
                        <a:rPr lang="es-CO" dirty="0">
                          <a:solidFill>
                            <a:schemeClr val="bg1"/>
                          </a:solidFill>
                        </a:rPr>
                        <a:t>Pregunta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>
                          <a:solidFill>
                            <a:schemeClr val="bg1"/>
                          </a:solidFill>
                        </a:rPr>
                        <a:t>Respuesta</a:t>
                      </a:r>
                      <a:r>
                        <a:rPr lang="es-CO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es-CO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907">
                <a:tc>
                  <a:txBody>
                    <a:bodyPr/>
                    <a:lstStyle/>
                    <a:p>
                      <a:pPr algn="just"/>
                      <a:r>
                        <a:rPr lang="es-CO" dirty="0"/>
                        <a:t>¿Qué se sabe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dirty="0"/>
                        <a:t>Revisión sistemática- </a:t>
                      </a:r>
                      <a:r>
                        <a:rPr lang="es-CO" b="1" dirty="0">
                          <a:solidFill>
                            <a:srgbClr val="FF0000"/>
                          </a:solidFill>
                        </a:rPr>
                        <a:t>Estado del arte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907">
                <a:tc>
                  <a:txBody>
                    <a:bodyPr/>
                    <a:lstStyle/>
                    <a:p>
                      <a:pPr algn="just"/>
                      <a:r>
                        <a:rPr lang="es-CO" dirty="0"/>
                        <a:t>¿Qué no se sabe?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ES" b="1" dirty="0">
                          <a:solidFill>
                            <a:schemeClr val="bg1"/>
                          </a:solidFill>
                        </a:rPr>
                        <a:t>¿Cuál es el vacío de conocimiento o situación no resuelta? –</a:t>
                      </a:r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Problema de investigación </a:t>
                      </a:r>
                      <a:endParaRPr lang="es-CO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907">
                <a:tc>
                  <a:txBody>
                    <a:bodyPr/>
                    <a:lstStyle/>
                    <a:p>
                      <a:pPr algn="just"/>
                      <a:r>
                        <a:rPr lang="es-CO" dirty="0"/>
                        <a:t>¿Qué se puede llegar a saber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ES" b="1" dirty="0">
                          <a:solidFill>
                            <a:schemeClr val="bg1"/>
                          </a:solidFill>
                        </a:rPr>
                        <a:t>¿cuál es la probabilidad de solucionarlo a través de nuevo conocimiento?- </a:t>
                      </a:r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Problema de investigación -Pregunta de investigación </a:t>
                      </a:r>
                      <a:endParaRPr lang="es-CO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907">
                <a:tc>
                  <a:txBody>
                    <a:bodyPr/>
                    <a:lstStyle/>
                    <a:p>
                      <a:pPr algn="just"/>
                      <a:r>
                        <a:rPr lang="es-CO" dirty="0"/>
                        <a:t>¿Por qué es importante saberlo 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Razones que originan la necesidad de investigar.</a:t>
                      </a:r>
                      <a:endParaRPr lang="es-CO" dirty="0"/>
                    </a:p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dirty="0"/>
                        <a:t>Justificación (Teórica, práctica, metodológica) </a:t>
                      </a:r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Problema de investigación </a:t>
                      </a:r>
                      <a:r>
                        <a:rPr lang="es-CO" baseline="0" dirty="0"/>
                        <a:t> 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Rectángulo 2"/>
          <p:cNvSpPr/>
          <p:nvPr/>
        </p:nvSpPr>
        <p:spPr>
          <a:xfrm>
            <a:off x="698051" y="5666328"/>
            <a:ext cx="1079381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000" dirty="0">
                <a:solidFill>
                  <a:srgbClr val="000000"/>
                </a:solidFill>
                <a:latin typeface="Calibri" panose="020F0502020204030204" pitchFamily="34" charset="0"/>
              </a:rPr>
              <a:t>Episteme de ciencias de ingeniería: la Ingeniería como conjunto de conocimientos científicos y tecnológicos debe permitir la innovación, invención, desarrollo y mejora de técnicas y herramientas para satisfacer las necesidades de la sociedad. 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3360854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dirty="0"/>
              <a:t>PROBLEMA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66700" y="2011680"/>
            <a:ext cx="11239500" cy="4206240"/>
          </a:xfrm>
        </p:spPr>
        <p:txBody>
          <a:bodyPr>
            <a:noAutofit/>
          </a:bodyPr>
          <a:lstStyle/>
          <a:p>
            <a:pPr algn="just"/>
            <a:r>
              <a:rPr lang="es-ES" sz="2400" b="1" i="1" dirty="0">
                <a:solidFill>
                  <a:schemeClr val="bg1"/>
                </a:solidFill>
              </a:rPr>
              <a:t>Problema es un procedimiento dialéctico que tiende a la elección o al rechazo o también a la verdad y al conocimiento </a:t>
            </a:r>
            <a:r>
              <a:rPr lang="es-ES" sz="2400" b="1" dirty="0">
                <a:solidFill>
                  <a:schemeClr val="bg1"/>
                </a:solidFill>
              </a:rPr>
              <a:t>(Aristóteles).</a:t>
            </a:r>
            <a:endParaRPr lang="es-ES" sz="2400" b="1" i="1" dirty="0">
              <a:solidFill>
                <a:schemeClr val="bg1"/>
              </a:solidFill>
            </a:endParaRPr>
          </a:p>
          <a:p>
            <a:pPr algn="just"/>
            <a:r>
              <a:rPr lang="es-ES" sz="2400" b="1" i="1" dirty="0">
                <a:solidFill>
                  <a:schemeClr val="bg1"/>
                </a:solidFill>
              </a:rPr>
              <a:t>La situación no resuelta o indeterminada podría llamarse situación “problemática”; se hace problemática en el momento mismo de ser sometida a investigación. El resultado primero de la intervención de la investigación es que se estima que la situación es Problemática </a:t>
            </a:r>
            <a:r>
              <a:rPr lang="es-ES" sz="2400" b="1" dirty="0">
                <a:solidFill>
                  <a:schemeClr val="bg1"/>
                </a:solidFill>
              </a:rPr>
              <a:t>(Dewey).</a:t>
            </a:r>
          </a:p>
          <a:p>
            <a:pPr algn="just"/>
            <a:r>
              <a:rPr lang="es-ES" sz="2400" b="1" i="1" dirty="0">
                <a:solidFill>
                  <a:schemeClr val="bg1"/>
                </a:solidFill>
              </a:rPr>
              <a:t>Problemas son proposiciones demostrativas que necesitan pruebas o son tales como para expresar una acción cuyo modo de realización no es inmediatamente cierto </a:t>
            </a:r>
            <a:r>
              <a:rPr lang="es-ES" sz="2400" b="1" dirty="0">
                <a:solidFill>
                  <a:schemeClr val="bg1"/>
                </a:solidFill>
              </a:rPr>
              <a:t>(Kant).</a:t>
            </a:r>
          </a:p>
          <a:p>
            <a:pPr algn="just"/>
            <a:r>
              <a:rPr lang="es-ES" sz="2400" b="1" i="1" dirty="0">
                <a:solidFill>
                  <a:schemeClr val="bg1"/>
                </a:solidFill>
              </a:rPr>
              <a:t>Problema es el desacuerdo entre los pensamientos y los hechos o el desacuerdo de los pensamientos entre sí </a:t>
            </a:r>
            <a:r>
              <a:rPr lang="es-ES" sz="2400" b="1" dirty="0">
                <a:solidFill>
                  <a:schemeClr val="bg1"/>
                </a:solidFill>
              </a:rPr>
              <a:t>(Mach).</a:t>
            </a:r>
          </a:p>
        </p:txBody>
      </p:sp>
    </p:spTree>
    <p:extLst>
      <p:ext uri="{BB962C8B-B14F-4D97-AF65-F5344CB8AC3E}">
        <p14:creationId xmlns:p14="http://schemas.microsoft.com/office/powerpoint/2010/main" val="774712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¿Qué es?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66700" y="2011680"/>
            <a:ext cx="11239500" cy="42062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800" dirty="0">
                <a:solidFill>
                  <a:schemeClr val="bg1"/>
                </a:solidFill>
                <a:latin typeface="Calibri" panose="020F0502020204030204" pitchFamily="34" charset="0"/>
              </a:rPr>
              <a:t>Poner por escrito las razones por las que hay que realizar la investigación. </a:t>
            </a:r>
            <a:br>
              <a:rPr lang="es-ES" sz="2800" dirty="0">
                <a:solidFill>
                  <a:schemeClr val="bg1"/>
                </a:solidFill>
                <a:latin typeface="Calibri" panose="020F0502020204030204" pitchFamily="34" charset="0"/>
              </a:rPr>
            </a:br>
            <a:endParaRPr lang="es-ES" sz="2800" dirty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lvl="1"/>
            <a:r>
              <a:rPr lang="es-ES" sz="2800" dirty="0">
                <a:solidFill>
                  <a:schemeClr val="bg1"/>
                </a:solidFill>
                <a:latin typeface="Calibri" panose="020F0502020204030204" pitchFamily="34" charset="0"/>
              </a:rPr>
              <a:t>Indicar viabilidad y duración probable.</a:t>
            </a:r>
          </a:p>
          <a:p>
            <a:pPr lvl="1"/>
            <a:r>
              <a:rPr lang="es-ES" sz="2800" dirty="0">
                <a:solidFill>
                  <a:schemeClr val="bg1"/>
                </a:solidFill>
                <a:latin typeface="Calibri" panose="020F0502020204030204" pitchFamily="34" charset="0"/>
              </a:rPr>
              <a:t>Justificación de la necesidad de hacer la investigación (</a:t>
            </a:r>
            <a:r>
              <a:rPr lang="es-CO" sz="2800" dirty="0">
                <a:solidFill>
                  <a:schemeClr val="bg1"/>
                </a:solidFill>
              </a:rPr>
              <a:t>Teórica, práctica, metodológica). </a:t>
            </a:r>
            <a:r>
              <a:rPr lang="es-ES" sz="2800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</a:p>
          <a:p>
            <a:pPr lvl="1"/>
            <a:r>
              <a:rPr lang="es-ES" sz="2800" dirty="0">
                <a:solidFill>
                  <a:schemeClr val="bg1"/>
                </a:solidFill>
                <a:latin typeface="Calibri" panose="020F0502020204030204" pitchFamily="34" charset="0"/>
              </a:rPr>
              <a:t>Razones que originan la necesidad de investigar.</a:t>
            </a:r>
          </a:p>
          <a:p>
            <a:pPr lvl="1"/>
            <a:r>
              <a:rPr lang="es-ES" sz="2800" dirty="0">
                <a:solidFill>
                  <a:schemeClr val="bg1"/>
                </a:solidFill>
                <a:latin typeface="Calibri" panose="020F0502020204030204" pitchFamily="34" charset="0"/>
              </a:rPr>
              <a:t>Planteamiento de preguntas.</a:t>
            </a:r>
          </a:p>
          <a:p>
            <a:pPr lvl="1"/>
            <a:r>
              <a:rPr lang="es-ES" sz="2800" dirty="0">
                <a:solidFill>
                  <a:schemeClr val="bg1"/>
                </a:solidFill>
                <a:latin typeface="Calibri" panose="020F0502020204030204" pitchFamily="34" charset="0"/>
              </a:rPr>
              <a:t>Debe referenciar investigaciones anteriores que brinden bases solidadas a la nueva investigación.</a:t>
            </a:r>
          </a:p>
          <a:p>
            <a:pPr algn="just"/>
            <a:endParaRPr lang="es-E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0378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¿Qué es?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66700" y="2011680"/>
            <a:ext cx="11239500" cy="4206240"/>
          </a:xfrm>
        </p:spPr>
        <p:txBody>
          <a:bodyPr>
            <a:noAutofit/>
          </a:bodyPr>
          <a:lstStyle/>
          <a:p>
            <a:pPr algn="just"/>
            <a:r>
              <a:rPr lang="es-ES_tradnl" altLang="es-CO" sz="2800" b="1" dirty="0">
                <a:solidFill>
                  <a:schemeClr val="bg1"/>
                </a:solidFill>
              </a:rPr>
              <a:t>Es importantes destacar que el planteamiento del problema equivale a lo que es el objeto del conocimiento científico, por lo tanto la palabra problema  no se refiere a que el investigador debe buscar situaciones desfavorables.</a:t>
            </a:r>
            <a:endParaRPr lang="es-ES" sz="2800" b="1" dirty="0">
              <a:solidFill>
                <a:schemeClr val="bg1"/>
              </a:solidFill>
            </a:endParaRPr>
          </a:p>
          <a:p>
            <a:pPr algn="just"/>
            <a:r>
              <a:rPr lang="es-ES" sz="2800" b="1" dirty="0">
                <a:solidFill>
                  <a:schemeClr val="bg1"/>
                </a:solidFill>
              </a:rPr>
              <a:t>Tipos de Problema</a:t>
            </a:r>
          </a:p>
          <a:p>
            <a:pPr lvl="2" algn="just"/>
            <a:r>
              <a:rPr lang="es-ES" sz="2800" b="1" dirty="0">
                <a:solidFill>
                  <a:srgbClr val="FF0000"/>
                </a:solidFill>
              </a:rPr>
              <a:t>Teórico: </a:t>
            </a:r>
            <a:r>
              <a:rPr lang="es-ES" sz="2800" b="1" dirty="0">
                <a:solidFill>
                  <a:schemeClr val="bg1"/>
                </a:solidFill>
              </a:rPr>
              <a:t>Generación de nuevo conocimiento. </a:t>
            </a:r>
          </a:p>
          <a:p>
            <a:pPr lvl="2" algn="just"/>
            <a:r>
              <a:rPr lang="es-ES" sz="2800" b="1" dirty="0">
                <a:solidFill>
                  <a:srgbClr val="FF0000"/>
                </a:solidFill>
              </a:rPr>
              <a:t>Prácticos: </a:t>
            </a:r>
            <a:r>
              <a:rPr lang="es-ES" sz="2800" b="1" dirty="0">
                <a:solidFill>
                  <a:schemeClr val="bg1"/>
                </a:solidFill>
              </a:rPr>
              <a:t>Con objetivos destinados al progreso. </a:t>
            </a:r>
          </a:p>
          <a:p>
            <a:pPr lvl="2" algn="just"/>
            <a:r>
              <a:rPr lang="es-ES" sz="2800" b="1" dirty="0">
                <a:solidFill>
                  <a:srgbClr val="FF0000"/>
                </a:solidFill>
              </a:rPr>
              <a:t>Teórico-Prácticos: </a:t>
            </a:r>
            <a:r>
              <a:rPr lang="es-ES" sz="2800" b="1" dirty="0">
                <a:solidFill>
                  <a:schemeClr val="bg1"/>
                </a:solidFill>
              </a:rPr>
              <a:t>Generación de nuevo conocimiento en la solución de problemas de la práctica. </a:t>
            </a:r>
          </a:p>
        </p:txBody>
      </p:sp>
    </p:spTree>
    <p:extLst>
      <p:ext uri="{BB962C8B-B14F-4D97-AF65-F5344CB8AC3E}">
        <p14:creationId xmlns:p14="http://schemas.microsoft.com/office/powerpoint/2010/main" val="2840260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¿Qué es?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s-ES" sz="2800" b="1" dirty="0">
                <a:solidFill>
                  <a:schemeClr val="bg1"/>
                </a:solidFill>
              </a:rPr>
              <a:t>El problema de investigación adquiere distintos sentidos según los fines que se plantee el equipo investigador:</a:t>
            </a:r>
          </a:p>
          <a:p>
            <a:r>
              <a:rPr lang="es-ES" sz="2800" b="1" dirty="0">
                <a:solidFill>
                  <a:schemeClr val="bg1"/>
                </a:solidFill>
              </a:rPr>
              <a:t>Como una </a:t>
            </a:r>
            <a:r>
              <a:rPr lang="es-ES" sz="2800" b="1" i="1" dirty="0">
                <a:solidFill>
                  <a:schemeClr val="bg1"/>
                </a:solidFill>
              </a:rPr>
              <a:t>dificultad </a:t>
            </a:r>
            <a:r>
              <a:rPr lang="es-ES" sz="2800" b="1" dirty="0">
                <a:solidFill>
                  <a:schemeClr val="bg1"/>
                </a:solidFill>
              </a:rPr>
              <a:t>u </a:t>
            </a:r>
            <a:r>
              <a:rPr lang="es-ES" sz="2800" b="1" i="1" dirty="0">
                <a:solidFill>
                  <a:schemeClr val="bg1"/>
                </a:solidFill>
              </a:rPr>
              <a:t>obstáculo </a:t>
            </a:r>
            <a:r>
              <a:rPr lang="es-ES" sz="2800" b="1" dirty="0">
                <a:solidFill>
                  <a:schemeClr val="bg1"/>
                </a:solidFill>
              </a:rPr>
              <a:t>que desconcierta a los investigadores. </a:t>
            </a:r>
          </a:p>
          <a:p>
            <a:r>
              <a:rPr lang="es-ES" sz="2800" b="1" dirty="0">
                <a:solidFill>
                  <a:schemeClr val="bg1"/>
                </a:solidFill>
              </a:rPr>
              <a:t>Como una </a:t>
            </a:r>
            <a:r>
              <a:rPr lang="es-ES" sz="2800" b="1" i="1" dirty="0">
                <a:solidFill>
                  <a:schemeClr val="bg1"/>
                </a:solidFill>
              </a:rPr>
              <a:t>pregunta </a:t>
            </a:r>
            <a:r>
              <a:rPr lang="es-ES" sz="2800" b="1" dirty="0">
                <a:solidFill>
                  <a:schemeClr val="bg1"/>
                </a:solidFill>
              </a:rPr>
              <a:t>que el investigador se plantea de cara a la comprensión y explicación de un fenómeno de naturaleza educativo y social.</a:t>
            </a:r>
          </a:p>
          <a:p>
            <a:r>
              <a:rPr lang="es-ES" sz="2800" b="1" dirty="0">
                <a:solidFill>
                  <a:schemeClr val="bg1"/>
                </a:solidFill>
              </a:rPr>
              <a:t>Como una </a:t>
            </a:r>
            <a:r>
              <a:rPr lang="es-ES" sz="2800" b="1" i="1" dirty="0">
                <a:solidFill>
                  <a:schemeClr val="bg1"/>
                </a:solidFill>
              </a:rPr>
              <a:t>situación </a:t>
            </a:r>
            <a:r>
              <a:rPr lang="es-ES" sz="2800" b="1" dirty="0">
                <a:solidFill>
                  <a:schemeClr val="bg1"/>
                </a:solidFill>
              </a:rPr>
              <a:t>que el investigador considera como susceptible de cambio o mejora. </a:t>
            </a:r>
            <a:endParaRPr lang="es-ES" sz="2800" dirty="0"/>
          </a:p>
          <a:p>
            <a:pPr marL="0" indent="0" algn="r">
              <a:buNone/>
            </a:pPr>
            <a:r>
              <a:rPr lang="es-ES" sz="2800" dirty="0"/>
              <a:t>(</a:t>
            </a:r>
            <a:r>
              <a:rPr lang="es-ES" sz="2800" i="1" dirty="0"/>
              <a:t>F. Javier Murillo )</a:t>
            </a:r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3611200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Fuentes</a:t>
            </a:r>
            <a:r>
              <a:rPr lang="es-ES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202918" y="2011680"/>
            <a:ext cx="10265181" cy="4206240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s-ES" sz="2800" dirty="0"/>
          </a:p>
          <a:p>
            <a:r>
              <a:rPr lang="es-ES" sz="2800" b="1" dirty="0">
                <a:solidFill>
                  <a:schemeClr val="bg1"/>
                </a:solidFill>
              </a:rPr>
              <a:t>La experiencia derivada de los problemas observados en los diversos ámbitos de la educación. </a:t>
            </a:r>
          </a:p>
          <a:p>
            <a:r>
              <a:rPr lang="es-ES" sz="2800" b="1" dirty="0">
                <a:solidFill>
                  <a:schemeClr val="bg1"/>
                </a:solidFill>
              </a:rPr>
              <a:t>Las innovaciones tecnológicas, los cambios sociales. </a:t>
            </a:r>
          </a:p>
          <a:p>
            <a:r>
              <a:rPr lang="es-ES" sz="2800" b="1" dirty="0">
                <a:solidFill>
                  <a:schemeClr val="bg1"/>
                </a:solidFill>
              </a:rPr>
              <a:t>La información recogida de seminarios, artículos, libros, etc. </a:t>
            </a:r>
          </a:p>
          <a:p>
            <a:r>
              <a:rPr lang="es-ES" sz="2800" b="1" dirty="0">
                <a:solidFill>
                  <a:schemeClr val="bg1"/>
                </a:solidFill>
              </a:rPr>
              <a:t>El estudio de </a:t>
            </a:r>
            <a:r>
              <a:rPr lang="es-ES" sz="2800" b="1" i="1" dirty="0">
                <a:solidFill>
                  <a:schemeClr val="bg1"/>
                </a:solidFill>
              </a:rPr>
              <a:t>memorias de investigación </a:t>
            </a:r>
            <a:r>
              <a:rPr lang="es-ES" sz="2800" b="1" dirty="0">
                <a:solidFill>
                  <a:schemeClr val="bg1"/>
                </a:solidFill>
              </a:rPr>
              <a:t>ya realizadas.</a:t>
            </a:r>
          </a:p>
          <a:p>
            <a:r>
              <a:rPr lang="es-ES" sz="2800" b="1" dirty="0">
                <a:solidFill>
                  <a:schemeClr val="bg1"/>
                </a:solidFill>
              </a:rPr>
              <a:t>El </a:t>
            </a:r>
            <a:r>
              <a:rPr lang="es-ES" sz="2800" b="1" i="1" dirty="0">
                <a:solidFill>
                  <a:schemeClr val="bg1"/>
                </a:solidFill>
              </a:rPr>
              <a:t>contacto </a:t>
            </a:r>
            <a:r>
              <a:rPr lang="es-ES" sz="2800" b="1" dirty="0">
                <a:solidFill>
                  <a:schemeClr val="bg1"/>
                </a:solidFill>
              </a:rPr>
              <a:t>con personas expertas en el ámbito de la investigación educativa.</a:t>
            </a:r>
            <a:endParaRPr lang="es-ES" sz="2800" b="1" dirty="0"/>
          </a:p>
          <a:p>
            <a:pPr marL="0" indent="0" algn="r">
              <a:buNone/>
            </a:pPr>
            <a:r>
              <a:rPr lang="es-ES" sz="2800" dirty="0"/>
              <a:t>(</a:t>
            </a:r>
            <a:r>
              <a:rPr lang="es-ES" sz="2800" i="1" dirty="0"/>
              <a:t>F. Javier Murillo )</a:t>
            </a:r>
            <a:endParaRPr lang="es-ES" sz="2800" dirty="0"/>
          </a:p>
          <a:p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496986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Valoración del problema 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2959" y="2172498"/>
            <a:ext cx="11683999" cy="4206240"/>
          </a:xfrm>
        </p:spPr>
        <p:txBody>
          <a:bodyPr>
            <a:noAutofit/>
          </a:bodyPr>
          <a:lstStyle/>
          <a:p>
            <a:pPr algn="just"/>
            <a:r>
              <a:rPr lang="es-ES" sz="2800" b="1" i="1" dirty="0">
                <a:solidFill>
                  <a:srgbClr val="FF0000"/>
                </a:solidFill>
              </a:rPr>
              <a:t>Real</a:t>
            </a:r>
            <a:r>
              <a:rPr lang="es-ES" sz="2800" b="1" dirty="0">
                <a:solidFill>
                  <a:srgbClr val="FF0000"/>
                </a:solidFill>
              </a:rPr>
              <a:t>: </a:t>
            </a:r>
            <a:r>
              <a:rPr lang="es-ES" sz="2800" b="1" dirty="0">
                <a:solidFill>
                  <a:schemeClr val="bg1"/>
                </a:solidFill>
              </a:rPr>
              <a:t>¿Es nuevo el problema? ¿Se dispone ya de una contestación al mismo? </a:t>
            </a:r>
          </a:p>
          <a:p>
            <a:r>
              <a:rPr lang="es-ES" sz="2800" b="1" i="1" dirty="0">
                <a:solidFill>
                  <a:srgbClr val="FF0000"/>
                </a:solidFill>
              </a:rPr>
              <a:t>Resoluble</a:t>
            </a:r>
            <a:r>
              <a:rPr lang="es-ES" sz="2800" b="1" dirty="0">
                <a:solidFill>
                  <a:srgbClr val="FF0000"/>
                </a:solidFill>
              </a:rPr>
              <a:t>: </a:t>
            </a:r>
            <a:r>
              <a:rPr lang="es-ES" sz="2800" b="1" dirty="0">
                <a:solidFill>
                  <a:schemeClr val="bg1"/>
                </a:solidFill>
              </a:rPr>
              <a:t>¿Es éste el tipo de problema que puede ser eficazmente resuelto mediante el proceso de investigación? </a:t>
            </a:r>
          </a:p>
          <a:p>
            <a:r>
              <a:rPr lang="es-ES" sz="2800" b="1" i="1" dirty="0">
                <a:solidFill>
                  <a:srgbClr val="FF0000"/>
                </a:solidFill>
              </a:rPr>
              <a:t>Relevante</a:t>
            </a:r>
            <a:r>
              <a:rPr lang="es-ES" sz="2800" b="1" dirty="0">
                <a:solidFill>
                  <a:srgbClr val="FF0000"/>
                </a:solidFill>
              </a:rPr>
              <a:t>: </a:t>
            </a:r>
            <a:r>
              <a:rPr lang="es-ES" sz="2800" b="1" dirty="0">
                <a:solidFill>
                  <a:schemeClr val="bg1"/>
                </a:solidFill>
              </a:rPr>
              <a:t>¿Es el problema significativo? </a:t>
            </a:r>
          </a:p>
          <a:p>
            <a:r>
              <a:rPr lang="es-ES" sz="2800" b="1" i="1" dirty="0">
                <a:solidFill>
                  <a:srgbClr val="FF0000"/>
                </a:solidFill>
              </a:rPr>
              <a:t>Factible</a:t>
            </a:r>
            <a:r>
              <a:rPr lang="es-ES" sz="2800" b="1" dirty="0">
                <a:solidFill>
                  <a:srgbClr val="FF0000"/>
                </a:solidFill>
              </a:rPr>
              <a:t>: </a:t>
            </a:r>
            <a:r>
              <a:rPr lang="es-ES" sz="2800" b="1" dirty="0">
                <a:solidFill>
                  <a:schemeClr val="bg1"/>
                </a:solidFill>
              </a:rPr>
              <a:t>(Competencia, Acceso a datos, Recursos económicos, Tiempo)</a:t>
            </a:r>
          </a:p>
          <a:p>
            <a:r>
              <a:rPr lang="es-ES" sz="2800" b="1" i="1" dirty="0">
                <a:solidFill>
                  <a:srgbClr val="FF0000"/>
                </a:solidFill>
              </a:rPr>
              <a:t>Generador de conocimiento</a:t>
            </a:r>
            <a:r>
              <a:rPr lang="es-ES" sz="2800" b="1" dirty="0">
                <a:solidFill>
                  <a:srgbClr val="FF0000"/>
                </a:solidFill>
              </a:rPr>
              <a:t>: </a:t>
            </a:r>
            <a:r>
              <a:rPr lang="es-ES" sz="2800" b="1" dirty="0">
                <a:solidFill>
                  <a:schemeClr val="bg1"/>
                </a:solidFill>
              </a:rPr>
              <a:t>¿Produciría la solución alguna diferencia en lo que se refiere a la teoría? </a:t>
            </a:r>
          </a:p>
          <a:p>
            <a:r>
              <a:rPr lang="es-ES" sz="2800" b="1" i="1" dirty="0">
                <a:solidFill>
                  <a:schemeClr val="bg1"/>
                </a:solidFill>
              </a:rPr>
              <a:t>Generador de nuevos problemas</a:t>
            </a:r>
            <a:endParaRPr lang="es-ES" sz="2800" b="1" dirty="0">
              <a:solidFill>
                <a:schemeClr val="bg1"/>
              </a:solidFill>
            </a:endParaRPr>
          </a:p>
          <a:p>
            <a:pPr marL="0" indent="0" algn="r">
              <a:buNone/>
            </a:pPr>
            <a:r>
              <a:rPr lang="es-ES" sz="2800" b="1" dirty="0"/>
              <a:t>(</a:t>
            </a:r>
            <a:r>
              <a:rPr lang="es-ES" sz="2800" b="1" i="1" dirty="0"/>
              <a:t>F. Javier Murillo )</a:t>
            </a:r>
            <a:endParaRPr lang="es-ES" sz="2800" b="1" dirty="0"/>
          </a:p>
          <a:p>
            <a:pPr marL="0" indent="0">
              <a:buNone/>
            </a:pPr>
            <a:endParaRPr lang="es-ES" sz="2800" b="1" dirty="0"/>
          </a:p>
        </p:txBody>
      </p:sp>
    </p:spTree>
    <p:extLst>
      <p:ext uri="{BB962C8B-B14F-4D97-AF65-F5344CB8AC3E}">
        <p14:creationId xmlns:p14="http://schemas.microsoft.com/office/powerpoint/2010/main" val="2211258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ES" dirty="0"/>
              <a:t>Los criterios para el planteamiento del </a:t>
            </a:r>
            <a:r>
              <a:rPr lang="es-ES" dirty="0">
                <a:solidFill>
                  <a:srgbClr val="00B0F0"/>
                </a:solidFill>
              </a:rPr>
              <a:t>problema</a:t>
            </a:r>
            <a:r>
              <a:rPr lang="es-ES" b="1" dirty="0">
                <a:solidFill>
                  <a:srgbClr val="00B0F0"/>
                </a:solidFill>
              </a:rPr>
              <a:t>(</a:t>
            </a:r>
            <a:r>
              <a:rPr lang="es-ES" b="1" dirty="0" err="1">
                <a:solidFill>
                  <a:srgbClr val="00B0F0"/>
                </a:solidFill>
              </a:rPr>
              <a:t>Kerlinger</a:t>
            </a:r>
            <a:r>
              <a:rPr lang="es-ES" b="1" dirty="0">
                <a:solidFill>
                  <a:srgbClr val="00B0F0"/>
                </a:solidFill>
              </a:rPr>
              <a:t> &amp; Lee,1975) </a:t>
            </a:r>
            <a:br>
              <a:rPr lang="es-ES" b="1" dirty="0">
                <a:solidFill>
                  <a:schemeClr val="bg1"/>
                </a:solidFill>
              </a:rPr>
            </a:br>
            <a:endParaRPr lang="es-CO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33574" y="1792936"/>
            <a:ext cx="11046592" cy="4206240"/>
          </a:xfrm>
        </p:spPr>
        <p:txBody>
          <a:bodyPr>
            <a:noAutofit/>
          </a:bodyPr>
          <a:lstStyle/>
          <a:p>
            <a:pPr algn="just"/>
            <a:r>
              <a:rPr lang="es-ES" sz="2400" b="1" dirty="0">
                <a:solidFill>
                  <a:schemeClr val="bg1"/>
                </a:solidFill>
              </a:rPr>
              <a:t>El problema debe expresar una relación entre dos o más variables. </a:t>
            </a:r>
          </a:p>
          <a:p>
            <a:pPr algn="just"/>
            <a:r>
              <a:rPr lang="es-ES" sz="2400" b="1" dirty="0">
                <a:solidFill>
                  <a:schemeClr val="bg1"/>
                </a:solidFill>
              </a:rPr>
              <a:t>El problema debe estar formulado claramente teniendo en cuenta interrogantes como: </a:t>
            </a:r>
          </a:p>
          <a:p>
            <a:pPr lvl="2" algn="just"/>
            <a:r>
              <a:rPr lang="es-ES" sz="2400" b="1" dirty="0">
                <a:solidFill>
                  <a:schemeClr val="accent4">
                    <a:lumMod val="75000"/>
                  </a:schemeClr>
                </a:solidFill>
              </a:rPr>
              <a:t>¿Cuál es el vacío de conocimiento o situación no resuelta? </a:t>
            </a:r>
          </a:p>
          <a:p>
            <a:pPr lvl="2" algn="just"/>
            <a:r>
              <a:rPr lang="es-ES" sz="2400" b="1" dirty="0">
                <a:solidFill>
                  <a:schemeClr val="accent4">
                    <a:lumMod val="75000"/>
                  </a:schemeClr>
                </a:solidFill>
              </a:rPr>
              <a:t>¿qué efecto genera científicamente?, </a:t>
            </a:r>
          </a:p>
          <a:p>
            <a:pPr lvl="2" algn="just"/>
            <a:r>
              <a:rPr lang="es-ES" sz="2400" b="1" dirty="0">
                <a:solidFill>
                  <a:schemeClr val="accent4">
                    <a:lumMod val="75000"/>
                  </a:schemeClr>
                </a:solidFill>
              </a:rPr>
              <a:t>¿en qué condiciones se ha observado?, </a:t>
            </a:r>
          </a:p>
          <a:p>
            <a:pPr lvl="2" algn="just"/>
            <a:r>
              <a:rPr lang="es-ES" sz="2400" b="1" dirty="0">
                <a:solidFill>
                  <a:schemeClr val="accent4">
                    <a:lumMod val="75000"/>
                  </a:schemeClr>
                </a:solidFill>
              </a:rPr>
              <a:t>¿cuál es la probabilidad de solucionarlo a través de nuevo conocimiento?, </a:t>
            </a:r>
          </a:p>
          <a:p>
            <a:pPr lvl="2" algn="just"/>
            <a:r>
              <a:rPr lang="es-ES" sz="2400" b="1" dirty="0">
                <a:solidFill>
                  <a:schemeClr val="accent4">
                    <a:lumMod val="75000"/>
                  </a:schemeClr>
                </a:solidFill>
              </a:rPr>
              <a:t>¿cómo se relaciona con los antecedentes y la justificación desplegados en el estado del arte? </a:t>
            </a:r>
          </a:p>
          <a:p>
            <a:pPr algn="just"/>
            <a:r>
              <a:rPr lang="es-ES" sz="2400" b="1" dirty="0">
                <a:solidFill>
                  <a:schemeClr val="bg1"/>
                </a:solidFill>
              </a:rPr>
              <a:t>El planteamiento debe implicar la posibilidad de realizar una verificación empírica que como mínimo cuente con aspectos observables y medibles en la realidad mediante el diseño metodológico planteado. </a:t>
            </a:r>
          </a:p>
          <a:p>
            <a:pPr algn="just"/>
            <a:endParaRPr lang="es-CO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6820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b="1" i="1" dirty="0"/>
              <a:t>Etapas del planteamiento del problema</a:t>
            </a:r>
            <a:br>
              <a:rPr lang="es-CO" dirty="0"/>
            </a:br>
            <a:endParaRPr lang="es-CO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ctr"/>
            <a:endParaRPr lang="es-CO" sz="3600" b="1" dirty="0"/>
          </a:p>
          <a:p>
            <a:pPr algn="ctr"/>
            <a:r>
              <a:rPr lang="es-CO" sz="3600" b="1" dirty="0">
                <a:solidFill>
                  <a:schemeClr val="bg1"/>
                </a:solidFill>
              </a:rPr>
              <a:t>Aunque no existe un único procedimiento</a:t>
            </a:r>
          </a:p>
          <a:p>
            <a:pPr algn="ctr"/>
            <a:r>
              <a:rPr lang="es-CO" sz="3600" b="1" dirty="0">
                <a:solidFill>
                  <a:srgbClr val="FF0000"/>
                </a:solidFill>
              </a:rPr>
              <a:t>Genéricamente </a:t>
            </a:r>
            <a:r>
              <a:rPr lang="es-CO" sz="3600" b="1" dirty="0">
                <a:solidFill>
                  <a:schemeClr val="bg1"/>
                </a:solidFill>
              </a:rPr>
              <a:t> </a:t>
            </a:r>
          </a:p>
          <a:p>
            <a:endParaRPr lang="es-CO" sz="3600" dirty="0"/>
          </a:p>
          <a:p>
            <a:r>
              <a:rPr lang="es-CO" sz="3600" dirty="0">
                <a:solidFill>
                  <a:schemeClr val="bg1"/>
                </a:solidFill>
              </a:rPr>
              <a:t>Elección de un área problemática</a:t>
            </a:r>
          </a:p>
          <a:p>
            <a:r>
              <a:rPr lang="es-CO" sz="3600" dirty="0">
                <a:solidFill>
                  <a:schemeClr val="bg1"/>
                </a:solidFill>
              </a:rPr>
              <a:t>Identificación y delimitación del problema</a:t>
            </a:r>
          </a:p>
          <a:p>
            <a:r>
              <a:rPr lang="es-CO" sz="3600" dirty="0">
                <a:solidFill>
                  <a:schemeClr val="bg1"/>
                </a:solidFill>
              </a:rPr>
              <a:t>Valoración del problema</a:t>
            </a:r>
          </a:p>
          <a:p>
            <a:r>
              <a:rPr lang="es-CO" sz="3600" dirty="0">
                <a:solidFill>
                  <a:schemeClr val="bg1"/>
                </a:solidFill>
              </a:rPr>
              <a:t>Formulación definitiva </a:t>
            </a:r>
          </a:p>
          <a:p>
            <a:pPr algn="ctr"/>
            <a:endParaRPr lang="es-CO" sz="3600" b="1" dirty="0">
              <a:solidFill>
                <a:schemeClr val="bg1"/>
              </a:solidFill>
            </a:endParaRP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674314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s-ES_tradnl" altLang="es-CO" dirty="0"/>
              <a:t>El Problema de Investigación-Etapas</a:t>
            </a:r>
            <a:endParaRPr lang="es-ES" altLang="es-CO" dirty="0"/>
          </a:p>
        </p:txBody>
      </p:sp>
      <p:sp>
        <p:nvSpPr>
          <p:cNvPr id="15363" name="Text Box 4"/>
          <p:cNvSpPr txBox="1">
            <a:spLocks noChangeArrowheads="1"/>
          </p:cNvSpPr>
          <p:nvPr/>
        </p:nvSpPr>
        <p:spPr bwMode="auto">
          <a:xfrm>
            <a:off x="73025" y="2235355"/>
            <a:ext cx="4164015" cy="3600986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_tradnl" altLang="es-CO" sz="2400" b="1" dirty="0">
                <a:solidFill>
                  <a:schemeClr val="bg1"/>
                </a:solidFill>
              </a:rPr>
              <a:t>2. EL PROBLEMA DE INVESTIGACION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_tradnl" altLang="es-CO" sz="2400" dirty="0">
                <a:solidFill>
                  <a:schemeClr val="bg1"/>
                </a:solidFill>
              </a:rPr>
              <a:t>Esta definido por lo que es  objeto de conocimiento. Se expresa en términos concretos y explicito  a través del planteamiento, la formulación  y la sistematización.</a:t>
            </a:r>
            <a:endParaRPr lang="es-ES" altLang="es-CO" sz="2400" dirty="0">
              <a:solidFill>
                <a:schemeClr val="bg1"/>
              </a:solidFill>
            </a:endParaRPr>
          </a:p>
        </p:txBody>
      </p:sp>
      <p:sp>
        <p:nvSpPr>
          <p:cNvPr id="15364" name="Text Box 5"/>
          <p:cNvSpPr txBox="1">
            <a:spLocks noChangeArrowheads="1"/>
          </p:cNvSpPr>
          <p:nvPr/>
        </p:nvSpPr>
        <p:spPr bwMode="auto">
          <a:xfrm>
            <a:off x="4851401" y="1866023"/>
            <a:ext cx="7023100" cy="2593018"/>
          </a:xfrm>
          <a:prstGeom prst="rect">
            <a:avLst/>
          </a:prstGeom>
          <a:solidFill>
            <a:srgbClr val="99CCF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_tradnl" altLang="es-CO" sz="1800" b="1" dirty="0">
                <a:solidFill>
                  <a:schemeClr val="bg1"/>
                </a:solidFill>
              </a:rPr>
              <a:t>2. 1 Planteamiento del Problema</a:t>
            </a:r>
          </a:p>
          <a:p>
            <a:pPr marL="285750" indent="-285750">
              <a:spcBef>
                <a:spcPct val="50000"/>
              </a:spcBef>
            </a:pPr>
            <a:r>
              <a:rPr lang="es-ES_tradnl" altLang="es-CO" sz="1700" dirty="0">
                <a:solidFill>
                  <a:srgbClr val="FF0000"/>
                </a:solidFill>
              </a:rPr>
              <a:t>Diagnóstico: </a:t>
            </a:r>
            <a:r>
              <a:rPr lang="es-ES_tradnl" altLang="es-CO" sz="1700" dirty="0">
                <a:solidFill>
                  <a:schemeClr val="bg1"/>
                </a:solidFill>
              </a:rPr>
              <a:t>Identificación de variables. Descripción de la situación actual  que caracteriza al objeto del conocimiento  (síntomas y causas). </a:t>
            </a:r>
          </a:p>
          <a:p>
            <a:pPr marL="285750" indent="-285750">
              <a:spcBef>
                <a:spcPct val="50000"/>
              </a:spcBef>
            </a:pPr>
            <a:r>
              <a:rPr lang="es-ES_tradnl" altLang="es-CO" sz="1700" dirty="0">
                <a:solidFill>
                  <a:srgbClr val="FF0000"/>
                </a:solidFill>
              </a:rPr>
              <a:t>Pronóstico:</a:t>
            </a:r>
            <a:r>
              <a:rPr lang="es-ES_tradnl" altLang="es-CO" sz="1700" dirty="0">
                <a:solidFill>
                  <a:schemeClr val="bg1"/>
                </a:solidFill>
              </a:rPr>
              <a:t> Identificación de situaciones Futuras  al sostenerse la situación actual</a:t>
            </a:r>
          </a:p>
          <a:p>
            <a:pPr marL="285750" indent="-285750">
              <a:spcBef>
                <a:spcPct val="50000"/>
              </a:spcBef>
            </a:pPr>
            <a:r>
              <a:rPr lang="es-ES_tradnl" altLang="es-CO" sz="1700" dirty="0">
                <a:solidFill>
                  <a:srgbClr val="FF0000"/>
                </a:solidFill>
              </a:rPr>
              <a:t>Control: </a:t>
            </a:r>
            <a:r>
              <a:rPr lang="es-ES_tradnl" altLang="es-CO" sz="1700" dirty="0">
                <a:solidFill>
                  <a:schemeClr val="bg1"/>
                </a:solidFill>
              </a:rPr>
              <a:t>Presentación  de alternativas  para superar la situación actual</a:t>
            </a:r>
            <a:r>
              <a:rPr lang="es-ES_tradnl" altLang="es-CO" sz="1700" dirty="0"/>
              <a:t>.</a:t>
            </a:r>
            <a:endParaRPr lang="es-ES" altLang="es-CO" sz="1700" dirty="0"/>
          </a:p>
        </p:txBody>
      </p:sp>
      <p:sp>
        <p:nvSpPr>
          <p:cNvPr id="15365" name="Text Box 6"/>
          <p:cNvSpPr txBox="1">
            <a:spLocks noChangeArrowheads="1"/>
          </p:cNvSpPr>
          <p:nvPr/>
        </p:nvSpPr>
        <p:spPr bwMode="auto">
          <a:xfrm>
            <a:off x="4851401" y="4108935"/>
            <a:ext cx="7023099" cy="1338828"/>
          </a:xfrm>
          <a:prstGeom prst="rect">
            <a:avLst/>
          </a:prstGeom>
          <a:solidFill>
            <a:srgbClr val="99CCF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_tradnl" altLang="es-CO" sz="1800" b="1" dirty="0">
                <a:solidFill>
                  <a:schemeClr val="bg1"/>
                </a:solidFill>
              </a:rPr>
              <a:t>2. 2 Formulación  del Problema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_tradnl" altLang="es-CO" sz="1800" dirty="0">
                <a:solidFill>
                  <a:schemeClr val="bg1"/>
                </a:solidFill>
              </a:rPr>
              <a:t>Se plantea a través de una pregunta de investigación, el investigador  espera responderla y de esta manera resolver el problema planteado.</a:t>
            </a:r>
            <a:endParaRPr lang="es-ES" altLang="es-CO" sz="1800" dirty="0">
              <a:solidFill>
                <a:schemeClr val="bg1"/>
              </a:solidFill>
            </a:endParaRPr>
          </a:p>
        </p:txBody>
      </p:sp>
      <p:sp>
        <p:nvSpPr>
          <p:cNvPr id="15366" name="Text Box 7"/>
          <p:cNvSpPr txBox="1">
            <a:spLocks noChangeArrowheads="1"/>
          </p:cNvSpPr>
          <p:nvPr/>
        </p:nvSpPr>
        <p:spPr bwMode="auto">
          <a:xfrm>
            <a:off x="4851401" y="5540096"/>
            <a:ext cx="7023099" cy="1338828"/>
          </a:xfrm>
          <a:prstGeom prst="rect">
            <a:avLst/>
          </a:prstGeom>
          <a:solidFill>
            <a:srgbClr val="99CCF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_tradnl" altLang="es-CO" sz="1800" b="1" dirty="0">
                <a:solidFill>
                  <a:schemeClr val="bg1"/>
                </a:solidFill>
              </a:rPr>
              <a:t>2. 3 Sistematización  del Problema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_tradnl" altLang="es-CO" sz="1800" dirty="0">
                <a:solidFill>
                  <a:schemeClr val="bg1"/>
                </a:solidFill>
              </a:rPr>
              <a:t>Se formula por medio de </a:t>
            </a:r>
            <a:r>
              <a:rPr lang="es-ES_tradnl" altLang="es-CO" sz="1800" dirty="0" err="1">
                <a:solidFill>
                  <a:schemeClr val="bg1"/>
                </a:solidFill>
              </a:rPr>
              <a:t>subpreguntas</a:t>
            </a:r>
            <a:r>
              <a:rPr lang="es-ES_tradnl" altLang="es-CO" sz="1800" dirty="0">
                <a:solidFill>
                  <a:schemeClr val="bg1"/>
                </a:solidFill>
              </a:rPr>
              <a:t> que el investigador  plantea sobre temas específicos que se han observado en el planteamiento del problema.</a:t>
            </a:r>
            <a:endParaRPr lang="es-ES" altLang="es-CO" sz="1800" dirty="0">
              <a:solidFill>
                <a:schemeClr val="bg1"/>
              </a:solidFill>
            </a:endParaRPr>
          </a:p>
        </p:txBody>
      </p:sp>
      <p:sp>
        <p:nvSpPr>
          <p:cNvPr id="15367" name="AutoShape 8"/>
          <p:cNvSpPr>
            <a:spLocks/>
          </p:cNvSpPr>
          <p:nvPr/>
        </p:nvSpPr>
        <p:spPr bwMode="auto">
          <a:xfrm>
            <a:off x="4437063" y="1860499"/>
            <a:ext cx="71438" cy="4681537"/>
          </a:xfrm>
          <a:prstGeom prst="leftBrace">
            <a:avLst>
              <a:gd name="adj1" fmla="val 546107"/>
              <a:gd name="adj2" fmla="val 50000"/>
            </a:avLst>
          </a:prstGeom>
          <a:solidFill>
            <a:schemeClr val="tx2"/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CO" altLang="es-CO" sz="1800"/>
          </a:p>
        </p:txBody>
      </p:sp>
      <p:sp>
        <p:nvSpPr>
          <p:cNvPr id="2" name="CuadroTexto 1"/>
          <p:cNvSpPr txBox="1"/>
          <p:nvPr/>
        </p:nvSpPr>
        <p:spPr>
          <a:xfrm>
            <a:off x="850900" y="619760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(Méndez &amp; Vélez, 2001)</a:t>
            </a:r>
          </a:p>
        </p:txBody>
      </p:sp>
    </p:spTree>
    <p:extLst>
      <p:ext uri="{BB962C8B-B14F-4D97-AF65-F5344CB8AC3E}">
        <p14:creationId xmlns:p14="http://schemas.microsoft.com/office/powerpoint/2010/main" val="22941784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Planteamiento del problema-</a:t>
            </a:r>
            <a:r>
              <a:rPr lang="es-ES" dirty="0">
                <a:solidFill>
                  <a:schemeClr val="bg1"/>
                </a:solidFill>
              </a:rPr>
              <a:t>Diagnóstico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endParaRPr lang="es-ES_tradnl" altLang="es-CO" sz="2400" b="1" dirty="0">
              <a:solidFill>
                <a:schemeClr val="bg1"/>
              </a:solidFill>
            </a:endParaRPr>
          </a:p>
          <a:p>
            <a:pPr algn="just"/>
            <a:r>
              <a:rPr lang="es-ES_tradnl" altLang="es-CO" sz="2400" b="1" dirty="0">
                <a:solidFill>
                  <a:schemeClr val="bg1"/>
                </a:solidFill>
              </a:rPr>
              <a:t>La Identificación del problema en términos concretos y explícitos, es formular las variables e indicadores que lo constituyen y sobre las cuales  se fundamentara la formulación de los objetivos, alcances e hipótesis de la investigación. </a:t>
            </a:r>
            <a:endParaRPr lang="es-CO" sz="2400" dirty="0"/>
          </a:p>
          <a:p>
            <a:pPr algn="just"/>
            <a:r>
              <a:rPr lang="es-ES" sz="2400" b="1" dirty="0">
                <a:solidFill>
                  <a:srgbClr val="FF0000"/>
                </a:solidFill>
              </a:rPr>
              <a:t>El problema debe expresar una relación entre dos o más variables.</a:t>
            </a:r>
          </a:p>
          <a:p>
            <a:pPr algn="just"/>
            <a:r>
              <a:rPr lang="es-ES_tradnl" altLang="es-CO" sz="2400" b="1" dirty="0">
                <a:solidFill>
                  <a:schemeClr val="bg1"/>
                </a:solidFill>
              </a:rPr>
              <a:t>Síntomas -Variables dependientes. </a:t>
            </a:r>
          </a:p>
          <a:p>
            <a:pPr algn="just"/>
            <a:r>
              <a:rPr lang="es-ES_tradnl" altLang="es-CO" sz="2400" b="1" dirty="0">
                <a:solidFill>
                  <a:schemeClr val="bg1"/>
                </a:solidFill>
              </a:rPr>
              <a:t>Causa -Variables independientes.</a:t>
            </a:r>
          </a:p>
          <a:p>
            <a:pPr algn="just"/>
            <a:r>
              <a:rPr lang="es-ES_tradnl" altLang="es-CO" sz="2400" b="1" dirty="0">
                <a:solidFill>
                  <a:schemeClr val="bg1"/>
                </a:solidFill>
              </a:rPr>
              <a:t>El planteamiento  del problema  parte de la identificación y descripción de los síntomas que se observan  y son relevantes en la situación, relacionándolos con las causas que lo producen.</a:t>
            </a:r>
          </a:p>
          <a:p>
            <a:pPr algn="just"/>
            <a:r>
              <a:rPr lang="es-ES_tradnl" sz="2400" b="1" dirty="0">
                <a:solidFill>
                  <a:schemeClr val="bg1"/>
                </a:solidFill>
              </a:rPr>
              <a:t>Síntomas y causas deben constituirse la base para formulación de las </a:t>
            </a:r>
            <a:r>
              <a:rPr lang="es-ES_tradnl" sz="2400" b="1" dirty="0">
                <a:solidFill>
                  <a:srgbClr val="FF0000"/>
                </a:solidFill>
              </a:rPr>
              <a:t>variables de investigación. </a:t>
            </a:r>
            <a:endParaRPr lang="es-ES" b="1" dirty="0">
              <a:solidFill>
                <a:srgbClr val="FF0000"/>
              </a:solidFill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9615399" y="6488668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(Méndez &amp; Vélez, 2001)</a:t>
            </a:r>
          </a:p>
        </p:txBody>
      </p:sp>
    </p:spTree>
    <p:extLst>
      <p:ext uri="{BB962C8B-B14F-4D97-AF65-F5344CB8AC3E}">
        <p14:creationId xmlns:p14="http://schemas.microsoft.com/office/powerpoint/2010/main" val="2717048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Planteamiento del problema-</a:t>
            </a:r>
            <a:r>
              <a:rPr lang="es-ES" dirty="0">
                <a:solidFill>
                  <a:schemeClr val="bg1"/>
                </a:solidFill>
              </a:rPr>
              <a:t>Diagnóstico</a:t>
            </a:r>
            <a:endParaRPr lang="es-CO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14400" y="2011680"/>
            <a:ext cx="10834255" cy="4206240"/>
          </a:xfrm>
        </p:spPr>
        <p:txBody>
          <a:bodyPr>
            <a:noAutofit/>
          </a:bodyPr>
          <a:lstStyle/>
          <a:p>
            <a:pPr algn="ctr"/>
            <a:r>
              <a:rPr lang="es-CO" b="1" dirty="0">
                <a:solidFill>
                  <a:srgbClr val="FF0000"/>
                </a:solidFill>
              </a:rPr>
              <a:t>El problema de identificar las variables</a:t>
            </a:r>
          </a:p>
          <a:p>
            <a:r>
              <a:rPr lang="es-CO" b="1" dirty="0">
                <a:solidFill>
                  <a:schemeClr val="bg1"/>
                </a:solidFill>
              </a:rPr>
              <a:t>Muchas variables en algunos casos</a:t>
            </a:r>
          </a:p>
          <a:p>
            <a:r>
              <a:rPr lang="es-CO" b="1" dirty="0">
                <a:solidFill>
                  <a:schemeClr val="bg1"/>
                </a:solidFill>
              </a:rPr>
              <a:t>No pueden resultar al azar ni por capricho</a:t>
            </a:r>
          </a:p>
          <a:p>
            <a:r>
              <a:rPr lang="es-CO" b="1" dirty="0">
                <a:solidFill>
                  <a:schemeClr val="bg1"/>
                </a:solidFill>
              </a:rPr>
              <a:t>Hay que construirlas con un soporte lógico</a:t>
            </a:r>
          </a:p>
          <a:p>
            <a:r>
              <a:rPr lang="es-CO" b="1" dirty="0">
                <a:solidFill>
                  <a:schemeClr val="bg1"/>
                </a:solidFill>
              </a:rPr>
              <a:t>Una vez Identificadas se deben  caracterizar, normalizar, clasificar, procesar, analizar estadísticamente, etc…</a:t>
            </a:r>
          </a:p>
          <a:p>
            <a:r>
              <a:rPr lang="es-CO" b="1" dirty="0">
                <a:solidFill>
                  <a:schemeClr val="bg1"/>
                </a:solidFill>
              </a:rPr>
              <a:t>En la mayoría de casos se busca relacionar las variables  a través de modelos para comprender el funcionamiento y estructura de sus  interacciones</a:t>
            </a:r>
            <a:endParaRPr lang="es-CO" dirty="0">
              <a:solidFill>
                <a:schemeClr val="bg1"/>
              </a:solidFill>
            </a:endParaRPr>
          </a:p>
          <a:p>
            <a:r>
              <a:rPr lang="es-CO" b="1" dirty="0">
                <a:solidFill>
                  <a:schemeClr val="bg1"/>
                </a:solidFill>
              </a:rPr>
              <a:t>Valerse de Reglas Heurísticas </a:t>
            </a:r>
            <a:r>
              <a:rPr lang="es-CO" dirty="0">
                <a:solidFill>
                  <a:schemeClr val="bg1"/>
                </a:solidFill>
              </a:rPr>
              <a:t>(Elaborar figuras de análisis)</a:t>
            </a:r>
          </a:p>
          <a:p>
            <a:endParaRPr lang="es-CO" b="1" dirty="0">
              <a:solidFill>
                <a:schemeClr val="bg1"/>
              </a:solidFill>
            </a:endParaRPr>
          </a:p>
          <a:p>
            <a:r>
              <a:rPr lang="es-CO" b="1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40441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Planteamiento del problema-</a:t>
            </a:r>
            <a:r>
              <a:rPr lang="es-ES" dirty="0">
                <a:solidFill>
                  <a:schemeClr val="bg1"/>
                </a:solidFill>
              </a:rPr>
              <a:t>Diagnóstico</a:t>
            </a:r>
            <a:endParaRPr lang="es-CO" dirty="0"/>
          </a:p>
        </p:txBody>
      </p:sp>
      <p:sp>
        <p:nvSpPr>
          <p:cNvPr id="5" name="Rectángulo 4"/>
          <p:cNvSpPr/>
          <p:nvPr/>
        </p:nvSpPr>
        <p:spPr>
          <a:xfrm>
            <a:off x="3061283" y="2072701"/>
            <a:ext cx="54825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b="1" dirty="0">
                <a:solidFill>
                  <a:srgbClr val="FF0000"/>
                </a:solidFill>
              </a:rPr>
              <a:t>El problema de no limitar las variables y el problema   </a:t>
            </a:r>
          </a:p>
        </p:txBody>
      </p:sp>
      <p:pic>
        <p:nvPicPr>
          <p:cNvPr id="7" name="Marcador de tabla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9117" y="2721798"/>
            <a:ext cx="5978115" cy="352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282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altLang="es-CO" dirty="0"/>
              <a:t>Planteamiento del problema</a:t>
            </a:r>
            <a:br>
              <a:rPr lang="es-ES_tradnl" altLang="es-CO" dirty="0"/>
            </a:br>
            <a:r>
              <a:rPr lang="es-ES" altLang="es-CO" dirty="0" err="1">
                <a:solidFill>
                  <a:schemeClr val="bg1"/>
                </a:solidFill>
              </a:rPr>
              <a:t>PRO</a:t>
            </a:r>
            <a:r>
              <a:rPr lang="es-ES" dirty="0" err="1">
                <a:solidFill>
                  <a:schemeClr val="bg1"/>
                </a:solidFill>
              </a:rPr>
              <a:t>nóstico</a:t>
            </a:r>
            <a:endParaRPr lang="es-ES" altLang="es-CO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 eaLnBrk="1" hangingPunct="1"/>
            <a:r>
              <a:rPr lang="es-ES_tradnl" altLang="es-CO" sz="2800" b="1" dirty="0">
                <a:solidFill>
                  <a:schemeClr val="bg1"/>
                </a:solidFill>
              </a:rPr>
              <a:t>Una vez planteado el diagnostico , es posible que quien lo formule este en capacidad  de dar un pronostico  hacia el cual pueda orientarse la situación descrita. Esto es las implicaciones que trae consigo  y que al darse, afectan la situación objeto del problema.</a:t>
            </a:r>
            <a:endParaRPr lang="es-ES" altLang="es-CO" sz="2800" b="1" dirty="0">
              <a:solidFill>
                <a:schemeClr val="bg1"/>
              </a:solidFill>
            </a:endParaRPr>
          </a:p>
          <a:p>
            <a:pPr algn="just" eaLnBrk="1" hangingPunct="1"/>
            <a:r>
              <a:rPr lang="es-ES_tradnl" altLang="es-CO" sz="2800" b="1" dirty="0">
                <a:solidFill>
                  <a:schemeClr val="bg1"/>
                </a:solidFill>
              </a:rPr>
              <a:t>La fase pronostico  es probable que suceda y permita orientar la investigación  en la formulación de su </a:t>
            </a:r>
            <a:r>
              <a:rPr lang="es-ES_tradnl" altLang="es-CO" sz="2800" b="1" dirty="0">
                <a:solidFill>
                  <a:srgbClr val="FF0000"/>
                </a:solidFill>
              </a:rPr>
              <a:t>hipótesis</a:t>
            </a:r>
            <a:r>
              <a:rPr lang="es-ES_tradnl" altLang="es-CO" sz="2800" b="1" dirty="0">
                <a:solidFill>
                  <a:schemeClr val="bg1"/>
                </a:solidFill>
              </a:rPr>
              <a:t>, ya que estas presentan situaciones sujetas a verificación.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9615399" y="6436664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(Méndez &amp; Vélez, 2001)</a:t>
            </a:r>
          </a:p>
        </p:txBody>
      </p:sp>
    </p:spTree>
    <p:extLst>
      <p:ext uri="{BB962C8B-B14F-4D97-AF65-F5344CB8AC3E}">
        <p14:creationId xmlns:p14="http://schemas.microsoft.com/office/powerpoint/2010/main" val="32725247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altLang="es-CO" dirty="0"/>
              <a:t>Formulación del problema</a:t>
            </a:r>
            <a:br>
              <a:rPr lang="es-ES_tradnl" altLang="es-CO" dirty="0"/>
            </a:br>
            <a:r>
              <a:rPr lang="es-ES" dirty="0">
                <a:solidFill>
                  <a:schemeClr val="bg1"/>
                </a:solidFill>
              </a:rPr>
              <a:t>pregunta de investigación </a:t>
            </a:r>
            <a:endParaRPr lang="es-CO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s-ES" sz="3600" dirty="0">
                <a:solidFill>
                  <a:schemeClr val="bg1"/>
                </a:solidFill>
                <a:latin typeface="Calibri" panose="020F0502020204030204" pitchFamily="34" charset="0"/>
              </a:rPr>
              <a:t>Es la síntesis del problema formulado, y su delimitación inicial es la base para definir el objetivo de investigación, sobre el vacío o situación no resuelta que se va a solucionar mediante el nuevo conocimiento generado mediante la obtención de los resultados de la investigación. </a:t>
            </a:r>
          </a:p>
          <a:p>
            <a:pPr algn="just"/>
            <a:r>
              <a:rPr lang="es-CO" sz="3600" dirty="0">
                <a:solidFill>
                  <a:schemeClr val="bg1"/>
                </a:solidFill>
                <a:latin typeface="Calibri" panose="020F0502020204030204" pitchFamily="34" charset="0"/>
              </a:rPr>
              <a:t>Ahora bien, la pregunta de investigación como el primer acercamiento para la definición y delimitación del tema de desarrollo de la tesis doctoral, obedece a un proceso “entre comillas simple” de exploración, observación y descubrimiento.</a:t>
            </a:r>
          </a:p>
          <a:p>
            <a:pPr algn="just"/>
            <a:endParaRPr lang="es-CO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52188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altLang="es-CO" dirty="0"/>
              <a:t>Planteamiento del problema</a:t>
            </a:r>
            <a:br>
              <a:rPr lang="es-ES_tradnl" altLang="es-CO" dirty="0"/>
            </a:br>
            <a:r>
              <a:rPr lang="es-ES_tradnl" altLang="es-CO" dirty="0">
                <a:solidFill>
                  <a:schemeClr val="bg1"/>
                </a:solidFill>
              </a:rPr>
              <a:t>CONTROL</a:t>
            </a:r>
            <a:endParaRPr lang="es-ES" altLang="es-CO" dirty="0">
              <a:solidFill>
                <a:schemeClr val="bg1"/>
              </a:solidFill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ES_tradnl" altLang="es-CO" sz="2800" b="1" dirty="0">
                <a:solidFill>
                  <a:schemeClr val="bg1"/>
                </a:solidFill>
              </a:rPr>
              <a:t>Como respuesta al pronostico, quien lo presente  debe estar en capacidad de determinar un control al pronostico, el cual involucra variables que también estarán incluidas.</a:t>
            </a:r>
          </a:p>
          <a:p>
            <a:pPr algn="just"/>
            <a:r>
              <a:rPr lang="es-ES_tradnl" altLang="es-CO" sz="2800" b="1" dirty="0">
                <a:solidFill>
                  <a:schemeClr val="bg1"/>
                </a:solidFill>
              </a:rPr>
              <a:t>Este control define elementos importantes para la investigación. </a:t>
            </a:r>
          </a:p>
          <a:p>
            <a:pPr algn="just"/>
            <a:r>
              <a:rPr lang="es-ES_tradnl" altLang="es-CO" sz="2800" b="1" dirty="0">
                <a:solidFill>
                  <a:schemeClr val="bg1"/>
                </a:solidFill>
              </a:rPr>
              <a:t>El control será confirmado en el desarrollo de la investigación, y por la comprobación de la hipótesis, cuyas variables están contenidos en  la fase de diagnóstico, pronóstico y control.</a:t>
            </a:r>
            <a:endParaRPr lang="es-ES" altLang="es-CO" sz="2800" b="1" dirty="0">
              <a:solidFill>
                <a:schemeClr val="bg1"/>
              </a:solidFill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9779000" y="6470888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(Méndez &amp; Vélez, 2001)</a:t>
            </a:r>
          </a:p>
        </p:txBody>
      </p:sp>
    </p:spTree>
    <p:extLst>
      <p:ext uri="{BB962C8B-B14F-4D97-AF65-F5344CB8AC3E}">
        <p14:creationId xmlns:p14="http://schemas.microsoft.com/office/powerpoint/2010/main" val="1259692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_tradnl" altLang="es-CO" dirty="0"/>
              <a:t>Formulación del problema</a:t>
            </a:r>
            <a:br>
              <a:rPr lang="es-ES_tradnl" altLang="es-CO" dirty="0"/>
            </a:br>
            <a:r>
              <a:rPr lang="es-ES" dirty="0">
                <a:solidFill>
                  <a:schemeClr val="bg1"/>
                </a:solidFill>
              </a:rPr>
              <a:t>pregunta de investigación </a:t>
            </a:r>
            <a:endParaRPr lang="es-ES" altLang="es-CO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2918" y="2011680"/>
            <a:ext cx="10379481" cy="4206240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es-ES_tradnl" altLang="es-CO" sz="2800" dirty="0">
                <a:solidFill>
                  <a:schemeClr val="bg1"/>
                </a:solidFill>
                <a:latin typeface="Calibri" panose="020F0502020204030204" pitchFamily="34" charset="0"/>
              </a:rPr>
              <a:t>Consiste en el planteamiento de una pregunta  que define exactamente  cual es el problema  que el investigador debe resolver mediante  el conocimiento sistemático a partir de la observación, la descripción, la explicación y la predicción.</a:t>
            </a:r>
          </a:p>
          <a:p>
            <a:pPr algn="just" eaLnBrk="1" hangingPunct="1">
              <a:lnSpc>
                <a:spcPct val="90000"/>
              </a:lnSpc>
            </a:pPr>
            <a:r>
              <a:rPr lang="es-ES_tradnl" altLang="es-CO" sz="2800" dirty="0">
                <a:solidFill>
                  <a:schemeClr val="bg1"/>
                </a:solidFill>
                <a:latin typeface="Calibri" panose="020F0502020204030204" pitchFamily="34" charset="0"/>
              </a:rPr>
              <a:t>La pregunta debe ser suficientemente clara y concreta, de modo que debe referirse solo a un problema de investigación, y estar  relacionada con el planteamiento del problema  definido anteriormente.</a:t>
            </a:r>
          </a:p>
          <a:p>
            <a:pPr algn="just" eaLnBrk="1" hangingPunct="1">
              <a:lnSpc>
                <a:spcPct val="90000"/>
              </a:lnSpc>
            </a:pPr>
            <a:r>
              <a:rPr lang="es-ES_tradnl" altLang="es-CO" sz="2800" dirty="0">
                <a:solidFill>
                  <a:schemeClr val="bg1"/>
                </a:solidFill>
                <a:latin typeface="Calibri" panose="020F0502020204030204" pitchFamily="34" charset="0"/>
              </a:rPr>
              <a:t>La pregunta debe estar de acuerdo con el marco espacial y temporal.</a:t>
            </a:r>
            <a:endParaRPr lang="es-ES" altLang="es-CO" sz="2800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9615399" y="6488668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(Méndez &amp; Vélez, 2001)</a:t>
            </a:r>
          </a:p>
        </p:txBody>
      </p:sp>
    </p:spTree>
    <p:extLst>
      <p:ext uri="{BB962C8B-B14F-4D97-AF65-F5344CB8AC3E}">
        <p14:creationId xmlns:p14="http://schemas.microsoft.com/office/powerpoint/2010/main" val="23437497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33018" y="525476"/>
            <a:ext cx="10989081" cy="1508760"/>
          </a:xfrm>
        </p:spPr>
        <p:txBody>
          <a:bodyPr>
            <a:normAutofit fontScale="90000"/>
          </a:bodyPr>
          <a:lstStyle/>
          <a:p>
            <a:pPr algn="ctr"/>
            <a:r>
              <a:rPr lang="es-ES_tradnl" altLang="es-CO" dirty="0"/>
              <a:t>Formulación del problema</a:t>
            </a:r>
            <a:br>
              <a:rPr lang="es-ES_tradnl" altLang="es-CO" dirty="0"/>
            </a:br>
            <a:r>
              <a:rPr lang="es-ES" dirty="0">
                <a:solidFill>
                  <a:schemeClr val="bg1"/>
                </a:solidFill>
              </a:rPr>
              <a:t>Características de la pregunta</a:t>
            </a:r>
            <a:br>
              <a:rPr lang="es-ES" b="1" dirty="0">
                <a:solidFill>
                  <a:schemeClr val="bg1"/>
                </a:solidFill>
              </a:rPr>
            </a:b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83562" y="1920471"/>
            <a:ext cx="10740682" cy="4206240"/>
          </a:xfrm>
        </p:spPr>
        <p:txBody>
          <a:bodyPr>
            <a:noAutofit/>
          </a:bodyPr>
          <a:lstStyle/>
          <a:p>
            <a:r>
              <a:rPr lang="es-ES" sz="2400" b="1" dirty="0">
                <a:solidFill>
                  <a:srgbClr val="FF0000"/>
                </a:solidFill>
              </a:rPr>
              <a:t>Ser concretas: </a:t>
            </a:r>
            <a:r>
              <a:rPr lang="es-ES" sz="2400" b="1" dirty="0">
                <a:solidFill>
                  <a:schemeClr val="bg1"/>
                </a:solidFill>
              </a:rPr>
              <a:t>Nada de ambigüedad. </a:t>
            </a:r>
          </a:p>
          <a:p>
            <a:r>
              <a:rPr lang="es-ES" sz="2400" b="1" dirty="0">
                <a:solidFill>
                  <a:srgbClr val="FF0000"/>
                </a:solidFill>
              </a:rPr>
              <a:t>Ser claras: </a:t>
            </a:r>
            <a:r>
              <a:rPr lang="es-ES" sz="2400" b="1" dirty="0">
                <a:solidFill>
                  <a:schemeClr val="bg1"/>
                </a:solidFill>
              </a:rPr>
              <a:t>Dejar evidente lo que se pregunta. </a:t>
            </a:r>
          </a:p>
          <a:p>
            <a:r>
              <a:rPr lang="es-ES" sz="2400" b="1" dirty="0">
                <a:solidFill>
                  <a:srgbClr val="FF0000"/>
                </a:solidFill>
              </a:rPr>
              <a:t>Ser precisas: </a:t>
            </a:r>
            <a:r>
              <a:rPr lang="es-ES" sz="2400" b="1" dirty="0">
                <a:solidFill>
                  <a:schemeClr val="bg1"/>
                </a:solidFill>
              </a:rPr>
              <a:t>Puntuales y exactas.  </a:t>
            </a:r>
          </a:p>
          <a:p>
            <a:r>
              <a:rPr lang="es-ES" sz="2400" b="1" dirty="0">
                <a:solidFill>
                  <a:srgbClr val="FF0000"/>
                </a:solidFill>
              </a:rPr>
              <a:t>Estar completas: </a:t>
            </a:r>
            <a:r>
              <a:rPr lang="es-ES" sz="2400" b="1" dirty="0">
                <a:solidFill>
                  <a:schemeClr val="bg1"/>
                </a:solidFill>
              </a:rPr>
              <a:t>sujeto o predicado.</a:t>
            </a:r>
          </a:p>
          <a:p>
            <a:r>
              <a:rPr lang="es-ES" sz="2400" b="1" dirty="0">
                <a:solidFill>
                  <a:schemeClr val="bg1"/>
                </a:solidFill>
              </a:rPr>
              <a:t>Deben incluir las variables del problema.</a:t>
            </a:r>
          </a:p>
          <a:p>
            <a:r>
              <a:rPr lang="es-ES" sz="2400" b="1" dirty="0">
                <a:solidFill>
                  <a:schemeClr val="bg1"/>
                </a:solidFill>
              </a:rPr>
              <a:t>Evitar preguntas que generen una gran cantidad de dudas.</a:t>
            </a:r>
          </a:p>
          <a:p>
            <a:r>
              <a:rPr lang="es-ES" sz="2400" b="1" dirty="0">
                <a:solidFill>
                  <a:schemeClr val="bg1"/>
                </a:solidFill>
              </a:rPr>
              <a:t>Las preguntas no deben ser demasiado generales. </a:t>
            </a:r>
          </a:p>
          <a:p>
            <a:r>
              <a:rPr lang="es-ES" sz="2400" b="1" dirty="0">
                <a:solidFill>
                  <a:schemeClr val="bg1"/>
                </a:solidFill>
              </a:rPr>
              <a:t>Las preguntas deben establecer los límites temporales y espaciales del estudio a realizar. </a:t>
            </a:r>
          </a:p>
          <a:p>
            <a:r>
              <a:rPr lang="es-ES" sz="2400" b="1" dirty="0">
                <a:solidFill>
                  <a:schemeClr val="bg1"/>
                </a:solidFill>
              </a:rPr>
              <a:t>Evitar expresiones como “es posible” (en problemas de ingeniería).</a:t>
            </a:r>
          </a:p>
          <a:p>
            <a:endParaRPr lang="es-E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746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s-ES_tradnl" altLang="es-CO" dirty="0"/>
              <a:t>Sistematización del problema</a:t>
            </a:r>
            <a:endParaRPr lang="es-ES" altLang="es-CO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7776" y="2011680"/>
            <a:ext cx="10756668" cy="4206240"/>
          </a:xfrm>
        </p:spPr>
        <p:txBody>
          <a:bodyPr>
            <a:normAutofit fontScale="92500" lnSpcReduction="20000"/>
          </a:bodyPr>
          <a:lstStyle/>
          <a:p>
            <a:pPr algn="just" eaLnBrk="1" hangingPunct="1"/>
            <a:r>
              <a:rPr lang="es-ES_tradnl" altLang="es-CO" sz="3200" b="1" dirty="0">
                <a:solidFill>
                  <a:schemeClr val="bg1"/>
                </a:solidFill>
              </a:rPr>
              <a:t>Para llevar a cabo la investigación, hay que descomponer  o desagregar la pregunta planteada anteriormente  en pequeñas  preguntas o </a:t>
            </a:r>
            <a:r>
              <a:rPr lang="es-ES_tradnl" altLang="es-CO" sz="3200" b="1" dirty="0" err="1">
                <a:solidFill>
                  <a:schemeClr val="bg1"/>
                </a:solidFill>
              </a:rPr>
              <a:t>subproblemas</a:t>
            </a:r>
            <a:r>
              <a:rPr lang="es-ES_tradnl" altLang="es-CO" sz="3200" b="1" dirty="0">
                <a:solidFill>
                  <a:schemeClr val="bg1"/>
                </a:solidFill>
              </a:rPr>
              <a:t>. Para ello se debe tener en cuentas las variables  que forma  parte del mismo.</a:t>
            </a:r>
          </a:p>
          <a:p>
            <a:pPr algn="just" eaLnBrk="1" hangingPunct="1"/>
            <a:r>
              <a:rPr lang="es-ES_tradnl" altLang="es-CO" sz="3200" b="1" dirty="0">
                <a:solidFill>
                  <a:schemeClr val="bg1"/>
                </a:solidFill>
              </a:rPr>
              <a:t>Cada sub-pregunta debe tener variables del problema planteado.</a:t>
            </a:r>
          </a:p>
          <a:p>
            <a:pPr algn="just" eaLnBrk="1" hangingPunct="1"/>
            <a:r>
              <a:rPr lang="es-ES_tradnl" altLang="es-CO" sz="3200" b="1" dirty="0">
                <a:solidFill>
                  <a:schemeClr val="bg1"/>
                </a:solidFill>
              </a:rPr>
              <a:t>Las respuestas a estas preguntas deben permitir responder la pregunta de la formulación del problema.</a:t>
            </a:r>
          </a:p>
          <a:p>
            <a:pPr algn="just" eaLnBrk="1" hangingPunct="1"/>
            <a:r>
              <a:rPr lang="es-ES_tradnl" altLang="es-CO" sz="3200" b="1" dirty="0">
                <a:solidFill>
                  <a:schemeClr val="bg1"/>
                </a:solidFill>
              </a:rPr>
              <a:t>Estas sub-preguntas orientan la formulación de los objetivos de la investigación.</a:t>
            </a:r>
            <a:endParaRPr lang="es-ES" altLang="es-CO" sz="3200" b="1" dirty="0">
              <a:solidFill>
                <a:schemeClr val="bg1"/>
              </a:solidFill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9779000" y="6488668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(Méndez &amp; Vélez, 2001)</a:t>
            </a:r>
          </a:p>
        </p:txBody>
      </p:sp>
    </p:spTree>
    <p:extLst>
      <p:ext uri="{BB962C8B-B14F-4D97-AF65-F5344CB8AC3E}">
        <p14:creationId xmlns:p14="http://schemas.microsoft.com/office/powerpoint/2010/main" val="22998507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6904656"/>
              </p:ext>
            </p:extLst>
          </p:nvPr>
        </p:nvGraphicFramePr>
        <p:xfrm>
          <a:off x="1322613" y="405720"/>
          <a:ext cx="9813471" cy="597185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7491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43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488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bg1"/>
                          </a:solidFill>
                          <a:effectLst/>
                        </a:rPr>
                        <a:t>PLANTEAMIENTO  DEL PROBLEMA</a:t>
                      </a:r>
                      <a:endParaRPr lang="es-ES" sz="16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535" marR="31535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9854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bg1"/>
                          </a:solidFill>
                          <a:effectLst/>
                        </a:rPr>
                        <a:t>SITUACIÓN ACTUAL(Diagnóstico):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s-ES" sz="16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535" marR="31535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48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solidFill>
                            <a:schemeClr val="bg1"/>
                          </a:solidFill>
                          <a:effectLst/>
                        </a:rPr>
                        <a:t>Variable Dependiente (síntomas)</a:t>
                      </a:r>
                      <a:endParaRPr lang="es-ES" sz="16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535" marR="31535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bg1"/>
                          </a:solidFill>
                          <a:effectLst/>
                        </a:rPr>
                        <a:t>Variable independiente (causas)</a:t>
                      </a:r>
                      <a:endParaRPr lang="es-ES" sz="16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535" marR="31535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48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s-ES" sz="16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535" marR="31535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s-ES" sz="16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535" marR="31535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48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s-ES" sz="16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535" marR="31535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s-ES" sz="16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535" marR="31535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48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s-ES" sz="16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535" marR="31535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s-ES" sz="16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535" marR="31535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48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s-ES" sz="16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535" marR="31535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s-ES" sz="16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535" marR="31535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248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s-ES" sz="16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535" marR="31535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s-ES" sz="16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535" marR="31535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37316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bg1"/>
                          </a:solidFill>
                          <a:effectLst/>
                        </a:rPr>
                        <a:t>SITUACIÓN FUTURA(Pronóstico):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6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s-ES" sz="16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535" marR="31535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19803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bg1"/>
                          </a:solidFill>
                          <a:effectLst/>
                        </a:rPr>
                        <a:t>CONTROL AL PRONÓSTICO: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6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s-ES" sz="16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535" marR="31535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89655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617153"/>
              </p:ext>
            </p:extLst>
          </p:nvPr>
        </p:nvGraphicFramePr>
        <p:xfrm>
          <a:off x="963386" y="249382"/>
          <a:ext cx="10629901" cy="64044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60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13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078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0668"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bg1"/>
                          </a:solidFill>
                          <a:effectLst/>
                        </a:rPr>
                        <a:t>FORMULACIÓN DEL PROBLEMA</a:t>
                      </a:r>
                      <a:endParaRPr lang="es-ES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859">
                <a:tc gridSpan="3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bg1"/>
                          </a:solidFill>
                          <a:effectLst/>
                        </a:rPr>
                        <a:t>Pregunta de investigación: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4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3467" marR="43467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668"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bg1"/>
                          </a:solidFill>
                          <a:effectLst/>
                        </a:rPr>
                        <a:t>VALORACIÓN PREGUNTA</a:t>
                      </a:r>
                      <a:endParaRPr lang="es-ES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668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b="1">
                          <a:solidFill>
                            <a:schemeClr val="bg1"/>
                          </a:solidFill>
                          <a:effectLst/>
                        </a:rPr>
                        <a:t>CRITERIO</a:t>
                      </a:r>
                      <a:endParaRPr lang="es-ES" sz="1400" b="1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b="1" dirty="0">
                          <a:solidFill>
                            <a:schemeClr val="bg1"/>
                          </a:solidFill>
                          <a:effectLst/>
                        </a:rPr>
                        <a:t>VALORACIÓN (1-10)</a:t>
                      </a:r>
                      <a:endParaRPr lang="es-ES" sz="14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668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bg1"/>
                          </a:solidFill>
                          <a:effectLst/>
                        </a:rPr>
                        <a:t>Concreta: Nada de ambigüedad </a:t>
                      </a:r>
                      <a:endParaRPr lang="es-ES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s-ES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0668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bg1"/>
                          </a:solidFill>
                          <a:effectLst/>
                        </a:rPr>
                        <a:t>Clara: Dejar evidente lo que se pregunta</a:t>
                      </a:r>
                      <a:endParaRPr lang="es-ES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s-ES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668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bg1"/>
                          </a:solidFill>
                          <a:effectLst/>
                        </a:rPr>
                        <a:t>Precisas: Puntuales y exactas</a:t>
                      </a:r>
                      <a:endParaRPr lang="es-ES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s-ES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0668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bg1"/>
                          </a:solidFill>
                          <a:effectLst/>
                        </a:rPr>
                        <a:t>Completa: sujeto o predicado</a:t>
                      </a:r>
                      <a:endParaRPr lang="es-ES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s-ES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0668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bg1"/>
                          </a:solidFill>
                          <a:effectLst/>
                        </a:rPr>
                        <a:t>Genera muchas dudas</a:t>
                      </a:r>
                      <a:endParaRPr lang="es-ES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s-ES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0668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bg1"/>
                          </a:solidFill>
                          <a:effectLst/>
                        </a:rPr>
                        <a:t>No deben ser demasiado generales</a:t>
                      </a:r>
                      <a:endParaRPr lang="es-ES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s-ES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1335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bg1"/>
                          </a:solidFill>
                          <a:effectLst/>
                        </a:rPr>
                        <a:t>Establecer los límites temporales y espaciales</a:t>
                      </a:r>
                      <a:endParaRPr lang="es-ES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s-ES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0668"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bg1"/>
                          </a:solidFill>
                          <a:effectLst/>
                        </a:rPr>
                        <a:t>SISTEMATIZACIÓN DEL PROBLEMA</a:t>
                      </a:r>
                      <a:endParaRPr lang="es-ES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66200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bg1"/>
                          </a:solidFill>
                          <a:effectLst/>
                        </a:rPr>
                        <a:t>Sub-pregunta</a:t>
                      </a:r>
                      <a:endParaRPr lang="es-ES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bg1"/>
                          </a:solidFill>
                          <a:effectLst/>
                        </a:rPr>
                        <a:t>   </a:t>
                      </a:r>
                      <a:endParaRPr lang="es-ES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66200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bg1"/>
                          </a:solidFill>
                          <a:effectLst/>
                        </a:rPr>
                        <a:t>Sub-pregunta</a:t>
                      </a:r>
                      <a:endParaRPr lang="es-ES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bg1"/>
                          </a:solidFill>
                          <a:effectLst/>
                        </a:rPr>
                        <a:t>   </a:t>
                      </a:r>
                      <a:endParaRPr lang="es-ES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66200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bg1"/>
                          </a:solidFill>
                          <a:effectLst/>
                        </a:rPr>
                        <a:t>Sub-pregunta</a:t>
                      </a:r>
                      <a:endParaRPr lang="es-ES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s-ES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66200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bg1"/>
                          </a:solidFill>
                          <a:effectLst/>
                        </a:rPr>
                        <a:t>Sub-pregunta</a:t>
                      </a:r>
                      <a:endParaRPr lang="es-ES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bg1"/>
                          </a:solidFill>
                          <a:effectLst/>
                        </a:rPr>
                        <a:t>  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s-ES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66200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bg1"/>
                          </a:solidFill>
                          <a:effectLst/>
                        </a:rPr>
                        <a:t>Sub-pregunta</a:t>
                      </a:r>
                      <a:endParaRPr lang="es-ES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bg1"/>
                          </a:solidFill>
                          <a:effectLst/>
                        </a:rPr>
                        <a:t>  </a:t>
                      </a:r>
                      <a:endParaRPr lang="es-ES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52532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957674"/>
              </p:ext>
            </p:extLst>
          </p:nvPr>
        </p:nvGraphicFramePr>
        <p:xfrm>
          <a:off x="653142" y="309575"/>
          <a:ext cx="11038114" cy="617451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745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7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6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800"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bg1"/>
                          </a:solidFill>
                          <a:effectLst/>
                        </a:rPr>
                        <a:t>VALORACIÓN DEL PROBLEMA</a:t>
                      </a:r>
                      <a:endParaRPr lang="es-ES" sz="16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8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>
                          <a:solidFill>
                            <a:schemeClr val="bg1"/>
                          </a:solidFill>
                          <a:effectLst/>
                        </a:rPr>
                        <a:t>CRITERIO</a:t>
                      </a:r>
                      <a:endParaRPr lang="es-ES" sz="1600" b="1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>
                          <a:solidFill>
                            <a:schemeClr val="bg1"/>
                          </a:solidFill>
                          <a:effectLst/>
                        </a:rPr>
                        <a:t>DESCRIPCIÓN</a:t>
                      </a:r>
                      <a:endParaRPr lang="es-ES" sz="1600" b="1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bg1"/>
                          </a:solidFill>
                          <a:effectLst/>
                        </a:rPr>
                        <a:t>AUTO-VALORACIÓN(1-10)</a:t>
                      </a:r>
                      <a:endParaRPr lang="es-ES" sz="16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79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bg1"/>
                          </a:solidFill>
                          <a:effectLst/>
                        </a:rPr>
                        <a:t>Real: ¿Es nuevo el problema? ¿Se dispone ya de una contestación al mismo?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s-ES" sz="16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s-ES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s-ES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09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bg1"/>
                          </a:solidFill>
                          <a:effectLst/>
                        </a:rPr>
                        <a:t>Resoluble: ¿Es éste el tipo de problema que puede ser eficazmente resuelto mediante el proceso de investigación?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s-ES" sz="16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s-ES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s-ES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5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bg1"/>
                          </a:solidFill>
                          <a:effectLst/>
                        </a:rPr>
                        <a:t>Relevante: ¿Es el problema significativo?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s-ES" sz="16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s-ES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s-ES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06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bg1"/>
                          </a:solidFill>
                          <a:effectLst/>
                        </a:rPr>
                        <a:t>Factible: (Competencia, Acceso a datos, Recursos económicos, Tiempo)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s-ES" sz="16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s-ES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s-ES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09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bg1"/>
                          </a:solidFill>
                          <a:effectLst/>
                        </a:rPr>
                        <a:t>Generador de conocimiento: ¿Produciría la solución alguna diferencia en lo que se refiere a la teoría?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s-ES" sz="16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s-ES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s-ES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6079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bg1"/>
                          </a:solidFill>
                          <a:effectLst/>
                        </a:rPr>
                        <a:t>Generador de nuevos problemas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</a:p>
                  </a:txBody>
                  <a:tcPr marL="43467" marR="4346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s-ES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s-ES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467" marR="43467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45233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Recomendaciones generales  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200" y="2011680"/>
            <a:ext cx="11133786" cy="4206240"/>
          </a:xfrm>
        </p:spPr>
        <p:txBody>
          <a:bodyPr>
            <a:normAutofit lnSpcReduction="10000"/>
          </a:bodyPr>
          <a:lstStyle/>
          <a:p>
            <a:endParaRPr lang="es-CO" sz="3200" dirty="0"/>
          </a:p>
          <a:p>
            <a:r>
              <a:rPr lang="es-CO" sz="3200" dirty="0">
                <a:solidFill>
                  <a:schemeClr val="bg1"/>
                </a:solidFill>
              </a:rPr>
              <a:t>No siempre todo lo nuevo es útil</a:t>
            </a:r>
          </a:p>
          <a:p>
            <a:r>
              <a:rPr lang="es-CO" sz="3200" dirty="0">
                <a:solidFill>
                  <a:schemeClr val="bg1"/>
                </a:solidFill>
              </a:rPr>
              <a:t>No siempre las soluciones actuales resuelven los nuevos problemas.</a:t>
            </a:r>
            <a:endParaRPr lang="es-ES" sz="3200" dirty="0">
              <a:solidFill>
                <a:schemeClr val="bg1"/>
              </a:solidFill>
            </a:endParaRPr>
          </a:p>
          <a:p>
            <a:r>
              <a:rPr lang="es-ES" sz="3200" dirty="0">
                <a:solidFill>
                  <a:schemeClr val="bg1"/>
                </a:solidFill>
              </a:rPr>
              <a:t>Frases completas y coherentes (sujeto + verbo +complemento).</a:t>
            </a:r>
          </a:p>
          <a:p>
            <a:r>
              <a:rPr lang="es-ES" sz="3200" dirty="0">
                <a:solidFill>
                  <a:schemeClr val="bg1"/>
                </a:solidFill>
              </a:rPr>
              <a:t>Usar el punto seguido para acortar ideas muy largas.</a:t>
            </a:r>
          </a:p>
          <a:p>
            <a:r>
              <a:rPr lang="es-ES" sz="3200" dirty="0">
                <a:solidFill>
                  <a:schemeClr val="bg1"/>
                </a:solidFill>
              </a:rPr>
              <a:t>Referenciar trabajos de otros autores en la investigación para dar sustento y bases solidas. </a:t>
            </a:r>
          </a:p>
        </p:txBody>
      </p:sp>
    </p:spTree>
    <p:extLst>
      <p:ext uri="{BB962C8B-B14F-4D97-AF65-F5344CB8AC3E}">
        <p14:creationId xmlns:p14="http://schemas.microsoft.com/office/powerpoint/2010/main" val="8052392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 bandas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TM03090430[[fn=Con bandas]]</Template>
  <TotalTime>908</TotalTime>
  <Words>1965</Words>
  <Application>Microsoft Office PowerPoint</Application>
  <PresentationFormat>Widescreen</PresentationFormat>
  <Paragraphs>235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Calibri</vt:lpstr>
      <vt:lpstr>Corbel</vt:lpstr>
      <vt:lpstr>Wingdings</vt:lpstr>
      <vt:lpstr>Con bandas</vt:lpstr>
      <vt:lpstr>El problema de investigación</vt:lpstr>
      <vt:lpstr> preguntas claves-EN LA PROPUESTA </vt:lpstr>
      <vt:lpstr>PROBLEMA</vt:lpstr>
      <vt:lpstr>¿Qué es?</vt:lpstr>
      <vt:lpstr>¿Qué es?</vt:lpstr>
      <vt:lpstr>¿Qué es?</vt:lpstr>
      <vt:lpstr>Fuentes </vt:lpstr>
      <vt:lpstr>Valoración del problema </vt:lpstr>
      <vt:lpstr>Los criterios para el planteamiento del problema(Kerlinger &amp; Lee,1975)  </vt:lpstr>
      <vt:lpstr>Etapas del planteamiento del problema </vt:lpstr>
      <vt:lpstr>El Problema de Investigación-Etapas</vt:lpstr>
      <vt:lpstr>Planteamiento del problema-Diagnóstico</vt:lpstr>
      <vt:lpstr>Planteamiento del problema-Diagnóstico</vt:lpstr>
      <vt:lpstr>Planteamiento del problema-Diagnóstico</vt:lpstr>
      <vt:lpstr>Planteamiento del problema PROnóstico</vt:lpstr>
      <vt:lpstr>Formulación del problema pregunta de investigación </vt:lpstr>
      <vt:lpstr>Planteamiento del problema CONTROL</vt:lpstr>
      <vt:lpstr>Formulación del problema pregunta de investigación </vt:lpstr>
      <vt:lpstr>Formulación del problema Características de la pregunta </vt:lpstr>
      <vt:lpstr>Sistematización del problema</vt:lpstr>
      <vt:lpstr>PowerPoint Presentation</vt:lpstr>
      <vt:lpstr>PowerPoint Presentation</vt:lpstr>
      <vt:lpstr>PowerPoint Presentation</vt:lpstr>
      <vt:lpstr>Recomendaciones generales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problema de investigación</dc:title>
  <dc:creator>Ernesto</dc:creator>
  <cp:lastModifiedBy>Norbey Muñoz</cp:lastModifiedBy>
  <cp:revision>58</cp:revision>
  <dcterms:created xsi:type="dcterms:W3CDTF">2015-08-20T21:59:01Z</dcterms:created>
  <dcterms:modified xsi:type="dcterms:W3CDTF">2026-06-13T17:01:03Z</dcterms:modified>
</cp:coreProperties>
</file>
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3" r:id="rId5"/>
    <p:sldId id="260" r:id="rId6"/>
    <p:sldId id="265" r:id="rId7"/>
    <p:sldId id="259" r:id="rId8"/>
    <p:sldId id="266" r:id="rId9"/>
    <p:sldId id="261" r:id="rId10"/>
    <p:sldId id="267" r:id="rId11"/>
    <p:sldId id="262" r:id="rId12"/>
    <p:sldId id="264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EF2D55-3793-46CE-9007-6650FCB4E98B}" v="1" dt="2026-06-22T21:35:35.1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216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rbey Muñoz" userId="b7e811e8891ccd42" providerId="LiveId" clId="{2482167B-ADD3-4E68-AB8B-ADE9CECE27D0}"/>
    <pc:docChg chg="custSel addSld modSld">
      <pc:chgData name="Norbey Muñoz" userId="b7e811e8891ccd42" providerId="LiveId" clId="{2482167B-ADD3-4E68-AB8B-ADE9CECE27D0}" dt="2026-06-22T22:37:43.236" v="70" actId="14100"/>
      <pc:docMkLst>
        <pc:docMk/>
      </pc:docMkLst>
      <pc:sldChg chg="delSp modSp mod">
        <pc:chgData name="Norbey Muñoz" userId="b7e811e8891ccd42" providerId="LiveId" clId="{2482167B-ADD3-4E68-AB8B-ADE9CECE27D0}" dt="2026-06-22T21:35:43.341" v="3" actId="6549"/>
        <pc:sldMkLst>
          <pc:docMk/>
          <pc:sldMk cId="1067777777" sldId="256"/>
        </pc:sldMkLst>
        <pc:spChg chg="mod">
          <ac:chgData name="Norbey Muñoz" userId="b7e811e8891ccd42" providerId="LiveId" clId="{2482167B-ADD3-4E68-AB8B-ADE9CECE27D0}" dt="2026-06-22T21:35:43.341" v="3" actId="6549"/>
          <ac:spMkLst>
            <pc:docMk/>
            <pc:sldMk cId="1067777777" sldId="256"/>
            <ac:spMk id="3" creationId="{00000000-0000-0000-0000-000000000000}"/>
          </ac:spMkLst>
        </pc:spChg>
        <pc:picChg chg="del">
          <ac:chgData name="Norbey Muñoz" userId="b7e811e8891ccd42" providerId="LiveId" clId="{2482167B-ADD3-4E68-AB8B-ADE9CECE27D0}" dt="2026-06-22T21:35:35.176" v="0" actId="478"/>
          <ac:picMkLst>
            <pc:docMk/>
            <pc:sldMk cId="1067777777" sldId="256"/>
            <ac:picMk id="4" creationId="{00000000-0000-0000-0000-000000000000}"/>
          </ac:picMkLst>
        </pc:picChg>
      </pc:sldChg>
      <pc:sldChg chg="delSp modSp mod">
        <pc:chgData name="Norbey Muñoz" userId="b7e811e8891ccd42" providerId="LiveId" clId="{2482167B-ADD3-4E68-AB8B-ADE9CECE27D0}" dt="2026-06-22T21:35:58.727" v="5" actId="20577"/>
        <pc:sldMkLst>
          <pc:docMk/>
          <pc:sldMk cId="1113305378" sldId="257"/>
        </pc:sldMkLst>
        <pc:spChg chg="mod">
          <ac:chgData name="Norbey Muñoz" userId="b7e811e8891ccd42" providerId="LiveId" clId="{2482167B-ADD3-4E68-AB8B-ADE9CECE27D0}" dt="2026-06-22T21:35:58.727" v="5" actId="20577"/>
          <ac:spMkLst>
            <pc:docMk/>
            <pc:sldMk cId="1113305378" sldId="257"/>
            <ac:spMk id="3" creationId="{00000000-0000-0000-0000-000000000000}"/>
          </ac:spMkLst>
        </pc:spChg>
        <pc:spChg chg="del">
          <ac:chgData name="Norbey Muñoz" userId="b7e811e8891ccd42" providerId="LiveId" clId="{2482167B-ADD3-4E68-AB8B-ADE9CECE27D0}" dt="2026-06-22T21:35:49.469" v="4" actId="478"/>
          <ac:spMkLst>
            <pc:docMk/>
            <pc:sldMk cId="1113305378" sldId="257"/>
            <ac:spMk id="4" creationId="{00000000-0000-0000-0000-000000000000}"/>
          </ac:spMkLst>
        </pc:spChg>
      </pc:sldChg>
      <pc:sldChg chg="modSp mod">
        <pc:chgData name="Norbey Muñoz" userId="b7e811e8891ccd42" providerId="LiveId" clId="{2482167B-ADD3-4E68-AB8B-ADE9CECE27D0}" dt="2026-06-22T21:36:18.136" v="8" actId="20577"/>
        <pc:sldMkLst>
          <pc:docMk/>
          <pc:sldMk cId="2163871205" sldId="258"/>
        </pc:sldMkLst>
        <pc:spChg chg="mod">
          <ac:chgData name="Norbey Muñoz" userId="b7e811e8891ccd42" providerId="LiveId" clId="{2482167B-ADD3-4E68-AB8B-ADE9CECE27D0}" dt="2026-06-22T21:36:18.136" v="8" actId="20577"/>
          <ac:spMkLst>
            <pc:docMk/>
            <pc:sldMk cId="2163871205" sldId="258"/>
            <ac:spMk id="3" creationId="{00000000-0000-0000-0000-000000000000}"/>
          </ac:spMkLst>
        </pc:spChg>
      </pc:sldChg>
      <pc:sldChg chg="modSp mod">
        <pc:chgData name="Norbey Muñoz" userId="b7e811e8891ccd42" providerId="LiveId" clId="{2482167B-ADD3-4E68-AB8B-ADE9CECE27D0}" dt="2026-06-22T21:58:18.161" v="9" actId="123"/>
        <pc:sldMkLst>
          <pc:docMk/>
          <pc:sldMk cId="621361344" sldId="260"/>
        </pc:sldMkLst>
        <pc:spChg chg="mod">
          <ac:chgData name="Norbey Muñoz" userId="b7e811e8891ccd42" providerId="LiveId" clId="{2482167B-ADD3-4E68-AB8B-ADE9CECE27D0}" dt="2026-06-22T21:58:18.161" v="9" actId="123"/>
          <ac:spMkLst>
            <pc:docMk/>
            <pc:sldMk cId="621361344" sldId="260"/>
            <ac:spMk id="21507" creationId="{00000000-0000-0000-0000-000000000000}"/>
          </ac:spMkLst>
        </pc:spChg>
      </pc:sldChg>
      <pc:sldChg chg="modSp mod">
        <pc:chgData name="Norbey Muñoz" userId="b7e811e8891ccd42" providerId="LiveId" clId="{2482167B-ADD3-4E68-AB8B-ADE9CECE27D0}" dt="2026-06-22T22:00:12.006" v="30" actId="123"/>
        <pc:sldMkLst>
          <pc:docMk/>
          <pc:sldMk cId="4189818077" sldId="261"/>
        </pc:sldMkLst>
        <pc:spChg chg="mod">
          <ac:chgData name="Norbey Muñoz" userId="b7e811e8891ccd42" providerId="LiveId" clId="{2482167B-ADD3-4E68-AB8B-ADE9CECE27D0}" dt="2026-06-22T22:00:12.006" v="30" actId="123"/>
          <ac:spMkLst>
            <pc:docMk/>
            <pc:sldMk cId="4189818077" sldId="261"/>
            <ac:spMk id="22531" creationId="{00000000-0000-0000-0000-000000000000}"/>
          </ac:spMkLst>
        </pc:spChg>
      </pc:sldChg>
      <pc:sldChg chg="delSp modSp mod">
        <pc:chgData name="Norbey Muñoz" userId="b7e811e8891ccd42" providerId="LiveId" clId="{2482167B-ADD3-4E68-AB8B-ADE9CECE27D0}" dt="2026-06-22T22:00:26.014" v="32" actId="123"/>
        <pc:sldMkLst>
          <pc:docMk/>
          <pc:sldMk cId="280661621" sldId="262"/>
        </pc:sldMkLst>
        <pc:spChg chg="mod">
          <ac:chgData name="Norbey Muñoz" userId="b7e811e8891ccd42" providerId="LiveId" clId="{2482167B-ADD3-4E68-AB8B-ADE9CECE27D0}" dt="2026-06-22T22:00:26.014" v="32" actId="123"/>
          <ac:spMkLst>
            <pc:docMk/>
            <pc:sldMk cId="280661621" sldId="262"/>
            <ac:spMk id="3" creationId="{00000000-0000-0000-0000-000000000000}"/>
          </ac:spMkLst>
        </pc:spChg>
        <pc:spChg chg="del">
          <ac:chgData name="Norbey Muñoz" userId="b7e811e8891ccd42" providerId="LiveId" clId="{2482167B-ADD3-4E68-AB8B-ADE9CECE27D0}" dt="2026-06-22T22:00:20.402" v="31" actId="478"/>
          <ac:spMkLst>
            <pc:docMk/>
            <pc:sldMk cId="280661621" sldId="262"/>
            <ac:spMk id="4" creationId="{00000000-0000-0000-0000-000000000000}"/>
          </ac:spMkLst>
        </pc:spChg>
      </pc:sldChg>
      <pc:sldChg chg="modSp mod">
        <pc:chgData name="Norbey Muñoz" userId="b7e811e8891ccd42" providerId="LiveId" clId="{2482167B-ADD3-4E68-AB8B-ADE9CECE27D0}" dt="2026-06-22T21:58:30.474" v="10" actId="123"/>
        <pc:sldMkLst>
          <pc:docMk/>
          <pc:sldMk cId="1988079026" sldId="265"/>
        </pc:sldMkLst>
        <pc:spChg chg="mod">
          <ac:chgData name="Norbey Muñoz" userId="b7e811e8891ccd42" providerId="LiveId" clId="{2482167B-ADD3-4E68-AB8B-ADE9CECE27D0}" dt="2026-06-22T21:58:30.474" v="10" actId="123"/>
          <ac:spMkLst>
            <pc:docMk/>
            <pc:sldMk cId="1988079026" sldId="265"/>
            <ac:spMk id="21507" creationId="{00000000-0000-0000-0000-000000000000}"/>
          </ac:spMkLst>
        </pc:spChg>
      </pc:sldChg>
      <pc:sldChg chg="delSp modSp mod">
        <pc:chgData name="Norbey Muñoz" userId="b7e811e8891ccd42" providerId="LiveId" clId="{2482167B-ADD3-4E68-AB8B-ADE9CECE27D0}" dt="2026-06-22T21:59:38.608" v="19" actId="20577"/>
        <pc:sldMkLst>
          <pc:docMk/>
          <pc:sldMk cId="2401129823" sldId="266"/>
        </pc:sldMkLst>
        <pc:spChg chg="del">
          <ac:chgData name="Norbey Muñoz" userId="b7e811e8891ccd42" providerId="LiveId" clId="{2482167B-ADD3-4E68-AB8B-ADE9CECE27D0}" dt="2026-06-22T21:58:50.340" v="11" actId="478"/>
          <ac:spMkLst>
            <pc:docMk/>
            <pc:sldMk cId="2401129823" sldId="266"/>
            <ac:spMk id="2" creationId="{00000000-0000-0000-0000-000000000000}"/>
          </ac:spMkLst>
        </pc:spChg>
        <pc:graphicFrameChg chg="mod modGraphic">
          <ac:chgData name="Norbey Muñoz" userId="b7e811e8891ccd42" providerId="LiveId" clId="{2482167B-ADD3-4E68-AB8B-ADE9CECE27D0}" dt="2026-06-22T21:59:38.608" v="19" actId="20577"/>
          <ac:graphicFrameMkLst>
            <pc:docMk/>
            <pc:sldMk cId="2401129823" sldId="266"/>
            <ac:graphicFrameMk id="5" creationId="{00000000-0000-0000-0000-000000000000}"/>
          </ac:graphicFrameMkLst>
        </pc:graphicFrameChg>
      </pc:sldChg>
      <pc:sldChg chg="modSp add mod">
        <pc:chgData name="Norbey Muñoz" userId="b7e811e8891ccd42" providerId="LiveId" clId="{2482167B-ADD3-4E68-AB8B-ADE9CECE27D0}" dt="2026-06-22T22:37:43.236" v="70" actId="14100"/>
        <pc:sldMkLst>
          <pc:docMk/>
          <pc:sldMk cId="1106058353" sldId="267"/>
        </pc:sldMkLst>
        <pc:spChg chg="mod">
          <ac:chgData name="Norbey Muñoz" userId="b7e811e8891ccd42" providerId="LiveId" clId="{2482167B-ADD3-4E68-AB8B-ADE9CECE27D0}" dt="2026-06-22T22:37:43.236" v="70" actId="14100"/>
          <ac:spMkLst>
            <pc:docMk/>
            <pc:sldMk cId="1106058353" sldId="267"/>
            <ac:spMk id="22531" creationId="{CD40FC11-6690-4A1A-8345-B5EB65FD675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O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6/22/2026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6/22/2026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6/22/2026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6/22/2026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6/22/2026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6/22/2026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6/22/2026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6/22/2026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6/22/2026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O"/>
            </a:p>
          </p:txBody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O"/>
            </a:p>
          </p:txBody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O"/>
            </a:p>
          </p:txBody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O"/>
            </a:p>
          </p:txBody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O"/>
            </a:p>
          </p:txBody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CO"/>
            </a:p>
          </p:txBody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s-CO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6/22/2026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56826" y="1591733"/>
            <a:ext cx="10947400" cy="2677648"/>
          </a:xfrm>
        </p:spPr>
        <p:txBody>
          <a:bodyPr/>
          <a:lstStyle/>
          <a:p>
            <a:pPr algn="ctr"/>
            <a:r>
              <a:rPr lang="es-ES_tradnl" altLang="es-CO" b="1" dirty="0">
                <a:solidFill>
                  <a:srgbClr val="92D050"/>
                </a:solidFill>
              </a:rPr>
              <a:t>OBJETIVOS DE LA INVESTIGACIÓN</a:t>
            </a:r>
            <a:endParaRPr lang="es-ES" b="1" dirty="0">
              <a:solidFill>
                <a:srgbClr val="92D050"/>
              </a:solidFill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17697" y="4828180"/>
            <a:ext cx="8825658" cy="861420"/>
          </a:xfrm>
        </p:spPr>
        <p:txBody>
          <a:bodyPr/>
          <a:lstStyle/>
          <a:p>
            <a:pPr algn="ctr"/>
            <a:r>
              <a:rPr lang="es-ES" b="1" dirty="0"/>
              <a:t>SEMINARIO DE INVESTIGACIÓN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67777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b="1" dirty="0"/>
              <a:t>DEFINICIÓN 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97754" y="2616200"/>
            <a:ext cx="10757646" cy="3416300"/>
          </a:xfrm>
        </p:spPr>
        <p:txBody>
          <a:bodyPr>
            <a:normAutofit/>
          </a:bodyPr>
          <a:lstStyle/>
          <a:p>
            <a:pPr algn="just"/>
            <a:r>
              <a:rPr lang="es-ES" sz="2800" b="1" dirty="0"/>
              <a:t>Los objetivos indican cuáles son las metas de conocimiento a alcanzar: a qué resultados se quiere llegar.</a:t>
            </a:r>
          </a:p>
          <a:p>
            <a:pPr algn="just"/>
            <a:r>
              <a:rPr lang="es-ES" sz="2800" b="1" dirty="0"/>
              <a:t>Los objetivos no dan los resultados, sino los plantean en forma genérica. </a:t>
            </a:r>
          </a:p>
          <a:p>
            <a:pPr algn="just"/>
            <a:r>
              <a:rPr lang="es-ES" sz="2800" b="1" dirty="0"/>
              <a:t>Indican el propósito por el que se realiza una investigación.</a:t>
            </a:r>
          </a:p>
        </p:txBody>
      </p:sp>
    </p:spTree>
    <p:extLst>
      <p:ext uri="{BB962C8B-B14F-4D97-AF65-F5344CB8AC3E}">
        <p14:creationId xmlns:p14="http://schemas.microsoft.com/office/powerpoint/2010/main" val="1113305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Tipos de Objetivos 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s-ES" sz="2400" b="1" dirty="0">
                <a:solidFill>
                  <a:srgbClr val="FF0000"/>
                </a:solidFill>
              </a:rPr>
              <a:t>OBJETIVO GENERAL</a:t>
            </a:r>
          </a:p>
          <a:p>
            <a:pPr marL="0" indent="0" algn="just">
              <a:buNone/>
            </a:pPr>
            <a:endParaRPr lang="es-ES" sz="2400" dirty="0"/>
          </a:p>
          <a:p>
            <a:pPr algn="just"/>
            <a:r>
              <a:rPr lang="es-ES" sz="2400" dirty="0"/>
              <a:t>Los</a:t>
            </a:r>
            <a:r>
              <a:rPr lang="es-ES" sz="2400" b="1" dirty="0"/>
              <a:t> objetivos generales en una investigación</a:t>
            </a:r>
            <a:r>
              <a:rPr lang="es-ES" sz="2400" dirty="0"/>
              <a:t> se centran en un aspecto u objeto de estudio amplio e indican los propósitos globales. </a:t>
            </a:r>
          </a:p>
          <a:p>
            <a:pPr algn="just"/>
            <a:r>
              <a:rPr lang="es-ES" sz="2400" dirty="0"/>
              <a:t>Resume el resultado final que se pretende alcanzar con una investigación.</a:t>
            </a:r>
          </a:p>
          <a:p>
            <a:pPr algn="just"/>
            <a:r>
              <a:rPr lang="es-ES_tradnl" altLang="es-CO" sz="2400" dirty="0">
                <a:solidFill>
                  <a:srgbClr val="0000CC"/>
                </a:solidFill>
              </a:rPr>
              <a:t>Responde a la pregunta de investigación.</a:t>
            </a:r>
            <a:endParaRPr lang="es-ES" sz="2400" dirty="0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38712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dirty="0"/>
              <a:t>Tipos de Objetivos 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54954" y="2603500"/>
            <a:ext cx="10325846" cy="37719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sz="2600" b="1" dirty="0">
                <a:solidFill>
                  <a:srgbClr val="FF0000"/>
                </a:solidFill>
              </a:rPr>
              <a:t>OBJETIVOS ESPECÍFICOS</a:t>
            </a:r>
            <a:endParaRPr lang="es-ES_tradnl" altLang="es-CO" sz="2600" dirty="0">
              <a:solidFill>
                <a:srgbClr val="FF0000"/>
              </a:solidFill>
            </a:endParaRPr>
          </a:p>
          <a:p>
            <a:pPr algn="just"/>
            <a:r>
              <a:rPr lang="es-ES_tradnl" altLang="es-CO" b="1" dirty="0">
                <a:solidFill>
                  <a:srgbClr val="0000CC"/>
                </a:solidFill>
              </a:rPr>
              <a:t>Son aquellos por los cuales se puede lograr el objetivo general.</a:t>
            </a:r>
            <a:endParaRPr lang="es-ES" b="1" dirty="0">
              <a:solidFill>
                <a:srgbClr val="0000CC"/>
              </a:solidFill>
            </a:endParaRPr>
          </a:p>
          <a:p>
            <a:pPr algn="just"/>
            <a:r>
              <a:rPr lang="es-ES" dirty="0"/>
              <a:t>Los </a:t>
            </a:r>
            <a:r>
              <a:rPr lang="es-ES" b="1" dirty="0"/>
              <a:t>objetivos específicos en una investigació</a:t>
            </a:r>
            <a:r>
              <a:rPr lang="es-ES" dirty="0"/>
              <a:t>n están planteados sobre aspectos más concretos, derivados de los objetivos generales.</a:t>
            </a:r>
          </a:p>
          <a:p>
            <a:pPr algn="just"/>
            <a:r>
              <a:rPr lang="es-ES" dirty="0"/>
              <a:t>Son sub-objetivos que descentralizan la focalización del tema, pero dentro de su contexto. </a:t>
            </a:r>
          </a:p>
          <a:p>
            <a:pPr algn="just"/>
            <a:r>
              <a:rPr lang="es-ES" b="1" dirty="0">
                <a:solidFill>
                  <a:srgbClr val="0000CC"/>
                </a:solidFill>
              </a:rPr>
              <a:t>Son partes de un todo</a:t>
            </a:r>
            <a:r>
              <a:rPr lang="es-ES" dirty="0"/>
              <a:t>, enunciadas para facilitar la comprensión de las metas a las que se arribará con las conclusiones.</a:t>
            </a:r>
          </a:p>
          <a:p>
            <a:pPr algn="just"/>
            <a:r>
              <a:rPr lang="es-ES" dirty="0"/>
              <a:t>Se focalizan las tareas a desarrollar en la investigación en una serie de proposiciones que desagregan los contenidos implícitos en el objetivo general</a:t>
            </a:r>
          </a:p>
          <a:p>
            <a:pPr algn="just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154306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s-ES_tradnl" altLang="es-CO" dirty="0"/>
              <a:t>Características de los Objetivos de la Investigación</a:t>
            </a:r>
            <a:endParaRPr lang="es-ES" altLang="es-CO" dirty="0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54954" y="2603500"/>
            <a:ext cx="10008346" cy="3416300"/>
          </a:xfrm>
        </p:spPr>
        <p:txBody>
          <a:bodyPr>
            <a:normAutofit/>
          </a:bodyPr>
          <a:lstStyle/>
          <a:p>
            <a:pPr algn="just" eaLnBrk="1" hangingPunct="1">
              <a:lnSpc>
                <a:spcPct val="80000"/>
              </a:lnSpc>
            </a:pPr>
            <a:r>
              <a:rPr lang="es-ES_tradnl" altLang="es-CO" sz="2800" dirty="0"/>
              <a:t>Su formulación debe comprender resultados concretos.</a:t>
            </a:r>
          </a:p>
          <a:p>
            <a:pPr algn="just" eaLnBrk="1" hangingPunct="1">
              <a:lnSpc>
                <a:spcPct val="80000"/>
              </a:lnSpc>
            </a:pPr>
            <a:r>
              <a:rPr lang="es-ES_tradnl" altLang="es-CO" sz="2800" dirty="0"/>
              <a:t>El alcance debe estar dentro de las posibilidades del investigador.</a:t>
            </a:r>
          </a:p>
          <a:p>
            <a:pPr algn="just" eaLnBrk="1" hangingPunct="1">
              <a:lnSpc>
                <a:spcPct val="80000"/>
              </a:lnSpc>
            </a:pPr>
            <a:r>
              <a:rPr lang="es-ES_tradnl" altLang="es-CO" sz="2800" dirty="0"/>
              <a:t>Debe ajustarse a la consecución de resultados por la acción del investigador.</a:t>
            </a:r>
          </a:p>
          <a:p>
            <a:pPr algn="just" eaLnBrk="1" hangingPunct="1">
              <a:lnSpc>
                <a:spcPct val="80000"/>
              </a:lnSpc>
            </a:pPr>
            <a:r>
              <a:rPr lang="es-ES_tradnl" altLang="es-CO" sz="2800" dirty="0"/>
              <a:t>El objetivo general ofrece  resultados amplios, y los específicos se refieren a  situaciones particulares.</a:t>
            </a:r>
            <a:endParaRPr lang="es-ES" altLang="es-CO" sz="2800" dirty="0"/>
          </a:p>
        </p:txBody>
      </p:sp>
    </p:spTree>
    <p:extLst>
      <p:ext uri="{BB962C8B-B14F-4D97-AF65-F5344CB8AC3E}">
        <p14:creationId xmlns:p14="http://schemas.microsoft.com/office/powerpoint/2010/main" val="6213613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s-ES_tradnl" altLang="es-CO" dirty="0"/>
              <a:t>Características de los Objetivos de la Investigación</a:t>
            </a:r>
            <a:endParaRPr lang="es-ES" altLang="es-CO" dirty="0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54954" y="2603500"/>
            <a:ext cx="10275046" cy="3416300"/>
          </a:xfrm>
        </p:spPr>
        <p:txBody>
          <a:bodyPr>
            <a:normAutofit/>
          </a:bodyPr>
          <a:lstStyle/>
          <a:p>
            <a:pPr algn="just"/>
            <a:r>
              <a:rPr lang="es-ES" sz="2800" dirty="0"/>
              <a:t>Deben estar redactados con claridad</a:t>
            </a:r>
          </a:p>
          <a:p>
            <a:pPr algn="just"/>
            <a:r>
              <a:rPr lang="es-ES" sz="2800" dirty="0"/>
              <a:t>Deben ser alcanzables</a:t>
            </a:r>
          </a:p>
          <a:p>
            <a:pPr algn="just"/>
            <a:r>
              <a:rPr lang="es-ES" sz="2800" dirty="0"/>
              <a:t>Deben contener además de la actividad, una finalidad</a:t>
            </a:r>
          </a:p>
          <a:p>
            <a:pPr algn="just"/>
            <a:r>
              <a:rPr lang="es-ES" sz="2800" dirty="0"/>
              <a:t>Deben estar dirigidos a la obtención de conocimientos</a:t>
            </a:r>
          </a:p>
          <a:p>
            <a:pPr algn="just"/>
            <a:r>
              <a:rPr lang="es-ES" sz="2800" dirty="0"/>
              <a:t>Cada objetivo debe aludir a un logro</a:t>
            </a:r>
          </a:p>
          <a:p>
            <a:pPr algn="just" eaLnBrk="1" hangingPunct="1">
              <a:lnSpc>
                <a:spcPct val="80000"/>
              </a:lnSpc>
            </a:pPr>
            <a:endParaRPr lang="es-ES" altLang="es-CO" sz="2800" dirty="0"/>
          </a:p>
        </p:txBody>
      </p:sp>
    </p:spTree>
    <p:extLst>
      <p:ext uri="{BB962C8B-B14F-4D97-AF65-F5344CB8AC3E}">
        <p14:creationId xmlns:p14="http://schemas.microsoft.com/office/powerpoint/2010/main" val="19880790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_tradnl" altLang="es-CO" dirty="0"/>
              <a:t>Características de los Objetivos de la Investigación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154954" y="2603500"/>
            <a:ext cx="9830546" cy="34163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ES_tradnl" altLang="es-CO" sz="2400" dirty="0"/>
              <a:t>La presentación formal se hace mediante infinitivo de verbos.</a:t>
            </a:r>
          </a:p>
          <a:p>
            <a:r>
              <a:rPr lang="es-ES" sz="2400" dirty="0"/>
              <a:t>Analizar				</a:t>
            </a:r>
            <a:r>
              <a:rPr lang="es-ES" sz="2400" b="1" dirty="0">
                <a:solidFill>
                  <a:srgbClr val="0000CC"/>
                </a:solidFill>
              </a:rPr>
              <a:t>Diseñar</a:t>
            </a:r>
            <a:r>
              <a:rPr lang="es-ES" sz="2400" dirty="0"/>
              <a:t>				</a:t>
            </a:r>
            <a:r>
              <a:rPr lang="es-ES" sz="2400" dirty="0">
                <a:solidFill>
                  <a:srgbClr val="C00000"/>
                </a:solidFill>
              </a:rPr>
              <a:t>Desarrollar</a:t>
            </a:r>
            <a:r>
              <a:rPr lang="es-ES" sz="2400" dirty="0"/>
              <a:t> </a:t>
            </a:r>
          </a:p>
          <a:p>
            <a:r>
              <a:rPr lang="es-ES" sz="2400" dirty="0">
                <a:solidFill>
                  <a:srgbClr val="C00000"/>
                </a:solidFill>
              </a:rPr>
              <a:t>Comparar</a:t>
            </a:r>
            <a:r>
              <a:rPr lang="es-ES" sz="2400" dirty="0"/>
              <a:t> 			Describir				Sistematizar	</a:t>
            </a:r>
          </a:p>
          <a:p>
            <a:r>
              <a:rPr lang="es-ES" sz="2400" dirty="0"/>
              <a:t>Definir					Clasificar				Sintetizar</a:t>
            </a:r>
          </a:p>
          <a:p>
            <a:r>
              <a:rPr lang="es-ES" sz="2400" dirty="0">
                <a:solidFill>
                  <a:srgbClr val="C00000"/>
                </a:solidFill>
              </a:rPr>
              <a:t>Caracterizar </a:t>
            </a:r>
            <a:r>
              <a:rPr lang="es-ES" sz="2400" dirty="0"/>
              <a:t>    		</a:t>
            </a:r>
            <a:r>
              <a:rPr lang="es-ES" sz="2400" dirty="0">
                <a:solidFill>
                  <a:srgbClr val="C00000"/>
                </a:solidFill>
              </a:rPr>
              <a:t>Identificar</a:t>
            </a:r>
            <a:r>
              <a:rPr lang="es-ES" sz="2400" dirty="0"/>
              <a:t>			</a:t>
            </a:r>
            <a:r>
              <a:rPr lang="es-ES" sz="2400" b="1" dirty="0">
                <a:solidFill>
                  <a:srgbClr val="0000CC"/>
                </a:solidFill>
              </a:rPr>
              <a:t>Modelar</a:t>
            </a:r>
          </a:p>
          <a:p>
            <a:r>
              <a:rPr lang="es-ES" sz="2400" dirty="0"/>
              <a:t>Recopilar				Explorar 				Generar </a:t>
            </a:r>
          </a:p>
          <a:p>
            <a:endParaRPr lang="es-ES" sz="2400" dirty="0"/>
          </a:p>
        </p:txBody>
      </p:sp>
      <p:sp>
        <p:nvSpPr>
          <p:cNvPr id="4" name="Rectángulo 3"/>
          <p:cNvSpPr/>
          <p:nvPr/>
        </p:nvSpPr>
        <p:spPr>
          <a:xfrm>
            <a:off x="3517900" y="3572986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090012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s-ES_tradnl" altLang="es-CO" dirty="0"/>
              <a:t>Como definir los  objetivos.</a:t>
            </a:r>
            <a:endParaRPr lang="es-ES" altLang="es-CO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12054" y="2273300"/>
            <a:ext cx="10986246" cy="5257800"/>
          </a:xfrm>
        </p:spPr>
        <p:txBody>
          <a:bodyPr/>
          <a:lstStyle/>
          <a:p>
            <a:pPr eaLnBrk="1" hangingPunct="1"/>
            <a:endParaRPr lang="es-ES_tradnl" altLang="es-CO" sz="2800" dirty="0"/>
          </a:p>
          <a:p>
            <a:pPr eaLnBrk="1" hangingPunct="1"/>
            <a:endParaRPr lang="es-ES" altLang="es-CO" sz="2800" dirty="0"/>
          </a:p>
        </p:txBody>
      </p:sp>
      <p:graphicFrame>
        <p:nvGraphicFramePr>
          <p:cNvPr id="5" name="Tab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8139659"/>
              </p:ext>
            </p:extLst>
          </p:nvPr>
        </p:nvGraphicFramePr>
        <p:xfrm>
          <a:off x="539750" y="2365944"/>
          <a:ext cx="11112500" cy="376345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6982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42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¿QUÉ SE QUIERE SABER?</a:t>
                      </a:r>
                      <a:endParaRPr lang="es-E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¿QUÉ OBJETIVO PLANTEAR?</a:t>
                      </a:r>
                      <a:endParaRPr lang="es-E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¿CÓMO ES? ¿QUIÉNES SON? ¿CUÁNTOS HAY?</a:t>
                      </a:r>
                      <a:endParaRPr lang="es-E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DESCRIBIR: CODIFICAR, ENUMERAR, CLASIFICAR, IDENTIFICAR, DIAGNOSTICAR.</a:t>
                      </a:r>
                      <a:endParaRPr lang="es-E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¿QUÉ DIFERENCIA HAY ENTRE ESTOS GRUPOS?</a:t>
                      </a:r>
                      <a:endParaRPr lang="es-E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COMPARAR: ASOCIAR, DIFERENCIAR.</a:t>
                      </a:r>
                      <a:endParaRPr lang="es-E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¿CUÁLES SON LOS ELEMENTOS QUE COMPONEN ESTE FENÓMENO?</a:t>
                      </a:r>
                      <a:endParaRPr lang="es-E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ANALIZAR: IDENTIFICAR, CRITICAR.</a:t>
                      </a:r>
                      <a:endParaRPr lang="es-E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¿POR QUÉ OCURRE ESTE FENÓMENO? ¿CUÁLES SON LAS CAUSAS QUE LO ORIGINARON?</a:t>
                      </a:r>
                      <a:endParaRPr lang="es-E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EXPLICAR: ENTENDER, COMPRENDER.</a:t>
                      </a:r>
                      <a:endParaRPr lang="es-E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¿CÓMO SE PRESENTARÁ ESTE FENÓMENO DADA LAS SIGUIENTES CIRCUNSTANCIAS?</a:t>
                      </a:r>
                      <a:endParaRPr lang="es-E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PREDECIR: PREVEER, PRONOSTICAR.</a:t>
                      </a:r>
                      <a:endParaRPr lang="es-E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¿CUÁLES DEBEN SER LAS CARACTERÍSTICAS DE ESTE PROYECTO QUE ME PERMITAN LOGRAR LOS OBJETIVOS XXX?</a:t>
                      </a:r>
                      <a:endParaRPr lang="es-E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PROPONER: PLANTEAR, FORMULAR, DISEÑAR, PROYECTAR, CREAR, PROGRAMAR.</a:t>
                      </a:r>
                      <a:endParaRPr lang="es-E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¿QUÉ CAMBIOS SE PUEDEN PRODUCIR EN ESTE FENÓMENO CON LA APLICACIÓN DE ESTE PROGRAMA?</a:t>
                      </a:r>
                      <a:endParaRPr lang="es-E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MODIFICAR: CAMBIAR, ORGANIZAR, MEJORAR, PROMOVER.</a:t>
                      </a:r>
                      <a:endParaRPr lang="es-E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¿EXISTE RELACIÓN ENTRE ESTOS DOS FACTORES?</a:t>
                      </a:r>
                      <a:endParaRPr lang="es-E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CONFIRMAR: VERIFICAR, COMPROBAR, DEMOSTRAR.</a:t>
                      </a:r>
                      <a:endParaRPr lang="es-ES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¿HASTA QUÉ PUNTO EL DISEÑO DE ESTE PROGRAMA ESTÁ ALCANZANDO LOS OBJETIVOS PROPUESTOS?</a:t>
                      </a:r>
                      <a:endParaRPr lang="es-E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EVALUAR: VALORAR.</a:t>
                      </a:r>
                      <a:endParaRPr lang="es-E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11298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s-ES_tradnl" altLang="es-CO" dirty="0"/>
              <a:t>Como definir los  objetivos.</a:t>
            </a:r>
            <a:endParaRPr lang="es-ES" altLang="es-CO" dirty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12054" y="2273300"/>
            <a:ext cx="10986246" cy="5257800"/>
          </a:xfrm>
        </p:spPr>
        <p:txBody>
          <a:bodyPr/>
          <a:lstStyle/>
          <a:p>
            <a:pPr algn="just" eaLnBrk="1" hangingPunct="1"/>
            <a:r>
              <a:rPr lang="es-ES_tradnl" altLang="es-CO" sz="2000" dirty="0"/>
              <a:t>Responder a las preguntas: ¿Qué quiero hacer?, ¿Qué es lo que busco conocer?, ¿A dónde quiero llegar?.</a:t>
            </a:r>
          </a:p>
          <a:p>
            <a:pPr algn="just" eaLnBrk="1" hangingPunct="1"/>
            <a:r>
              <a:rPr lang="es-ES_tradnl" altLang="es-CO" sz="2000" dirty="0"/>
              <a:t>Elaborar una lista preliminar de respuestas  que ayuden a satisfacer los interrogantes.</a:t>
            </a:r>
          </a:p>
          <a:p>
            <a:pPr algn="just" eaLnBrk="1" hangingPunct="1"/>
            <a:r>
              <a:rPr lang="es-ES_tradnl" altLang="es-CO" sz="2000" dirty="0"/>
              <a:t>Identificar las acciones  que usted va a realizar como investigador y que permiten lograr lo que se ha propuesto.</a:t>
            </a:r>
          </a:p>
          <a:p>
            <a:pPr algn="just" eaLnBrk="1" hangingPunct="1"/>
            <a:r>
              <a:rPr lang="es-ES_tradnl" altLang="es-CO" sz="2000" dirty="0"/>
              <a:t>Identifique cual de las acciones le ayudaran a responder la pregunta de investigación, esta acción es su objetivo general.</a:t>
            </a:r>
          </a:p>
          <a:p>
            <a:pPr algn="just" eaLnBrk="1" hangingPunct="1"/>
            <a:r>
              <a:rPr lang="es-ES_tradnl" altLang="es-CO" sz="2000" dirty="0"/>
              <a:t>Identifique cual de las acciones le ayudaran a responder las </a:t>
            </a:r>
            <a:r>
              <a:rPr lang="es-ES_tradnl" altLang="es-CO" sz="2000" dirty="0" err="1"/>
              <a:t>subpreguntas</a:t>
            </a:r>
            <a:r>
              <a:rPr lang="es-ES_tradnl" altLang="es-CO" sz="2000" dirty="0"/>
              <a:t> de investigación, estas acciones son los  objetivos específicos.</a:t>
            </a:r>
          </a:p>
          <a:p>
            <a:pPr algn="just" eaLnBrk="1" hangingPunct="1"/>
            <a:r>
              <a:rPr lang="es-ES_tradnl" altLang="es-CO" sz="2000" dirty="0"/>
              <a:t>Evaluar el objetivo general y su relación con los objetivos específicos, la formulación y sistematización del problema</a:t>
            </a:r>
            <a:r>
              <a:rPr lang="es-ES_tradnl" altLang="es-CO" dirty="0"/>
              <a:t>.</a:t>
            </a:r>
          </a:p>
          <a:p>
            <a:pPr algn="just" eaLnBrk="1" hangingPunct="1"/>
            <a:endParaRPr lang="es-ES_tradnl" altLang="es-CO" sz="2800" dirty="0"/>
          </a:p>
          <a:p>
            <a:pPr algn="just" eaLnBrk="1" hangingPunct="1"/>
            <a:endParaRPr lang="es-ES" altLang="es-CO" sz="2800" dirty="0"/>
          </a:p>
        </p:txBody>
      </p:sp>
    </p:spTree>
    <p:extLst>
      <p:ext uri="{BB962C8B-B14F-4D97-AF65-F5344CB8AC3E}">
        <p14:creationId xmlns:p14="http://schemas.microsoft.com/office/powerpoint/2010/main" val="41898180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41CA6-280C-BC65-F139-06CD4FCE7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C8C6C9EC-4B6F-E24E-4A6E-FA843E72AD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es-ES_tradnl" altLang="es-CO" dirty="0"/>
              <a:t>Como definir los  objetivos.</a:t>
            </a:r>
            <a:endParaRPr lang="es-ES" altLang="es-CO" dirty="0"/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CD40FC11-6690-4A1A-8345-B5EB65FD67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2054" y="2273300"/>
            <a:ext cx="10986246" cy="4234706"/>
          </a:xfrm>
        </p:spPr>
        <p:txBody>
          <a:bodyPr/>
          <a:lstStyle/>
          <a:p>
            <a:pPr algn="just" eaLnBrk="1" hangingPunct="1"/>
            <a:r>
              <a:rPr lang="es-ES_tradnl" altLang="es-CO" sz="2000" dirty="0"/>
              <a:t>Qué … Cómo … Para qué.</a:t>
            </a:r>
          </a:p>
          <a:p>
            <a:pPr algn="just" eaLnBrk="1" hangingPunct="1"/>
            <a:endParaRPr lang="es-ES_tradnl" altLang="es-CO" sz="2000" dirty="0"/>
          </a:p>
          <a:p>
            <a:pPr algn="just" eaLnBrk="1" hangingPunct="1"/>
            <a:r>
              <a:rPr lang="es-CO" altLang="es-CO" sz="1600" dirty="0"/>
              <a:t>Evaluar [qué] las vulnerabilidades de seguridad en aplicaciones web desarrolladas por estudiantes de ingeniería de sistemas de universidades privadas de Bogotá, mediante pruebas de penetración y análisis estático de código [cómo], con el fin de establecer buenas prácticas de desarrollo seguro aplicables en entornos académicos [para qué].</a:t>
            </a:r>
          </a:p>
          <a:p>
            <a:pPr algn="just" eaLnBrk="1" hangingPunct="1"/>
            <a:r>
              <a:rPr lang="es-CO" altLang="es-CO" sz="1600" dirty="0"/>
              <a:t>Determinar [qué] la efectividad de modelos de aprendizaje automático para la predicción de deserción estudiantil en programas de ingeniería, a través de la comparación de algoritmos de clasificación aplicados sobre datos históricos institucionales [cómo], con el propósito de apoyar la toma de decisiones tempranas en bienestar universitario [para qué].</a:t>
            </a:r>
          </a:p>
          <a:p>
            <a:pPr algn="just" eaLnBrk="1" hangingPunct="1"/>
            <a:r>
              <a:rPr lang="es-CO" altLang="es-CO" sz="1600" dirty="0"/>
              <a:t>Analizar [qué] el impacto de la implementación de metodologías ágiles en la calidad del software entregado por equipos de desarrollo de pequeñas empresas tecnológicas colombianas, mediante entrevistas semiestructuradas y revisión de métricas de proyectos reales [cómo], para formular recomendaciones que optimicen los procesos de gestión de proyectos en ese contexto [para qué].</a:t>
            </a:r>
            <a:endParaRPr lang="es-ES_tradnl" altLang="es-CO" sz="1600" dirty="0"/>
          </a:p>
          <a:p>
            <a:pPr algn="just" eaLnBrk="1" hangingPunct="1"/>
            <a:endParaRPr lang="es-ES_tradnl" altLang="es-CO" sz="2800" dirty="0"/>
          </a:p>
          <a:p>
            <a:pPr algn="just" eaLnBrk="1" hangingPunct="1"/>
            <a:endParaRPr lang="es-ES" altLang="es-CO" sz="2800" dirty="0"/>
          </a:p>
        </p:txBody>
      </p:sp>
    </p:spTree>
    <p:extLst>
      <p:ext uri="{BB962C8B-B14F-4D97-AF65-F5344CB8AC3E}">
        <p14:creationId xmlns:p14="http://schemas.microsoft.com/office/powerpoint/2010/main" val="11060583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ES" b="1" dirty="0"/>
              <a:t>Los errores en la definición de los objetivos 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ES" dirty="0"/>
              <a:t>Ser demasiado amplios y generalizados.</a:t>
            </a:r>
          </a:p>
          <a:p>
            <a:pPr algn="just"/>
            <a:r>
              <a:rPr lang="es-ES" dirty="0"/>
              <a:t>Objetivos específicos no contenidos en los generales.</a:t>
            </a:r>
          </a:p>
          <a:p>
            <a:pPr algn="just"/>
            <a:r>
              <a:rPr lang="es-ES" dirty="0"/>
              <a:t>Planteo de pasos como si fueran objetivos (confundir métodos, caminos, con objetivos).</a:t>
            </a:r>
          </a:p>
          <a:p>
            <a:pPr algn="just"/>
            <a:r>
              <a:rPr lang="es-ES" dirty="0"/>
              <a:t>Confusión entre objetivos y políticas o planes para llegar a lo que es la finalidad práctica.</a:t>
            </a:r>
          </a:p>
          <a:p>
            <a:pPr algn="just"/>
            <a:r>
              <a:rPr lang="es-ES" dirty="0"/>
              <a:t>Falta de relación entre los objetivos, el marco teórico y la metodología: los objetivos son el destino de la tesis; el marco teórico, el terreno y la metodología, el camino a seguir.</a:t>
            </a:r>
          </a:p>
          <a:p>
            <a:pPr algn="just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06616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graphicFrame>
        <p:nvGraphicFramePr>
          <p:cNvPr id="4" name="Tab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5976260"/>
              </p:ext>
            </p:extLst>
          </p:nvPr>
        </p:nvGraphicFramePr>
        <p:xfrm>
          <a:off x="406400" y="234058"/>
          <a:ext cx="11061700" cy="63209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4938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59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859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28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TÍTULO DEL PROYECTO :</a:t>
                      </a:r>
                      <a:endParaRPr lang="es-E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392" marR="28392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>
                          <a:effectLst/>
                        </a:rPr>
                        <a:t> </a:t>
                      </a:r>
                      <a:endParaRPr lang="es-E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392" marR="28392" marT="0" marB="0"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26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>
                          <a:effectLst/>
                        </a:rPr>
                        <a:t>INVESTIGADOR :</a:t>
                      </a:r>
                      <a:endParaRPr lang="es-E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392" marR="28392" marT="0" marB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>
                          <a:effectLst/>
                        </a:rPr>
                        <a:t> </a:t>
                      </a:r>
                      <a:endParaRPr lang="es-E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392" marR="28392" marT="0" marB="0"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268">
                <a:tc gridSpan="4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>
                          <a:effectLst/>
                        </a:rPr>
                        <a:t>OBJETIVOS GENERAL </a:t>
                      </a:r>
                      <a:endParaRPr lang="es-E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392" marR="28392" marT="0" marB="0"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8535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Formulación del problema(Pregunta de investigación)</a:t>
                      </a:r>
                      <a:endParaRPr lang="es-E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392" marR="28392" marT="0" marB="0"/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ES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392" marR="28392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Objetivo general</a:t>
                      </a:r>
                      <a:endParaRPr lang="es-E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392" marR="28392" marT="0" marB="0"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5604"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 </a:t>
                      </a:r>
                      <a:endParaRPr lang="es-E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392" marR="28392" marT="0" marB="0"/>
                </a:tc>
                <a:tc hMerge="1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ES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392" marR="28392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ES" sz="1600" dirty="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 </a:t>
                      </a:r>
                      <a:endParaRPr lang="es-E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392" marR="28392" marT="0" marB="0"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268">
                <a:tc gridSpan="4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OBJETIVOS ESPECÍFICOS</a:t>
                      </a:r>
                      <a:endParaRPr lang="es-E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392" marR="28392" marT="0" marB="0"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853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>
                          <a:effectLst/>
                        </a:rPr>
                        <a:t>Sistematización del problema(sub-preguntas)</a:t>
                      </a:r>
                      <a:endParaRPr lang="es-E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392" marR="28392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>
                          <a:effectLst/>
                        </a:rPr>
                        <a:t>Objetivo Especifico</a:t>
                      </a:r>
                      <a:endParaRPr lang="es-E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392" marR="28392" marT="0" marB="0"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>
                          <a:effectLst/>
                        </a:rPr>
                        <a:t>Aporte % al Obj. general</a:t>
                      </a:r>
                      <a:endParaRPr lang="es-E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392" marR="28392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133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 </a:t>
                      </a:r>
                      <a:endParaRPr lang="es-E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392" marR="28392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>
                          <a:effectLst/>
                        </a:rPr>
                        <a:t> </a:t>
                      </a:r>
                      <a:endParaRPr lang="es-E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392" marR="28392" marT="0" marB="0"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 </a:t>
                      </a:r>
                      <a:endParaRPr lang="es-E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392" marR="28392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133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ES" sz="1600" dirty="0">
                        <a:effectLst/>
                      </a:endParaRP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E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392" marR="28392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>
                          <a:effectLst/>
                        </a:rPr>
                        <a:t> </a:t>
                      </a:r>
                      <a:endParaRPr lang="es-E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392" marR="28392" marT="0" marB="0"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>
                          <a:effectLst/>
                        </a:rPr>
                        <a:t> </a:t>
                      </a:r>
                      <a:endParaRPr lang="es-E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392" marR="28392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133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 </a:t>
                      </a:r>
                      <a:endParaRPr lang="es-E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392" marR="28392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>
                          <a:effectLst/>
                        </a:rPr>
                        <a:t> </a:t>
                      </a:r>
                      <a:endParaRPr lang="es-E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392" marR="28392" marT="0" marB="0"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>
                          <a:effectLst/>
                        </a:rPr>
                        <a:t> </a:t>
                      </a:r>
                      <a:endParaRPr lang="es-E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392" marR="28392" marT="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133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ES" sz="1600" dirty="0">
                        <a:effectLst/>
                      </a:endParaRPr>
                    </a:p>
                  </a:txBody>
                  <a:tcPr marL="28392" marR="28392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>
                          <a:effectLst/>
                        </a:rPr>
                        <a:t> </a:t>
                      </a:r>
                      <a:endParaRPr lang="es-E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392" marR="28392" marT="0" marB="0"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>
                          <a:effectLst/>
                        </a:rPr>
                        <a:t> </a:t>
                      </a:r>
                      <a:endParaRPr lang="es-E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392" marR="28392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133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 </a:t>
                      </a:r>
                      <a:endParaRPr lang="es-E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392" marR="28392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>
                          <a:effectLst/>
                        </a:rPr>
                        <a:t> </a:t>
                      </a:r>
                      <a:endParaRPr lang="es-E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392" marR="28392" marT="0" marB="0"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>
                          <a:effectLst/>
                        </a:rPr>
                        <a:t> </a:t>
                      </a:r>
                      <a:endParaRPr lang="es-E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392" marR="28392" marT="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706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dirty="0">
                          <a:effectLst/>
                        </a:rPr>
                        <a:t> 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s-ES" sz="1600" dirty="0">
                        <a:effectLst/>
                      </a:endParaRPr>
                    </a:p>
                  </a:txBody>
                  <a:tcPr marL="28392" marR="28392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>
                          <a:effectLst/>
                        </a:rPr>
                        <a:t> </a:t>
                      </a:r>
                      <a:endParaRPr lang="es-E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392" marR="28392" marT="0" marB="0"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>
                          <a:effectLst/>
                        </a:rPr>
                        <a:t> </a:t>
                      </a:r>
                      <a:endParaRPr lang="es-E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392" marR="28392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688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>
                          <a:effectLst/>
                        </a:rPr>
                        <a:t>Total</a:t>
                      </a:r>
                      <a:endParaRPr lang="es-E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392" marR="28392" marT="0" marB="0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>
                          <a:effectLst/>
                        </a:rPr>
                        <a:t> </a:t>
                      </a:r>
                      <a:endParaRPr lang="es-E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392" marR="28392" marT="0" marB="0"/>
                </a:tc>
                <a:tc hMerge="1">
                  <a:txBody>
                    <a:bodyPr/>
                    <a:lstStyle/>
                    <a:p>
                      <a:endParaRPr lang="es-E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600" b="1" dirty="0">
                          <a:effectLst/>
                        </a:rPr>
                        <a:t>100%</a:t>
                      </a:r>
                      <a:endParaRPr lang="es-ES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8392" marR="28392" marT="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638828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la de reuniones Ion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321</TotalTime>
  <Words>1022</Words>
  <Application>Microsoft Office PowerPoint</Application>
  <PresentationFormat>Widescreen</PresentationFormat>
  <Paragraphs>118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Century Gothic</vt:lpstr>
      <vt:lpstr>Wingdings 3</vt:lpstr>
      <vt:lpstr>Sala de reuniones Ion</vt:lpstr>
      <vt:lpstr>OBJETIVOS DE LA INVESTIGACIÓN</vt:lpstr>
      <vt:lpstr>DEFINICIÓN </vt:lpstr>
      <vt:lpstr>Tipos de Objetivos </vt:lpstr>
      <vt:lpstr>Tipos de Objetivos </vt:lpstr>
      <vt:lpstr>Características de los Objetivos de la Investigación</vt:lpstr>
      <vt:lpstr>Características de los Objetivos de la Investigación</vt:lpstr>
      <vt:lpstr>Características de los Objetivos de la Investigación</vt:lpstr>
      <vt:lpstr>Como definir los  objetivos.</vt:lpstr>
      <vt:lpstr>Como definir los  objetivos.</vt:lpstr>
      <vt:lpstr>Como definir los  objetivos.</vt:lpstr>
      <vt:lpstr>Los errores en la definición de los objetivos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Objetivos de la investigación</dc:title>
  <dc:creator>Ernesto</dc:creator>
  <cp:lastModifiedBy>Norbey Muñoz</cp:lastModifiedBy>
  <cp:revision>21</cp:revision>
  <dcterms:created xsi:type="dcterms:W3CDTF">2015-08-26T22:32:17Z</dcterms:created>
  <dcterms:modified xsi:type="dcterms:W3CDTF">2026-06-22T22:37:50Z</dcterms:modified>
</cp:coreProperties>
</file>